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8" r:id="rId3"/>
    <p:sldId id="257" r:id="rId4"/>
    <p:sldId id="259" r:id="rId5"/>
    <p:sldId id="261" r:id="rId6"/>
    <p:sldId id="302" r:id="rId7"/>
    <p:sldId id="303" r:id="rId8"/>
    <p:sldId id="260" r:id="rId9"/>
    <p:sldId id="262" r:id="rId10"/>
    <p:sldId id="263" r:id="rId11"/>
    <p:sldId id="264" r:id="rId12"/>
    <p:sldId id="265" r:id="rId13"/>
    <p:sldId id="266" r:id="rId14"/>
    <p:sldId id="274" r:id="rId15"/>
    <p:sldId id="268" r:id="rId16"/>
    <p:sldId id="269" r:id="rId17"/>
    <p:sldId id="270" r:id="rId18"/>
    <p:sldId id="271" r:id="rId19"/>
    <p:sldId id="272" r:id="rId20"/>
    <p:sldId id="273" r:id="rId21"/>
    <p:sldId id="275" r:id="rId22"/>
    <p:sldId id="277" r:id="rId23"/>
    <p:sldId id="278" r:id="rId24"/>
    <p:sldId id="279" r:id="rId25"/>
    <p:sldId id="281" r:id="rId26"/>
    <p:sldId id="282" r:id="rId27"/>
    <p:sldId id="283" r:id="rId28"/>
    <p:sldId id="284" r:id="rId29"/>
    <p:sldId id="285" r:id="rId30"/>
    <p:sldId id="286" r:id="rId31"/>
    <p:sldId id="287" r:id="rId32"/>
    <p:sldId id="301" r:id="rId33"/>
    <p:sldId id="288" r:id="rId34"/>
    <p:sldId id="304" r:id="rId35"/>
    <p:sldId id="290" r:id="rId36"/>
    <p:sldId id="291" r:id="rId37"/>
    <p:sldId id="292" r:id="rId38"/>
    <p:sldId id="289" r:id="rId39"/>
    <p:sldId id="293" r:id="rId40"/>
    <p:sldId id="294" r:id="rId41"/>
    <p:sldId id="295" r:id="rId42"/>
    <p:sldId id="296" r:id="rId43"/>
    <p:sldId id="297" r:id="rId44"/>
    <p:sldId id="298" r:id="rId45"/>
    <p:sldId id="299" r:id="rId46"/>
    <p:sldId id="300" r:id="rId47"/>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CF8DBA7-4F7F-4424-A219-70C92431409C}">
          <p14:sldIdLst>
            <p14:sldId id="256"/>
            <p14:sldId id="258"/>
            <p14:sldId id="257"/>
            <p14:sldId id="259"/>
            <p14:sldId id="261"/>
          </p14:sldIdLst>
        </p14:section>
        <p14:section name="Untitled Section" id="{F56150C8-BEED-4725-9320-22E2DBAA76C9}">
          <p14:sldIdLst>
            <p14:sldId id="302"/>
            <p14:sldId id="303"/>
            <p14:sldId id="260"/>
            <p14:sldId id="262"/>
            <p14:sldId id="263"/>
            <p14:sldId id="264"/>
            <p14:sldId id="265"/>
            <p14:sldId id="266"/>
            <p14:sldId id="274"/>
            <p14:sldId id="268"/>
            <p14:sldId id="269"/>
            <p14:sldId id="270"/>
            <p14:sldId id="271"/>
            <p14:sldId id="272"/>
            <p14:sldId id="273"/>
            <p14:sldId id="275"/>
            <p14:sldId id="277"/>
            <p14:sldId id="278"/>
            <p14:sldId id="279"/>
            <p14:sldId id="281"/>
            <p14:sldId id="282"/>
            <p14:sldId id="283"/>
            <p14:sldId id="284"/>
            <p14:sldId id="285"/>
            <p14:sldId id="286"/>
            <p14:sldId id="287"/>
            <p14:sldId id="301"/>
            <p14:sldId id="288"/>
            <p14:sldId id="304"/>
            <p14:sldId id="290"/>
            <p14:sldId id="291"/>
            <p14:sldId id="292"/>
            <p14:sldId id="289"/>
            <p14:sldId id="293"/>
            <p14:sldId id="294"/>
            <p14:sldId id="295"/>
            <p14:sldId id="296"/>
            <p14:sldId id="297"/>
            <p14:sldId id="298"/>
            <p14:sldId id="299"/>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015F90-8808-4EF3-9066-3D6C50CC8441}" v="5" dt="2025-12-09T09:36:00.5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216"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es, Guilherme Coelho" userId="0f4a8b8c-6b64-466e-963d-dc5f0833145f" providerId="ADAL" clId="{32015F90-8808-4EF3-9066-3D6C50CC8441}"/>
    <pc:docChg chg="undo custSel modSld">
      <pc:chgData name="Simoes, Guilherme Coelho" userId="0f4a8b8c-6b64-466e-963d-dc5f0833145f" providerId="ADAL" clId="{32015F90-8808-4EF3-9066-3D6C50CC8441}" dt="2025-12-09T09:37:23.284" v="206" actId="20577"/>
      <pc:docMkLst>
        <pc:docMk/>
      </pc:docMkLst>
      <pc:sldChg chg="modSp mod">
        <pc:chgData name="Simoes, Guilherme Coelho" userId="0f4a8b8c-6b64-466e-963d-dc5f0833145f" providerId="ADAL" clId="{32015F90-8808-4EF3-9066-3D6C50CC8441}" dt="2025-12-09T09:30:18.942" v="1" actId="27636"/>
        <pc:sldMkLst>
          <pc:docMk/>
          <pc:sldMk cId="2404961111" sldId="261"/>
        </pc:sldMkLst>
        <pc:spChg chg="mod">
          <ac:chgData name="Simoes, Guilherme Coelho" userId="0f4a8b8c-6b64-466e-963d-dc5f0833145f" providerId="ADAL" clId="{32015F90-8808-4EF3-9066-3D6C50CC8441}" dt="2025-12-09T09:30:18.942" v="1" actId="27636"/>
          <ac:spMkLst>
            <pc:docMk/>
            <pc:sldMk cId="2404961111" sldId="261"/>
            <ac:spMk id="2" creationId="{10CC0049-03BC-4F1D-D318-F2D3FCEACC66}"/>
          </ac:spMkLst>
        </pc:spChg>
      </pc:sldChg>
      <pc:sldChg chg="addSp modSp mod">
        <pc:chgData name="Simoes, Guilherme Coelho" userId="0f4a8b8c-6b64-466e-963d-dc5f0833145f" providerId="ADAL" clId="{32015F90-8808-4EF3-9066-3D6C50CC8441}" dt="2025-12-09T09:32:46.118" v="58" actId="1076"/>
        <pc:sldMkLst>
          <pc:docMk/>
          <pc:sldMk cId="300392993" sldId="296"/>
        </pc:sldMkLst>
        <pc:spChg chg="add mod">
          <ac:chgData name="Simoes, Guilherme Coelho" userId="0f4a8b8c-6b64-466e-963d-dc5f0833145f" providerId="ADAL" clId="{32015F90-8808-4EF3-9066-3D6C50CC8441}" dt="2025-12-09T09:30:38.353" v="11" actId="255"/>
          <ac:spMkLst>
            <pc:docMk/>
            <pc:sldMk cId="300392993" sldId="296"/>
            <ac:spMk id="2" creationId="{5D6A380F-1BD6-05A6-E322-4AF7B502227C}"/>
          </ac:spMkLst>
        </pc:spChg>
        <pc:spChg chg="add mod">
          <ac:chgData name="Simoes, Guilherme Coelho" userId="0f4a8b8c-6b64-466e-963d-dc5f0833145f" providerId="ADAL" clId="{32015F90-8808-4EF3-9066-3D6C50CC8441}" dt="2025-12-09T09:32:46.118" v="58" actId="1076"/>
          <ac:spMkLst>
            <pc:docMk/>
            <pc:sldMk cId="300392993" sldId="296"/>
            <ac:spMk id="7" creationId="{DD566AF5-A41B-739E-0103-BF0FE148AC1D}"/>
          </ac:spMkLst>
        </pc:spChg>
        <pc:picChg chg="add mod">
          <ac:chgData name="Simoes, Guilherme Coelho" userId="0f4a8b8c-6b64-466e-963d-dc5f0833145f" providerId="ADAL" clId="{32015F90-8808-4EF3-9066-3D6C50CC8441}" dt="2025-12-09T09:31:08.716" v="15" actId="1076"/>
          <ac:picMkLst>
            <pc:docMk/>
            <pc:sldMk cId="300392993" sldId="296"/>
            <ac:picMk id="6" creationId="{123CBF88-4DB4-4036-68CC-6E59C4B8FB45}"/>
          </ac:picMkLst>
        </pc:picChg>
      </pc:sldChg>
      <pc:sldChg chg="addSp modSp mod">
        <pc:chgData name="Simoes, Guilherme Coelho" userId="0f4a8b8c-6b64-466e-963d-dc5f0833145f" providerId="ADAL" clId="{32015F90-8808-4EF3-9066-3D6C50CC8441}" dt="2025-12-09T09:37:23.284" v="206" actId="20577"/>
        <pc:sldMkLst>
          <pc:docMk/>
          <pc:sldMk cId="21030779" sldId="297"/>
        </pc:sldMkLst>
        <pc:spChg chg="add mod">
          <ac:chgData name="Simoes, Guilherme Coelho" userId="0f4a8b8c-6b64-466e-963d-dc5f0833145f" providerId="ADAL" clId="{32015F90-8808-4EF3-9066-3D6C50CC8441}" dt="2025-12-09T09:37:23.284" v="206" actId="20577"/>
          <ac:spMkLst>
            <pc:docMk/>
            <pc:sldMk cId="21030779" sldId="297"/>
            <ac:spMk id="2" creationId="{084C005F-160F-B85A-477B-640A49DB8E6D}"/>
          </ac:spMkLst>
        </pc:spChg>
        <pc:spChg chg="add mod">
          <ac:chgData name="Simoes, Guilherme Coelho" userId="0f4a8b8c-6b64-466e-963d-dc5f0833145f" providerId="ADAL" clId="{32015F90-8808-4EF3-9066-3D6C50CC8441}" dt="2025-12-09T09:37:05.072" v="172" actId="1076"/>
          <ac:spMkLst>
            <pc:docMk/>
            <pc:sldMk cId="21030779" sldId="297"/>
            <ac:spMk id="4" creationId="{1D6FCA90-AA7F-2943-0724-72018F464FA5}"/>
          </ac:spMkLst>
        </pc:spChg>
        <pc:spChg chg="add mod">
          <ac:chgData name="Simoes, Guilherme Coelho" userId="0f4a8b8c-6b64-466e-963d-dc5f0833145f" providerId="ADAL" clId="{32015F90-8808-4EF3-9066-3D6C50CC8441}" dt="2025-12-09T09:37:13.331" v="195" actId="20577"/>
          <ac:spMkLst>
            <pc:docMk/>
            <pc:sldMk cId="21030779" sldId="297"/>
            <ac:spMk id="6" creationId="{0BFA7230-2E37-B497-BAAE-7CD9C7FCD662}"/>
          </ac:spMkLst>
        </pc:spChg>
        <pc:picChg chg="mod">
          <ac:chgData name="Simoes, Guilherme Coelho" userId="0f4a8b8c-6b64-466e-963d-dc5f0833145f" providerId="ADAL" clId="{32015F90-8808-4EF3-9066-3D6C50CC8441}" dt="2025-12-09T09:34:37.246" v="60" actId="1076"/>
          <ac:picMkLst>
            <pc:docMk/>
            <pc:sldMk cId="21030779" sldId="297"/>
            <ac:picMk id="7" creationId="{8298F381-DCE8-EFED-C554-44E2FF23CB56}"/>
          </ac:picMkLst>
        </pc:picChg>
        <pc:picChg chg="mod">
          <ac:chgData name="Simoes, Guilherme Coelho" userId="0f4a8b8c-6b64-466e-963d-dc5f0833145f" providerId="ADAL" clId="{32015F90-8808-4EF3-9066-3D6C50CC8441}" dt="2025-12-09T09:34:32.644" v="59" actId="1076"/>
          <ac:picMkLst>
            <pc:docMk/>
            <pc:sldMk cId="21030779" sldId="297"/>
            <ac:picMk id="11" creationId="{B956D00D-F765-B3A8-115F-8D440136E307}"/>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8074FB-058B-4853-9BB7-3AF405A626AB}"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A5FF62D-A91C-45A5-BB72-1F27C37B4D22}">
      <dgm:prSet custT="1"/>
      <dgm:spPr/>
      <dgm:t>
        <a:bodyPr/>
        <a:lstStyle/>
        <a:p>
          <a:r>
            <a:rPr lang="pt-PT" sz="1400" b="1" dirty="0"/>
            <a:t>Definição de vulnerabilidades em redes e sistemas:</a:t>
          </a:r>
        </a:p>
        <a:p>
          <a:r>
            <a:rPr lang="pt-PT" sz="1400" b="0" dirty="0"/>
            <a:t>As vulnerabilidades são falhas ou fraquezas em sistemas e redes que podem ser exploradas por atacantes, comprometendo a confidencialidade, a integridade e a disponibilidade dos dados e dos serviços. A identificação precoce dessas falhas é essencial para a implementação de medidas de segurança eficazes.</a:t>
          </a:r>
          <a:endParaRPr lang="en-US" sz="1400" b="0" dirty="0"/>
        </a:p>
      </dgm:t>
    </dgm:pt>
    <dgm:pt modelId="{A9A8B6F5-D06F-4983-BD6A-0BD1F6D77DE3}" type="parTrans" cxnId="{F7CFFA84-154F-4FD8-BF17-2FC43B9B80E0}">
      <dgm:prSet/>
      <dgm:spPr/>
      <dgm:t>
        <a:bodyPr/>
        <a:lstStyle/>
        <a:p>
          <a:endParaRPr lang="en-US"/>
        </a:p>
      </dgm:t>
    </dgm:pt>
    <dgm:pt modelId="{E39274D8-7A6F-4316-BF82-F5FBDB111428}" type="sibTrans" cxnId="{F7CFFA84-154F-4FD8-BF17-2FC43B9B80E0}">
      <dgm:prSet/>
      <dgm:spPr/>
      <dgm:t>
        <a:bodyPr/>
        <a:lstStyle/>
        <a:p>
          <a:endParaRPr lang="en-US"/>
        </a:p>
      </dgm:t>
    </dgm:pt>
    <dgm:pt modelId="{A4958538-77DB-4925-9439-F569466DE348}">
      <dgm:prSet custT="1"/>
      <dgm:spPr/>
      <dgm:t>
        <a:bodyPr/>
        <a:lstStyle/>
        <a:p>
          <a:r>
            <a:rPr lang="pt-PT" sz="1400" b="1" dirty="0"/>
            <a:t>Importância da cibersegurança: </a:t>
          </a:r>
        </a:p>
        <a:p>
          <a:r>
            <a:rPr lang="pt-PT" sz="1400" dirty="0"/>
            <a:t>A cibersegurança é fundamental para proteger informação sensível, garantir a continuidade das operações e manter a confiança dos utilizadores num ambiente digital cada vez mais ameaçado.</a:t>
          </a:r>
          <a:endParaRPr lang="en-US" sz="1400" dirty="0"/>
        </a:p>
      </dgm:t>
    </dgm:pt>
    <dgm:pt modelId="{59F38A9C-B350-4FC2-8B2F-74A1C0E6B745}" type="parTrans" cxnId="{365BB828-1D7A-47A0-96CA-35BAAF716040}">
      <dgm:prSet/>
      <dgm:spPr/>
      <dgm:t>
        <a:bodyPr/>
        <a:lstStyle/>
        <a:p>
          <a:endParaRPr lang="en-US"/>
        </a:p>
      </dgm:t>
    </dgm:pt>
    <dgm:pt modelId="{1C7BB286-9140-48FD-888D-FC87F3AA33AA}" type="sibTrans" cxnId="{365BB828-1D7A-47A0-96CA-35BAAF716040}">
      <dgm:prSet/>
      <dgm:spPr/>
      <dgm:t>
        <a:bodyPr/>
        <a:lstStyle/>
        <a:p>
          <a:endParaRPr lang="en-US"/>
        </a:p>
      </dgm:t>
    </dgm:pt>
    <dgm:pt modelId="{DEB9FD9A-E4AA-4D5C-990D-932533F0C24C}" type="pres">
      <dgm:prSet presAssocID="{998074FB-058B-4853-9BB7-3AF405A626AB}" presName="root" presStyleCnt="0">
        <dgm:presLayoutVars>
          <dgm:dir/>
          <dgm:resizeHandles val="exact"/>
        </dgm:presLayoutVars>
      </dgm:prSet>
      <dgm:spPr/>
    </dgm:pt>
    <dgm:pt modelId="{28BE6F93-1D8B-48DA-8CAF-A622BC3E146E}" type="pres">
      <dgm:prSet presAssocID="{8A5FF62D-A91C-45A5-BB72-1F27C37B4D22}" presName="compNode" presStyleCnt="0"/>
      <dgm:spPr/>
    </dgm:pt>
    <dgm:pt modelId="{E6AA746E-76F7-43C1-A92B-327D567BB20C}" type="pres">
      <dgm:prSet presAssocID="{8A5FF62D-A91C-45A5-BB72-1F27C37B4D2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sconectado"/>
        </a:ext>
      </dgm:extLst>
    </dgm:pt>
    <dgm:pt modelId="{B8091F72-82D5-4252-AC5D-E1B227B7D9D9}" type="pres">
      <dgm:prSet presAssocID="{8A5FF62D-A91C-45A5-BB72-1F27C37B4D22}" presName="spaceRect" presStyleCnt="0"/>
      <dgm:spPr/>
    </dgm:pt>
    <dgm:pt modelId="{D89EDD88-973A-438F-A62C-92CA930DCCF9}" type="pres">
      <dgm:prSet presAssocID="{8A5FF62D-A91C-45A5-BB72-1F27C37B4D22}" presName="textRect" presStyleLbl="revTx" presStyleIdx="0" presStyleCnt="2">
        <dgm:presLayoutVars>
          <dgm:chMax val="1"/>
          <dgm:chPref val="1"/>
        </dgm:presLayoutVars>
      </dgm:prSet>
      <dgm:spPr/>
    </dgm:pt>
    <dgm:pt modelId="{606C2E7D-08A9-4EAE-A8F7-AB329456B39F}" type="pres">
      <dgm:prSet presAssocID="{E39274D8-7A6F-4316-BF82-F5FBDB111428}" presName="sibTrans" presStyleCnt="0"/>
      <dgm:spPr/>
    </dgm:pt>
    <dgm:pt modelId="{144E8A38-0A96-48F2-A12E-F46B3E9C71A5}" type="pres">
      <dgm:prSet presAssocID="{A4958538-77DB-4925-9439-F569466DE348}" presName="compNode" presStyleCnt="0"/>
      <dgm:spPr/>
    </dgm:pt>
    <dgm:pt modelId="{6DA8F6BD-86BA-49A8-89CE-73DF2B84C534}" type="pres">
      <dgm:prSet presAssocID="{A4958538-77DB-4925-9439-F569466DE34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loqueio"/>
        </a:ext>
      </dgm:extLst>
    </dgm:pt>
    <dgm:pt modelId="{E2A6053B-DD1C-4979-A3C7-9C78450AA458}" type="pres">
      <dgm:prSet presAssocID="{A4958538-77DB-4925-9439-F569466DE348}" presName="spaceRect" presStyleCnt="0"/>
      <dgm:spPr/>
    </dgm:pt>
    <dgm:pt modelId="{0F32CFB8-16BF-4172-A64C-FC1B547291F1}" type="pres">
      <dgm:prSet presAssocID="{A4958538-77DB-4925-9439-F569466DE348}" presName="textRect" presStyleLbl="revTx" presStyleIdx="1" presStyleCnt="2">
        <dgm:presLayoutVars>
          <dgm:chMax val="1"/>
          <dgm:chPref val="1"/>
        </dgm:presLayoutVars>
      </dgm:prSet>
      <dgm:spPr/>
    </dgm:pt>
  </dgm:ptLst>
  <dgm:cxnLst>
    <dgm:cxn modelId="{3DB44204-E0D7-4BA1-8687-BF6F639BFBB9}" type="presOf" srcId="{8A5FF62D-A91C-45A5-BB72-1F27C37B4D22}" destId="{D89EDD88-973A-438F-A62C-92CA930DCCF9}" srcOrd="0" destOrd="0" presId="urn:microsoft.com/office/officeart/2018/2/layout/IconLabelList"/>
    <dgm:cxn modelId="{365BB828-1D7A-47A0-96CA-35BAAF716040}" srcId="{998074FB-058B-4853-9BB7-3AF405A626AB}" destId="{A4958538-77DB-4925-9439-F569466DE348}" srcOrd="1" destOrd="0" parTransId="{59F38A9C-B350-4FC2-8B2F-74A1C0E6B745}" sibTransId="{1C7BB286-9140-48FD-888D-FC87F3AA33AA}"/>
    <dgm:cxn modelId="{D0CF396D-2B8D-448E-BFB1-035255B20696}" type="presOf" srcId="{998074FB-058B-4853-9BB7-3AF405A626AB}" destId="{DEB9FD9A-E4AA-4D5C-990D-932533F0C24C}" srcOrd="0" destOrd="0" presId="urn:microsoft.com/office/officeart/2018/2/layout/IconLabelList"/>
    <dgm:cxn modelId="{F7CFFA84-154F-4FD8-BF17-2FC43B9B80E0}" srcId="{998074FB-058B-4853-9BB7-3AF405A626AB}" destId="{8A5FF62D-A91C-45A5-BB72-1F27C37B4D22}" srcOrd="0" destOrd="0" parTransId="{A9A8B6F5-D06F-4983-BD6A-0BD1F6D77DE3}" sibTransId="{E39274D8-7A6F-4316-BF82-F5FBDB111428}"/>
    <dgm:cxn modelId="{E0035DDB-5936-477F-AC22-B120F770C116}" type="presOf" srcId="{A4958538-77DB-4925-9439-F569466DE348}" destId="{0F32CFB8-16BF-4172-A64C-FC1B547291F1}" srcOrd="0" destOrd="0" presId="urn:microsoft.com/office/officeart/2018/2/layout/IconLabelList"/>
    <dgm:cxn modelId="{F9B71F57-C423-4F53-B75E-6813082AD328}" type="presParOf" srcId="{DEB9FD9A-E4AA-4D5C-990D-932533F0C24C}" destId="{28BE6F93-1D8B-48DA-8CAF-A622BC3E146E}" srcOrd="0" destOrd="0" presId="urn:microsoft.com/office/officeart/2018/2/layout/IconLabelList"/>
    <dgm:cxn modelId="{12D5E0A6-1971-4680-9047-DD4F009D27D6}" type="presParOf" srcId="{28BE6F93-1D8B-48DA-8CAF-A622BC3E146E}" destId="{E6AA746E-76F7-43C1-A92B-327D567BB20C}" srcOrd="0" destOrd="0" presId="urn:microsoft.com/office/officeart/2018/2/layout/IconLabelList"/>
    <dgm:cxn modelId="{ACA5AD92-251C-444A-8137-7BE6290BC795}" type="presParOf" srcId="{28BE6F93-1D8B-48DA-8CAF-A622BC3E146E}" destId="{B8091F72-82D5-4252-AC5D-E1B227B7D9D9}" srcOrd="1" destOrd="0" presId="urn:microsoft.com/office/officeart/2018/2/layout/IconLabelList"/>
    <dgm:cxn modelId="{C583D115-BD6F-4AC3-A140-7712D1DF994D}" type="presParOf" srcId="{28BE6F93-1D8B-48DA-8CAF-A622BC3E146E}" destId="{D89EDD88-973A-438F-A62C-92CA930DCCF9}" srcOrd="2" destOrd="0" presId="urn:microsoft.com/office/officeart/2018/2/layout/IconLabelList"/>
    <dgm:cxn modelId="{D5A0997F-E6D0-4079-8963-3BDBD6E4994A}" type="presParOf" srcId="{DEB9FD9A-E4AA-4D5C-990D-932533F0C24C}" destId="{606C2E7D-08A9-4EAE-A8F7-AB329456B39F}" srcOrd="1" destOrd="0" presId="urn:microsoft.com/office/officeart/2018/2/layout/IconLabelList"/>
    <dgm:cxn modelId="{DEE43F46-0332-4911-B1DE-2CBA0014FE47}" type="presParOf" srcId="{DEB9FD9A-E4AA-4D5C-990D-932533F0C24C}" destId="{144E8A38-0A96-48F2-A12E-F46B3E9C71A5}" srcOrd="2" destOrd="0" presId="urn:microsoft.com/office/officeart/2018/2/layout/IconLabelList"/>
    <dgm:cxn modelId="{D0F48033-7958-4916-81FD-ACDC385B5D44}" type="presParOf" srcId="{144E8A38-0A96-48F2-A12E-F46B3E9C71A5}" destId="{6DA8F6BD-86BA-49A8-89CE-73DF2B84C534}" srcOrd="0" destOrd="0" presId="urn:microsoft.com/office/officeart/2018/2/layout/IconLabelList"/>
    <dgm:cxn modelId="{DE57A5EF-7E8C-4FAD-BB3C-31D8F037522E}" type="presParOf" srcId="{144E8A38-0A96-48F2-A12E-F46B3E9C71A5}" destId="{E2A6053B-DD1C-4979-A3C7-9C78450AA458}" srcOrd="1" destOrd="0" presId="urn:microsoft.com/office/officeart/2018/2/layout/IconLabelList"/>
    <dgm:cxn modelId="{C31FAF4F-7FF4-4D79-8508-E98611468921}" type="presParOf" srcId="{144E8A38-0A96-48F2-A12E-F46B3E9C71A5}" destId="{0F32CFB8-16BF-4172-A64C-FC1B547291F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AA746E-76F7-43C1-A92B-327D567BB20C}">
      <dsp:nvSpPr>
        <dsp:cNvPr id="0" name=""/>
        <dsp:cNvSpPr/>
      </dsp:nvSpPr>
      <dsp:spPr>
        <a:xfrm>
          <a:off x="1747800" y="52722"/>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9EDD88-973A-438F-A62C-92CA930DCCF9}">
      <dsp:nvSpPr>
        <dsp:cNvPr id="0" name=""/>
        <dsp:cNvSpPr/>
      </dsp:nvSpPr>
      <dsp:spPr>
        <a:xfrm>
          <a:off x="559800" y="2633615"/>
          <a:ext cx="4320000" cy="16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pt-PT" sz="1400" b="1" kern="1200" dirty="0"/>
            <a:t>Definição de vulnerabilidades em redes e sistemas:</a:t>
          </a:r>
        </a:p>
        <a:p>
          <a:pPr marL="0" lvl="0" indent="0" algn="ctr" defTabSz="622300">
            <a:lnSpc>
              <a:spcPct val="90000"/>
            </a:lnSpc>
            <a:spcBef>
              <a:spcPct val="0"/>
            </a:spcBef>
            <a:spcAft>
              <a:spcPct val="35000"/>
            </a:spcAft>
            <a:buNone/>
          </a:pPr>
          <a:r>
            <a:rPr lang="pt-PT" sz="1400" b="0" kern="1200" dirty="0"/>
            <a:t>As vulnerabilidades são falhas ou fraquezas em sistemas e redes que podem ser exploradas por atacantes, comprometendo a confidencialidade, a integridade e a disponibilidade dos dados e dos serviços. A identificação precoce dessas falhas é essencial para a implementação de medidas de segurança eficazes.</a:t>
          </a:r>
          <a:endParaRPr lang="en-US" sz="1400" b="0" kern="1200" dirty="0"/>
        </a:p>
      </dsp:txBody>
      <dsp:txXfrm>
        <a:off x="559800" y="2633615"/>
        <a:ext cx="4320000" cy="1665000"/>
      </dsp:txXfrm>
    </dsp:sp>
    <dsp:sp modelId="{6DA8F6BD-86BA-49A8-89CE-73DF2B84C534}">
      <dsp:nvSpPr>
        <dsp:cNvPr id="0" name=""/>
        <dsp:cNvSpPr/>
      </dsp:nvSpPr>
      <dsp:spPr>
        <a:xfrm>
          <a:off x="6823800" y="52722"/>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32CFB8-16BF-4172-A64C-FC1B547291F1}">
      <dsp:nvSpPr>
        <dsp:cNvPr id="0" name=""/>
        <dsp:cNvSpPr/>
      </dsp:nvSpPr>
      <dsp:spPr>
        <a:xfrm>
          <a:off x="5635800" y="2633615"/>
          <a:ext cx="4320000" cy="16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pt-PT" sz="1400" b="1" kern="1200" dirty="0"/>
            <a:t>Importância da cibersegurança: </a:t>
          </a:r>
        </a:p>
        <a:p>
          <a:pPr marL="0" lvl="0" indent="0" algn="ctr" defTabSz="622300">
            <a:lnSpc>
              <a:spcPct val="90000"/>
            </a:lnSpc>
            <a:spcBef>
              <a:spcPct val="0"/>
            </a:spcBef>
            <a:spcAft>
              <a:spcPct val="35000"/>
            </a:spcAft>
            <a:buNone/>
          </a:pPr>
          <a:r>
            <a:rPr lang="pt-PT" sz="1400" kern="1200" dirty="0"/>
            <a:t>A cibersegurança é fundamental para proteger informação sensível, garantir a continuidade das operações e manter a confiança dos utilizadores num ambiente digital cada vez mais ameaçado.</a:t>
          </a:r>
          <a:endParaRPr lang="en-US" sz="1400" kern="1200" dirty="0"/>
        </a:p>
      </dsp:txBody>
      <dsp:txXfrm>
        <a:off x="5635800" y="2633615"/>
        <a:ext cx="4320000" cy="1665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D89619-223D-40FD-8774-2BB540DE267E}" type="datetimeFigureOut">
              <a:rPr lang="pt-PT" smtClean="0"/>
              <a:t>09/12/2025</a:t>
            </a:fld>
            <a:endParaRPr lang="pt-PT"/>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PT"/>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pt-PT"/>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424FA-A00F-4E5E-8350-0C744EC89605}" type="slidenum">
              <a:rPr lang="pt-PT" smtClean="0"/>
              <a:t>‹nº›</a:t>
            </a:fld>
            <a:endParaRPr lang="pt-PT"/>
          </a:p>
        </p:txBody>
      </p:sp>
    </p:spTree>
    <p:extLst>
      <p:ext uri="{BB962C8B-B14F-4D97-AF65-F5344CB8AC3E}">
        <p14:creationId xmlns:p14="http://schemas.microsoft.com/office/powerpoint/2010/main" val="932803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dirty="0"/>
          </a:p>
        </p:txBody>
      </p:sp>
      <p:sp>
        <p:nvSpPr>
          <p:cNvPr id="4" name="Slide Number Placeholder 3"/>
          <p:cNvSpPr>
            <a:spLocks noGrp="1"/>
          </p:cNvSpPr>
          <p:nvPr>
            <p:ph type="sldNum" sz="quarter" idx="5"/>
          </p:nvPr>
        </p:nvSpPr>
        <p:spPr/>
        <p:txBody>
          <a:bodyPr/>
          <a:lstStyle/>
          <a:p>
            <a:fld id="{4EE424FA-A00F-4E5E-8350-0C744EC89605}" type="slidenum">
              <a:rPr lang="pt-PT" smtClean="0"/>
              <a:t>1</a:t>
            </a:fld>
            <a:endParaRPr lang="pt-PT"/>
          </a:p>
        </p:txBody>
      </p:sp>
    </p:spTree>
    <p:extLst>
      <p:ext uri="{BB962C8B-B14F-4D97-AF65-F5344CB8AC3E}">
        <p14:creationId xmlns:p14="http://schemas.microsoft.com/office/powerpoint/2010/main" val="706549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PT" dirty="0"/>
          </a:p>
        </p:txBody>
      </p:sp>
      <p:sp>
        <p:nvSpPr>
          <p:cNvPr id="4" name="Espaço Reservado para Número de Slide 3"/>
          <p:cNvSpPr>
            <a:spLocks noGrp="1"/>
          </p:cNvSpPr>
          <p:nvPr>
            <p:ph type="sldNum" sz="quarter" idx="5"/>
          </p:nvPr>
        </p:nvSpPr>
        <p:spPr/>
        <p:txBody>
          <a:bodyPr/>
          <a:lstStyle/>
          <a:p>
            <a:fld id="{4EE424FA-A00F-4E5E-8350-0C744EC89605}" type="slidenum">
              <a:rPr lang="pt-PT" smtClean="0"/>
              <a:t>5</a:t>
            </a:fld>
            <a:endParaRPr lang="pt-PT"/>
          </a:p>
        </p:txBody>
      </p:sp>
    </p:spTree>
    <p:extLst>
      <p:ext uri="{BB962C8B-B14F-4D97-AF65-F5344CB8AC3E}">
        <p14:creationId xmlns:p14="http://schemas.microsoft.com/office/powerpoint/2010/main" val="1130852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795E4-A060-B2E9-D125-6F71EB2F72F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AAA3F36-7559-ADBB-37F6-AF53E6FFB85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1B7FB63-8A5C-DF2E-9658-F6963007BBB1}"/>
              </a:ext>
            </a:extLst>
          </p:cNvPr>
          <p:cNvSpPr>
            <a:spLocks noGrp="1"/>
          </p:cNvSpPr>
          <p:nvPr>
            <p:ph type="body" idx="1"/>
          </p:nvPr>
        </p:nvSpPr>
        <p:spPr/>
        <p:txBody>
          <a:bodyPr/>
          <a:lstStyle/>
          <a:p>
            <a:endParaRPr lang="pt-PT" dirty="0"/>
          </a:p>
        </p:txBody>
      </p:sp>
      <p:sp>
        <p:nvSpPr>
          <p:cNvPr id="4" name="Espaço Reservado para Número de Slide 3">
            <a:extLst>
              <a:ext uri="{FF2B5EF4-FFF2-40B4-BE49-F238E27FC236}">
                <a16:creationId xmlns:a16="http://schemas.microsoft.com/office/drawing/2014/main" id="{80CD4951-9E39-DF91-17A3-1D5D36C3E287}"/>
              </a:ext>
            </a:extLst>
          </p:cNvPr>
          <p:cNvSpPr>
            <a:spLocks noGrp="1"/>
          </p:cNvSpPr>
          <p:nvPr>
            <p:ph type="sldNum" sz="quarter" idx="5"/>
          </p:nvPr>
        </p:nvSpPr>
        <p:spPr/>
        <p:txBody>
          <a:bodyPr/>
          <a:lstStyle/>
          <a:p>
            <a:fld id="{4EE424FA-A00F-4E5E-8350-0C744EC89605}" type="slidenum">
              <a:rPr lang="pt-PT" smtClean="0"/>
              <a:t>33</a:t>
            </a:fld>
            <a:endParaRPr lang="pt-PT"/>
          </a:p>
        </p:txBody>
      </p:sp>
    </p:spTree>
    <p:extLst>
      <p:ext uri="{BB962C8B-B14F-4D97-AF65-F5344CB8AC3E}">
        <p14:creationId xmlns:p14="http://schemas.microsoft.com/office/powerpoint/2010/main" val="1147460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PT" dirty="0"/>
          </a:p>
        </p:txBody>
      </p:sp>
      <p:sp>
        <p:nvSpPr>
          <p:cNvPr id="4" name="Espaço Reservado para Número de Slide 3"/>
          <p:cNvSpPr>
            <a:spLocks noGrp="1"/>
          </p:cNvSpPr>
          <p:nvPr>
            <p:ph type="sldNum" sz="quarter" idx="5"/>
          </p:nvPr>
        </p:nvSpPr>
        <p:spPr/>
        <p:txBody>
          <a:bodyPr/>
          <a:lstStyle/>
          <a:p>
            <a:fld id="{4EE424FA-A00F-4E5E-8350-0C744EC89605}" type="slidenum">
              <a:rPr lang="pt-PT" smtClean="0"/>
              <a:t>38</a:t>
            </a:fld>
            <a:endParaRPr lang="pt-PT"/>
          </a:p>
        </p:txBody>
      </p:sp>
    </p:spTree>
    <p:extLst>
      <p:ext uri="{BB962C8B-B14F-4D97-AF65-F5344CB8AC3E}">
        <p14:creationId xmlns:p14="http://schemas.microsoft.com/office/powerpoint/2010/main" val="24956449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4F55E5-E463-3F2B-B05C-99D7DD9AE0E5}"/>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pt-PT"/>
          </a:p>
        </p:txBody>
      </p:sp>
      <p:sp>
        <p:nvSpPr>
          <p:cNvPr id="3" name="Subtítulo 2">
            <a:extLst>
              <a:ext uri="{FF2B5EF4-FFF2-40B4-BE49-F238E27FC236}">
                <a16:creationId xmlns:a16="http://schemas.microsoft.com/office/drawing/2014/main" id="{D3BF3B8B-DD7B-50BC-978D-D467C1320B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pt-PT"/>
          </a:p>
        </p:txBody>
      </p:sp>
      <p:sp>
        <p:nvSpPr>
          <p:cNvPr id="4" name="Espaço Reservado para Data 3">
            <a:extLst>
              <a:ext uri="{FF2B5EF4-FFF2-40B4-BE49-F238E27FC236}">
                <a16:creationId xmlns:a16="http://schemas.microsoft.com/office/drawing/2014/main" id="{740129B5-EF7E-0A62-2EC8-D66F15F28B6F}"/>
              </a:ext>
            </a:extLst>
          </p:cNvPr>
          <p:cNvSpPr>
            <a:spLocks noGrp="1"/>
          </p:cNvSpPr>
          <p:nvPr>
            <p:ph type="dt" sz="half" idx="10"/>
          </p:nvPr>
        </p:nvSpPr>
        <p:spPr/>
        <p:txBody>
          <a:bodyPr/>
          <a:lstStyle/>
          <a:p>
            <a:fld id="{E8B53D03-110A-429B-AF89-CB87E6CBA551}" type="datetimeFigureOut">
              <a:rPr lang="pt-PT" smtClean="0"/>
              <a:t>09/12/2025</a:t>
            </a:fld>
            <a:endParaRPr lang="pt-PT"/>
          </a:p>
        </p:txBody>
      </p:sp>
      <p:sp>
        <p:nvSpPr>
          <p:cNvPr id="5" name="Espaço Reservado para Rodapé 4">
            <a:extLst>
              <a:ext uri="{FF2B5EF4-FFF2-40B4-BE49-F238E27FC236}">
                <a16:creationId xmlns:a16="http://schemas.microsoft.com/office/drawing/2014/main" id="{8EB8373D-B69E-ED06-B6AD-C2467354E666}"/>
              </a:ext>
            </a:extLst>
          </p:cNvPr>
          <p:cNvSpPr>
            <a:spLocks noGrp="1"/>
          </p:cNvSpPr>
          <p:nvPr>
            <p:ph type="ftr" sz="quarter" idx="11"/>
          </p:nvPr>
        </p:nvSpPr>
        <p:spPr/>
        <p:txBody>
          <a:bodyPr/>
          <a:lstStyle/>
          <a:p>
            <a:endParaRPr lang="pt-PT"/>
          </a:p>
        </p:txBody>
      </p:sp>
      <p:sp>
        <p:nvSpPr>
          <p:cNvPr id="6" name="Espaço Reservado para Número de Slide 5">
            <a:extLst>
              <a:ext uri="{FF2B5EF4-FFF2-40B4-BE49-F238E27FC236}">
                <a16:creationId xmlns:a16="http://schemas.microsoft.com/office/drawing/2014/main" id="{86128783-7F04-DF4A-5E3F-3C3B976FD32B}"/>
              </a:ext>
            </a:extLst>
          </p:cNvPr>
          <p:cNvSpPr>
            <a:spLocks noGrp="1"/>
          </p:cNvSpPr>
          <p:nvPr>
            <p:ph type="sldNum" sz="quarter" idx="12"/>
          </p:nvPr>
        </p:nvSpPr>
        <p:spPr/>
        <p:txBody>
          <a:bodyPr/>
          <a:lstStyle/>
          <a:p>
            <a:fld id="{4DCF6903-0146-44E3-9B86-ACA9D88A63D9}" type="slidenum">
              <a:rPr lang="pt-PT" smtClean="0"/>
              <a:t>‹nº›</a:t>
            </a:fld>
            <a:endParaRPr lang="pt-PT"/>
          </a:p>
        </p:txBody>
      </p:sp>
    </p:spTree>
    <p:extLst>
      <p:ext uri="{BB962C8B-B14F-4D97-AF65-F5344CB8AC3E}">
        <p14:creationId xmlns:p14="http://schemas.microsoft.com/office/powerpoint/2010/main" val="1732503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CFE6EE-FE92-8BD4-A298-2909EE6D7554}"/>
              </a:ext>
            </a:extLst>
          </p:cNvPr>
          <p:cNvSpPr>
            <a:spLocks noGrp="1"/>
          </p:cNvSpPr>
          <p:nvPr>
            <p:ph type="title"/>
          </p:nvPr>
        </p:nvSpPr>
        <p:spPr/>
        <p:txBody>
          <a:bodyPr/>
          <a:lstStyle/>
          <a:p>
            <a:r>
              <a:rPr lang="pt-BR"/>
              <a:t>Clique para editar o título Mestre</a:t>
            </a:r>
            <a:endParaRPr lang="pt-PT"/>
          </a:p>
        </p:txBody>
      </p:sp>
      <p:sp>
        <p:nvSpPr>
          <p:cNvPr id="3" name="Espaço Reservado para Conteúdo 2">
            <a:extLst>
              <a:ext uri="{FF2B5EF4-FFF2-40B4-BE49-F238E27FC236}">
                <a16:creationId xmlns:a16="http://schemas.microsoft.com/office/drawing/2014/main" id="{D1B2F2B8-A92C-BE10-8080-3A4C7EA9517F}"/>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pt-PT"/>
          </a:p>
        </p:txBody>
      </p:sp>
      <p:sp>
        <p:nvSpPr>
          <p:cNvPr id="4" name="Espaço Reservado para Data 3">
            <a:extLst>
              <a:ext uri="{FF2B5EF4-FFF2-40B4-BE49-F238E27FC236}">
                <a16:creationId xmlns:a16="http://schemas.microsoft.com/office/drawing/2014/main" id="{9B17C01A-0A98-0590-FF1B-E9C3E1A8A839}"/>
              </a:ext>
            </a:extLst>
          </p:cNvPr>
          <p:cNvSpPr>
            <a:spLocks noGrp="1"/>
          </p:cNvSpPr>
          <p:nvPr>
            <p:ph type="dt" sz="half" idx="10"/>
          </p:nvPr>
        </p:nvSpPr>
        <p:spPr/>
        <p:txBody>
          <a:bodyPr/>
          <a:lstStyle/>
          <a:p>
            <a:fld id="{E8B53D03-110A-429B-AF89-CB87E6CBA551}" type="datetimeFigureOut">
              <a:rPr lang="pt-PT" smtClean="0"/>
              <a:t>09/12/2025</a:t>
            </a:fld>
            <a:endParaRPr lang="pt-PT"/>
          </a:p>
        </p:txBody>
      </p:sp>
      <p:sp>
        <p:nvSpPr>
          <p:cNvPr id="5" name="Espaço Reservado para Rodapé 4">
            <a:extLst>
              <a:ext uri="{FF2B5EF4-FFF2-40B4-BE49-F238E27FC236}">
                <a16:creationId xmlns:a16="http://schemas.microsoft.com/office/drawing/2014/main" id="{75FC1121-5B4D-8337-6B80-BCB1118F9314}"/>
              </a:ext>
            </a:extLst>
          </p:cNvPr>
          <p:cNvSpPr>
            <a:spLocks noGrp="1"/>
          </p:cNvSpPr>
          <p:nvPr>
            <p:ph type="ftr" sz="quarter" idx="11"/>
          </p:nvPr>
        </p:nvSpPr>
        <p:spPr/>
        <p:txBody>
          <a:bodyPr/>
          <a:lstStyle/>
          <a:p>
            <a:endParaRPr lang="pt-PT"/>
          </a:p>
        </p:txBody>
      </p:sp>
      <p:sp>
        <p:nvSpPr>
          <p:cNvPr id="6" name="Espaço Reservado para Número de Slide 5">
            <a:extLst>
              <a:ext uri="{FF2B5EF4-FFF2-40B4-BE49-F238E27FC236}">
                <a16:creationId xmlns:a16="http://schemas.microsoft.com/office/drawing/2014/main" id="{59824AA9-36FB-7B1C-ACB7-F3CA525830B0}"/>
              </a:ext>
            </a:extLst>
          </p:cNvPr>
          <p:cNvSpPr>
            <a:spLocks noGrp="1"/>
          </p:cNvSpPr>
          <p:nvPr>
            <p:ph type="sldNum" sz="quarter" idx="12"/>
          </p:nvPr>
        </p:nvSpPr>
        <p:spPr/>
        <p:txBody>
          <a:bodyPr/>
          <a:lstStyle/>
          <a:p>
            <a:fld id="{4DCF6903-0146-44E3-9B86-ACA9D88A63D9}" type="slidenum">
              <a:rPr lang="pt-PT" smtClean="0"/>
              <a:t>‹nº›</a:t>
            </a:fld>
            <a:endParaRPr lang="pt-PT"/>
          </a:p>
        </p:txBody>
      </p:sp>
    </p:spTree>
    <p:extLst>
      <p:ext uri="{BB962C8B-B14F-4D97-AF65-F5344CB8AC3E}">
        <p14:creationId xmlns:p14="http://schemas.microsoft.com/office/powerpoint/2010/main" val="149809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05895B-FF38-D20A-7595-DFF935031B3C}"/>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pt-PT"/>
          </a:p>
        </p:txBody>
      </p:sp>
      <p:sp>
        <p:nvSpPr>
          <p:cNvPr id="3" name="Espaço Reservado para Texto 2">
            <a:extLst>
              <a:ext uri="{FF2B5EF4-FFF2-40B4-BE49-F238E27FC236}">
                <a16:creationId xmlns:a16="http://schemas.microsoft.com/office/drawing/2014/main" id="{A8BC37A9-0C9A-12FA-36F9-96521649B9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AD3FF590-6E0F-51BF-8452-E564DFC76568}"/>
              </a:ext>
            </a:extLst>
          </p:cNvPr>
          <p:cNvSpPr>
            <a:spLocks noGrp="1"/>
          </p:cNvSpPr>
          <p:nvPr>
            <p:ph type="dt" sz="half" idx="10"/>
          </p:nvPr>
        </p:nvSpPr>
        <p:spPr/>
        <p:txBody>
          <a:bodyPr/>
          <a:lstStyle/>
          <a:p>
            <a:fld id="{E8B53D03-110A-429B-AF89-CB87E6CBA551}" type="datetimeFigureOut">
              <a:rPr lang="pt-PT" smtClean="0"/>
              <a:t>09/12/2025</a:t>
            </a:fld>
            <a:endParaRPr lang="pt-PT"/>
          </a:p>
        </p:txBody>
      </p:sp>
      <p:sp>
        <p:nvSpPr>
          <p:cNvPr id="5" name="Espaço Reservado para Rodapé 4">
            <a:extLst>
              <a:ext uri="{FF2B5EF4-FFF2-40B4-BE49-F238E27FC236}">
                <a16:creationId xmlns:a16="http://schemas.microsoft.com/office/drawing/2014/main" id="{43544843-D7D5-30EE-2C17-9CDC1F415511}"/>
              </a:ext>
            </a:extLst>
          </p:cNvPr>
          <p:cNvSpPr>
            <a:spLocks noGrp="1"/>
          </p:cNvSpPr>
          <p:nvPr>
            <p:ph type="ftr" sz="quarter" idx="11"/>
          </p:nvPr>
        </p:nvSpPr>
        <p:spPr/>
        <p:txBody>
          <a:bodyPr/>
          <a:lstStyle/>
          <a:p>
            <a:endParaRPr lang="pt-PT"/>
          </a:p>
        </p:txBody>
      </p:sp>
      <p:sp>
        <p:nvSpPr>
          <p:cNvPr id="6" name="Espaço Reservado para Número de Slide 5">
            <a:extLst>
              <a:ext uri="{FF2B5EF4-FFF2-40B4-BE49-F238E27FC236}">
                <a16:creationId xmlns:a16="http://schemas.microsoft.com/office/drawing/2014/main" id="{E24C34D0-C8F5-D961-DB6F-1F82F86C71A0}"/>
              </a:ext>
            </a:extLst>
          </p:cNvPr>
          <p:cNvSpPr>
            <a:spLocks noGrp="1"/>
          </p:cNvSpPr>
          <p:nvPr>
            <p:ph type="sldNum" sz="quarter" idx="12"/>
          </p:nvPr>
        </p:nvSpPr>
        <p:spPr/>
        <p:txBody>
          <a:bodyPr/>
          <a:lstStyle/>
          <a:p>
            <a:fld id="{4DCF6903-0146-44E3-9B86-ACA9D88A63D9}" type="slidenum">
              <a:rPr lang="pt-PT" smtClean="0"/>
              <a:t>‹nº›</a:t>
            </a:fld>
            <a:endParaRPr lang="pt-PT"/>
          </a:p>
        </p:txBody>
      </p:sp>
    </p:spTree>
    <p:extLst>
      <p:ext uri="{BB962C8B-B14F-4D97-AF65-F5344CB8AC3E}">
        <p14:creationId xmlns:p14="http://schemas.microsoft.com/office/powerpoint/2010/main" val="867681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C0D2E9-7DA6-81D9-8B10-970F26CF906D}"/>
              </a:ext>
            </a:extLst>
          </p:cNvPr>
          <p:cNvSpPr>
            <a:spLocks noGrp="1"/>
          </p:cNvSpPr>
          <p:nvPr>
            <p:ph type="title"/>
          </p:nvPr>
        </p:nvSpPr>
        <p:spPr/>
        <p:txBody>
          <a:bodyPr/>
          <a:lstStyle/>
          <a:p>
            <a:r>
              <a:rPr lang="pt-BR"/>
              <a:t>Clique para editar o título Mestre</a:t>
            </a:r>
            <a:endParaRPr lang="pt-PT"/>
          </a:p>
        </p:txBody>
      </p:sp>
      <p:sp>
        <p:nvSpPr>
          <p:cNvPr id="3" name="Espaço Reservado para Conteúdo 2">
            <a:extLst>
              <a:ext uri="{FF2B5EF4-FFF2-40B4-BE49-F238E27FC236}">
                <a16:creationId xmlns:a16="http://schemas.microsoft.com/office/drawing/2014/main" id="{338BDA73-E2C7-2FDE-8A41-43ECAC8C1983}"/>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pt-PT"/>
          </a:p>
        </p:txBody>
      </p:sp>
      <p:sp>
        <p:nvSpPr>
          <p:cNvPr id="4" name="Espaço Reservado para Conteúdo 3">
            <a:extLst>
              <a:ext uri="{FF2B5EF4-FFF2-40B4-BE49-F238E27FC236}">
                <a16:creationId xmlns:a16="http://schemas.microsoft.com/office/drawing/2014/main" id="{F9CD2A62-FB4B-1062-0639-84098C62BD9C}"/>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pt-PT"/>
          </a:p>
        </p:txBody>
      </p:sp>
      <p:sp>
        <p:nvSpPr>
          <p:cNvPr id="5" name="Espaço Reservado para Data 4">
            <a:extLst>
              <a:ext uri="{FF2B5EF4-FFF2-40B4-BE49-F238E27FC236}">
                <a16:creationId xmlns:a16="http://schemas.microsoft.com/office/drawing/2014/main" id="{6B960891-E993-4479-BABC-FCDCE4BEECCA}"/>
              </a:ext>
            </a:extLst>
          </p:cNvPr>
          <p:cNvSpPr>
            <a:spLocks noGrp="1"/>
          </p:cNvSpPr>
          <p:nvPr>
            <p:ph type="dt" sz="half" idx="10"/>
          </p:nvPr>
        </p:nvSpPr>
        <p:spPr/>
        <p:txBody>
          <a:bodyPr/>
          <a:lstStyle/>
          <a:p>
            <a:fld id="{E8B53D03-110A-429B-AF89-CB87E6CBA551}" type="datetimeFigureOut">
              <a:rPr lang="pt-PT" smtClean="0"/>
              <a:t>09/12/2025</a:t>
            </a:fld>
            <a:endParaRPr lang="pt-PT"/>
          </a:p>
        </p:txBody>
      </p:sp>
      <p:sp>
        <p:nvSpPr>
          <p:cNvPr id="6" name="Espaço Reservado para Rodapé 5">
            <a:extLst>
              <a:ext uri="{FF2B5EF4-FFF2-40B4-BE49-F238E27FC236}">
                <a16:creationId xmlns:a16="http://schemas.microsoft.com/office/drawing/2014/main" id="{D49E9C0F-B418-C91D-CC72-9CE5948BAC90}"/>
              </a:ext>
            </a:extLst>
          </p:cNvPr>
          <p:cNvSpPr>
            <a:spLocks noGrp="1"/>
          </p:cNvSpPr>
          <p:nvPr>
            <p:ph type="ftr" sz="quarter" idx="11"/>
          </p:nvPr>
        </p:nvSpPr>
        <p:spPr/>
        <p:txBody>
          <a:bodyPr/>
          <a:lstStyle/>
          <a:p>
            <a:endParaRPr lang="pt-PT"/>
          </a:p>
        </p:txBody>
      </p:sp>
      <p:sp>
        <p:nvSpPr>
          <p:cNvPr id="7" name="Espaço Reservado para Número de Slide 6">
            <a:extLst>
              <a:ext uri="{FF2B5EF4-FFF2-40B4-BE49-F238E27FC236}">
                <a16:creationId xmlns:a16="http://schemas.microsoft.com/office/drawing/2014/main" id="{F2B9F7A3-D078-85CA-CB2E-0BD64EEEA71C}"/>
              </a:ext>
            </a:extLst>
          </p:cNvPr>
          <p:cNvSpPr>
            <a:spLocks noGrp="1"/>
          </p:cNvSpPr>
          <p:nvPr>
            <p:ph type="sldNum" sz="quarter" idx="12"/>
          </p:nvPr>
        </p:nvSpPr>
        <p:spPr/>
        <p:txBody>
          <a:bodyPr/>
          <a:lstStyle/>
          <a:p>
            <a:fld id="{4DCF6903-0146-44E3-9B86-ACA9D88A63D9}" type="slidenum">
              <a:rPr lang="pt-PT" smtClean="0"/>
              <a:t>‹nº›</a:t>
            </a:fld>
            <a:endParaRPr lang="pt-PT"/>
          </a:p>
        </p:txBody>
      </p:sp>
    </p:spTree>
    <p:extLst>
      <p:ext uri="{BB962C8B-B14F-4D97-AF65-F5344CB8AC3E}">
        <p14:creationId xmlns:p14="http://schemas.microsoft.com/office/powerpoint/2010/main" val="734390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5250EF-53A0-8EEF-9DBB-94095789A091}"/>
              </a:ext>
            </a:extLst>
          </p:cNvPr>
          <p:cNvSpPr>
            <a:spLocks noGrp="1"/>
          </p:cNvSpPr>
          <p:nvPr>
            <p:ph type="title"/>
          </p:nvPr>
        </p:nvSpPr>
        <p:spPr>
          <a:xfrm>
            <a:off x="839788" y="365125"/>
            <a:ext cx="10515600" cy="1325563"/>
          </a:xfrm>
        </p:spPr>
        <p:txBody>
          <a:bodyPr/>
          <a:lstStyle/>
          <a:p>
            <a:r>
              <a:rPr lang="pt-BR"/>
              <a:t>Clique para editar o título Mestre</a:t>
            </a:r>
            <a:endParaRPr lang="pt-PT"/>
          </a:p>
        </p:txBody>
      </p:sp>
      <p:sp>
        <p:nvSpPr>
          <p:cNvPr id="3" name="Espaço Reservado para Texto 2">
            <a:extLst>
              <a:ext uri="{FF2B5EF4-FFF2-40B4-BE49-F238E27FC236}">
                <a16:creationId xmlns:a16="http://schemas.microsoft.com/office/drawing/2014/main" id="{59BB5EAB-650D-827D-3373-BBDA45B76F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CF602423-EA34-5B5C-0D8F-3BE91A55F2AD}"/>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pt-PT"/>
          </a:p>
        </p:txBody>
      </p:sp>
      <p:sp>
        <p:nvSpPr>
          <p:cNvPr id="5" name="Espaço Reservado para Texto 4">
            <a:extLst>
              <a:ext uri="{FF2B5EF4-FFF2-40B4-BE49-F238E27FC236}">
                <a16:creationId xmlns:a16="http://schemas.microsoft.com/office/drawing/2014/main" id="{ED76FAD1-C3EE-3BBD-C0E2-965DC1F444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9D25F20B-F3CF-6D33-6A7E-E8FD287461AC}"/>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pt-PT"/>
          </a:p>
        </p:txBody>
      </p:sp>
      <p:sp>
        <p:nvSpPr>
          <p:cNvPr id="7" name="Espaço Reservado para Data 6">
            <a:extLst>
              <a:ext uri="{FF2B5EF4-FFF2-40B4-BE49-F238E27FC236}">
                <a16:creationId xmlns:a16="http://schemas.microsoft.com/office/drawing/2014/main" id="{3285E0CB-8841-B2C5-2AEC-7DCE9DB1EA23}"/>
              </a:ext>
            </a:extLst>
          </p:cNvPr>
          <p:cNvSpPr>
            <a:spLocks noGrp="1"/>
          </p:cNvSpPr>
          <p:nvPr>
            <p:ph type="dt" sz="half" idx="10"/>
          </p:nvPr>
        </p:nvSpPr>
        <p:spPr/>
        <p:txBody>
          <a:bodyPr/>
          <a:lstStyle/>
          <a:p>
            <a:fld id="{E8B53D03-110A-429B-AF89-CB87E6CBA551}" type="datetimeFigureOut">
              <a:rPr lang="pt-PT" smtClean="0"/>
              <a:t>09/12/2025</a:t>
            </a:fld>
            <a:endParaRPr lang="pt-PT"/>
          </a:p>
        </p:txBody>
      </p:sp>
      <p:sp>
        <p:nvSpPr>
          <p:cNvPr id="8" name="Espaço Reservado para Rodapé 7">
            <a:extLst>
              <a:ext uri="{FF2B5EF4-FFF2-40B4-BE49-F238E27FC236}">
                <a16:creationId xmlns:a16="http://schemas.microsoft.com/office/drawing/2014/main" id="{BD3C55A5-6FE8-CE5B-7F49-04A41FF825C1}"/>
              </a:ext>
            </a:extLst>
          </p:cNvPr>
          <p:cNvSpPr>
            <a:spLocks noGrp="1"/>
          </p:cNvSpPr>
          <p:nvPr>
            <p:ph type="ftr" sz="quarter" idx="11"/>
          </p:nvPr>
        </p:nvSpPr>
        <p:spPr/>
        <p:txBody>
          <a:bodyPr/>
          <a:lstStyle/>
          <a:p>
            <a:endParaRPr lang="pt-PT"/>
          </a:p>
        </p:txBody>
      </p:sp>
      <p:sp>
        <p:nvSpPr>
          <p:cNvPr id="9" name="Espaço Reservado para Número de Slide 8">
            <a:extLst>
              <a:ext uri="{FF2B5EF4-FFF2-40B4-BE49-F238E27FC236}">
                <a16:creationId xmlns:a16="http://schemas.microsoft.com/office/drawing/2014/main" id="{C43307F7-8A2D-4318-59C2-81FC4D7EBC91}"/>
              </a:ext>
            </a:extLst>
          </p:cNvPr>
          <p:cNvSpPr>
            <a:spLocks noGrp="1"/>
          </p:cNvSpPr>
          <p:nvPr>
            <p:ph type="sldNum" sz="quarter" idx="12"/>
          </p:nvPr>
        </p:nvSpPr>
        <p:spPr/>
        <p:txBody>
          <a:bodyPr/>
          <a:lstStyle/>
          <a:p>
            <a:fld id="{4DCF6903-0146-44E3-9B86-ACA9D88A63D9}" type="slidenum">
              <a:rPr lang="pt-PT" smtClean="0"/>
              <a:t>‹nº›</a:t>
            </a:fld>
            <a:endParaRPr lang="pt-PT"/>
          </a:p>
        </p:txBody>
      </p:sp>
    </p:spTree>
    <p:extLst>
      <p:ext uri="{BB962C8B-B14F-4D97-AF65-F5344CB8AC3E}">
        <p14:creationId xmlns:p14="http://schemas.microsoft.com/office/powerpoint/2010/main" val="3856920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F83376-C2AB-6E27-2C38-6BE538D91330}"/>
              </a:ext>
            </a:extLst>
          </p:cNvPr>
          <p:cNvSpPr>
            <a:spLocks noGrp="1"/>
          </p:cNvSpPr>
          <p:nvPr>
            <p:ph type="title"/>
          </p:nvPr>
        </p:nvSpPr>
        <p:spPr/>
        <p:txBody>
          <a:bodyPr/>
          <a:lstStyle/>
          <a:p>
            <a:r>
              <a:rPr lang="pt-BR"/>
              <a:t>Clique para editar o título Mestre</a:t>
            </a:r>
            <a:endParaRPr lang="pt-PT"/>
          </a:p>
        </p:txBody>
      </p:sp>
      <p:sp>
        <p:nvSpPr>
          <p:cNvPr id="3" name="Espaço Reservado para Data 2">
            <a:extLst>
              <a:ext uri="{FF2B5EF4-FFF2-40B4-BE49-F238E27FC236}">
                <a16:creationId xmlns:a16="http://schemas.microsoft.com/office/drawing/2014/main" id="{B8520A43-AFCC-6DD1-B633-81E6E837A413}"/>
              </a:ext>
            </a:extLst>
          </p:cNvPr>
          <p:cNvSpPr>
            <a:spLocks noGrp="1"/>
          </p:cNvSpPr>
          <p:nvPr>
            <p:ph type="dt" sz="half" idx="10"/>
          </p:nvPr>
        </p:nvSpPr>
        <p:spPr/>
        <p:txBody>
          <a:bodyPr/>
          <a:lstStyle/>
          <a:p>
            <a:fld id="{E8B53D03-110A-429B-AF89-CB87E6CBA551}" type="datetimeFigureOut">
              <a:rPr lang="pt-PT" smtClean="0"/>
              <a:t>09/12/2025</a:t>
            </a:fld>
            <a:endParaRPr lang="pt-PT"/>
          </a:p>
        </p:txBody>
      </p:sp>
      <p:sp>
        <p:nvSpPr>
          <p:cNvPr id="4" name="Espaço Reservado para Rodapé 3">
            <a:extLst>
              <a:ext uri="{FF2B5EF4-FFF2-40B4-BE49-F238E27FC236}">
                <a16:creationId xmlns:a16="http://schemas.microsoft.com/office/drawing/2014/main" id="{1953681D-2A75-CEF4-B91B-001B1044A2C2}"/>
              </a:ext>
            </a:extLst>
          </p:cNvPr>
          <p:cNvSpPr>
            <a:spLocks noGrp="1"/>
          </p:cNvSpPr>
          <p:nvPr>
            <p:ph type="ftr" sz="quarter" idx="11"/>
          </p:nvPr>
        </p:nvSpPr>
        <p:spPr/>
        <p:txBody>
          <a:bodyPr/>
          <a:lstStyle/>
          <a:p>
            <a:endParaRPr lang="pt-PT"/>
          </a:p>
        </p:txBody>
      </p:sp>
      <p:sp>
        <p:nvSpPr>
          <p:cNvPr id="5" name="Espaço Reservado para Número de Slide 4">
            <a:extLst>
              <a:ext uri="{FF2B5EF4-FFF2-40B4-BE49-F238E27FC236}">
                <a16:creationId xmlns:a16="http://schemas.microsoft.com/office/drawing/2014/main" id="{F996D8BF-A4C1-00B5-0C24-1F2A43F8EBC1}"/>
              </a:ext>
            </a:extLst>
          </p:cNvPr>
          <p:cNvSpPr>
            <a:spLocks noGrp="1"/>
          </p:cNvSpPr>
          <p:nvPr>
            <p:ph type="sldNum" sz="quarter" idx="12"/>
          </p:nvPr>
        </p:nvSpPr>
        <p:spPr/>
        <p:txBody>
          <a:bodyPr/>
          <a:lstStyle/>
          <a:p>
            <a:fld id="{4DCF6903-0146-44E3-9B86-ACA9D88A63D9}" type="slidenum">
              <a:rPr lang="pt-PT" smtClean="0"/>
              <a:t>‹nº›</a:t>
            </a:fld>
            <a:endParaRPr lang="pt-PT"/>
          </a:p>
        </p:txBody>
      </p:sp>
    </p:spTree>
    <p:extLst>
      <p:ext uri="{BB962C8B-B14F-4D97-AF65-F5344CB8AC3E}">
        <p14:creationId xmlns:p14="http://schemas.microsoft.com/office/powerpoint/2010/main" val="183669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C56DC50-A8A2-DD3C-2C14-78B66D19CB1D}"/>
              </a:ext>
            </a:extLst>
          </p:cNvPr>
          <p:cNvSpPr>
            <a:spLocks noGrp="1"/>
          </p:cNvSpPr>
          <p:nvPr>
            <p:ph type="dt" sz="half" idx="10"/>
          </p:nvPr>
        </p:nvSpPr>
        <p:spPr/>
        <p:txBody>
          <a:bodyPr/>
          <a:lstStyle/>
          <a:p>
            <a:fld id="{E8B53D03-110A-429B-AF89-CB87E6CBA551}" type="datetimeFigureOut">
              <a:rPr lang="pt-PT" smtClean="0"/>
              <a:t>09/12/2025</a:t>
            </a:fld>
            <a:endParaRPr lang="pt-PT"/>
          </a:p>
        </p:txBody>
      </p:sp>
      <p:sp>
        <p:nvSpPr>
          <p:cNvPr id="3" name="Espaço Reservado para Rodapé 2">
            <a:extLst>
              <a:ext uri="{FF2B5EF4-FFF2-40B4-BE49-F238E27FC236}">
                <a16:creationId xmlns:a16="http://schemas.microsoft.com/office/drawing/2014/main" id="{993E5DBB-5516-006A-1FE1-9DD51CA53800}"/>
              </a:ext>
            </a:extLst>
          </p:cNvPr>
          <p:cNvSpPr>
            <a:spLocks noGrp="1"/>
          </p:cNvSpPr>
          <p:nvPr>
            <p:ph type="ftr" sz="quarter" idx="11"/>
          </p:nvPr>
        </p:nvSpPr>
        <p:spPr/>
        <p:txBody>
          <a:bodyPr/>
          <a:lstStyle/>
          <a:p>
            <a:endParaRPr lang="pt-PT"/>
          </a:p>
        </p:txBody>
      </p:sp>
      <p:sp>
        <p:nvSpPr>
          <p:cNvPr id="4" name="Espaço Reservado para Número de Slide 3">
            <a:extLst>
              <a:ext uri="{FF2B5EF4-FFF2-40B4-BE49-F238E27FC236}">
                <a16:creationId xmlns:a16="http://schemas.microsoft.com/office/drawing/2014/main" id="{BBAEBD69-D484-9ADF-513A-5B1DB32BFF8D}"/>
              </a:ext>
            </a:extLst>
          </p:cNvPr>
          <p:cNvSpPr>
            <a:spLocks noGrp="1"/>
          </p:cNvSpPr>
          <p:nvPr>
            <p:ph type="sldNum" sz="quarter" idx="12"/>
          </p:nvPr>
        </p:nvSpPr>
        <p:spPr/>
        <p:txBody>
          <a:bodyPr/>
          <a:lstStyle/>
          <a:p>
            <a:fld id="{4DCF6903-0146-44E3-9B86-ACA9D88A63D9}" type="slidenum">
              <a:rPr lang="pt-PT" smtClean="0"/>
              <a:t>‹nº›</a:t>
            </a:fld>
            <a:endParaRPr lang="pt-PT"/>
          </a:p>
        </p:txBody>
      </p:sp>
    </p:spTree>
    <p:extLst>
      <p:ext uri="{BB962C8B-B14F-4D97-AF65-F5344CB8AC3E}">
        <p14:creationId xmlns:p14="http://schemas.microsoft.com/office/powerpoint/2010/main" val="632588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2DDB5A-C21B-06C0-5639-A784C0A2AC5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pt-PT"/>
          </a:p>
        </p:txBody>
      </p:sp>
      <p:sp>
        <p:nvSpPr>
          <p:cNvPr id="3" name="Espaço Reservado para Conteúdo 2">
            <a:extLst>
              <a:ext uri="{FF2B5EF4-FFF2-40B4-BE49-F238E27FC236}">
                <a16:creationId xmlns:a16="http://schemas.microsoft.com/office/drawing/2014/main" id="{1E6B67DC-FF13-F2F6-7317-9C7E8E4593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pt-PT"/>
          </a:p>
        </p:txBody>
      </p:sp>
      <p:sp>
        <p:nvSpPr>
          <p:cNvPr id="4" name="Espaço Reservado para Texto 3">
            <a:extLst>
              <a:ext uri="{FF2B5EF4-FFF2-40B4-BE49-F238E27FC236}">
                <a16:creationId xmlns:a16="http://schemas.microsoft.com/office/drawing/2014/main" id="{A6A805D9-E40E-683D-12C1-98EFF9863D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39FD8A76-E806-DFBA-21B4-4FECEA406564}"/>
              </a:ext>
            </a:extLst>
          </p:cNvPr>
          <p:cNvSpPr>
            <a:spLocks noGrp="1"/>
          </p:cNvSpPr>
          <p:nvPr>
            <p:ph type="dt" sz="half" idx="10"/>
          </p:nvPr>
        </p:nvSpPr>
        <p:spPr/>
        <p:txBody>
          <a:bodyPr/>
          <a:lstStyle/>
          <a:p>
            <a:fld id="{E8B53D03-110A-429B-AF89-CB87E6CBA551}" type="datetimeFigureOut">
              <a:rPr lang="pt-PT" smtClean="0"/>
              <a:t>09/12/2025</a:t>
            </a:fld>
            <a:endParaRPr lang="pt-PT"/>
          </a:p>
        </p:txBody>
      </p:sp>
      <p:sp>
        <p:nvSpPr>
          <p:cNvPr id="6" name="Espaço Reservado para Rodapé 5">
            <a:extLst>
              <a:ext uri="{FF2B5EF4-FFF2-40B4-BE49-F238E27FC236}">
                <a16:creationId xmlns:a16="http://schemas.microsoft.com/office/drawing/2014/main" id="{436FE60C-9C66-6A0E-1B5D-FD6D8872D3CB}"/>
              </a:ext>
            </a:extLst>
          </p:cNvPr>
          <p:cNvSpPr>
            <a:spLocks noGrp="1"/>
          </p:cNvSpPr>
          <p:nvPr>
            <p:ph type="ftr" sz="quarter" idx="11"/>
          </p:nvPr>
        </p:nvSpPr>
        <p:spPr/>
        <p:txBody>
          <a:bodyPr/>
          <a:lstStyle/>
          <a:p>
            <a:endParaRPr lang="pt-PT"/>
          </a:p>
        </p:txBody>
      </p:sp>
      <p:sp>
        <p:nvSpPr>
          <p:cNvPr id="7" name="Espaço Reservado para Número de Slide 6">
            <a:extLst>
              <a:ext uri="{FF2B5EF4-FFF2-40B4-BE49-F238E27FC236}">
                <a16:creationId xmlns:a16="http://schemas.microsoft.com/office/drawing/2014/main" id="{2C60E617-3CC8-460D-DFB9-732ADCCAD598}"/>
              </a:ext>
            </a:extLst>
          </p:cNvPr>
          <p:cNvSpPr>
            <a:spLocks noGrp="1"/>
          </p:cNvSpPr>
          <p:nvPr>
            <p:ph type="sldNum" sz="quarter" idx="12"/>
          </p:nvPr>
        </p:nvSpPr>
        <p:spPr/>
        <p:txBody>
          <a:bodyPr/>
          <a:lstStyle/>
          <a:p>
            <a:fld id="{4DCF6903-0146-44E3-9B86-ACA9D88A63D9}" type="slidenum">
              <a:rPr lang="pt-PT" smtClean="0"/>
              <a:t>‹nº›</a:t>
            </a:fld>
            <a:endParaRPr lang="pt-PT"/>
          </a:p>
        </p:txBody>
      </p:sp>
    </p:spTree>
    <p:extLst>
      <p:ext uri="{BB962C8B-B14F-4D97-AF65-F5344CB8AC3E}">
        <p14:creationId xmlns:p14="http://schemas.microsoft.com/office/powerpoint/2010/main" val="3056605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D24EFF-3563-C6A9-68C4-C5577E6ED758}"/>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pt-PT"/>
          </a:p>
        </p:txBody>
      </p:sp>
      <p:sp>
        <p:nvSpPr>
          <p:cNvPr id="3" name="Espaço Reservado para Imagem 2">
            <a:extLst>
              <a:ext uri="{FF2B5EF4-FFF2-40B4-BE49-F238E27FC236}">
                <a16:creationId xmlns:a16="http://schemas.microsoft.com/office/drawing/2014/main" id="{401A7EB4-0B13-9E9B-0EAA-FF8FD48E3D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PT"/>
          </a:p>
        </p:txBody>
      </p:sp>
      <p:sp>
        <p:nvSpPr>
          <p:cNvPr id="4" name="Espaço Reservado para Texto 3">
            <a:extLst>
              <a:ext uri="{FF2B5EF4-FFF2-40B4-BE49-F238E27FC236}">
                <a16:creationId xmlns:a16="http://schemas.microsoft.com/office/drawing/2014/main" id="{D91D66CE-6361-8C41-20B3-42B70175F0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0047D7C-1375-5D6A-9CB6-CA1D6468FE52}"/>
              </a:ext>
            </a:extLst>
          </p:cNvPr>
          <p:cNvSpPr>
            <a:spLocks noGrp="1"/>
          </p:cNvSpPr>
          <p:nvPr>
            <p:ph type="dt" sz="half" idx="10"/>
          </p:nvPr>
        </p:nvSpPr>
        <p:spPr/>
        <p:txBody>
          <a:bodyPr/>
          <a:lstStyle/>
          <a:p>
            <a:fld id="{E8B53D03-110A-429B-AF89-CB87E6CBA551}" type="datetimeFigureOut">
              <a:rPr lang="pt-PT" smtClean="0"/>
              <a:t>09/12/2025</a:t>
            </a:fld>
            <a:endParaRPr lang="pt-PT"/>
          </a:p>
        </p:txBody>
      </p:sp>
      <p:sp>
        <p:nvSpPr>
          <p:cNvPr id="6" name="Espaço Reservado para Rodapé 5">
            <a:extLst>
              <a:ext uri="{FF2B5EF4-FFF2-40B4-BE49-F238E27FC236}">
                <a16:creationId xmlns:a16="http://schemas.microsoft.com/office/drawing/2014/main" id="{BBAD0C07-965E-7202-887D-1CEC1F7BA31F}"/>
              </a:ext>
            </a:extLst>
          </p:cNvPr>
          <p:cNvSpPr>
            <a:spLocks noGrp="1"/>
          </p:cNvSpPr>
          <p:nvPr>
            <p:ph type="ftr" sz="quarter" idx="11"/>
          </p:nvPr>
        </p:nvSpPr>
        <p:spPr/>
        <p:txBody>
          <a:bodyPr/>
          <a:lstStyle/>
          <a:p>
            <a:endParaRPr lang="pt-PT"/>
          </a:p>
        </p:txBody>
      </p:sp>
      <p:sp>
        <p:nvSpPr>
          <p:cNvPr id="7" name="Espaço Reservado para Número de Slide 6">
            <a:extLst>
              <a:ext uri="{FF2B5EF4-FFF2-40B4-BE49-F238E27FC236}">
                <a16:creationId xmlns:a16="http://schemas.microsoft.com/office/drawing/2014/main" id="{84005BF1-37C3-B190-FD3E-0CCE08130088}"/>
              </a:ext>
            </a:extLst>
          </p:cNvPr>
          <p:cNvSpPr>
            <a:spLocks noGrp="1"/>
          </p:cNvSpPr>
          <p:nvPr>
            <p:ph type="sldNum" sz="quarter" idx="12"/>
          </p:nvPr>
        </p:nvSpPr>
        <p:spPr/>
        <p:txBody>
          <a:bodyPr/>
          <a:lstStyle/>
          <a:p>
            <a:fld id="{4DCF6903-0146-44E3-9B86-ACA9D88A63D9}" type="slidenum">
              <a:rPr lang="pt-PT" smtClean="0"/>
              <a:t>‹nº›</a:t>
            </a:fld>
            <a:endParaRPr lang="pt-PT"/>
          </a:p>
        </p:txBody>
      </p:sp>
    </p:spTree>
    <p:extLst>
      <p:ext uri="{BB962C8B-B14F-4D97-AF65-F5344CB8AC3E}">
        <p14:creationId xmlns:p14="http://schemas.microsoft.com/office/powerpoint/2010/main" val="3429104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90A0DD-A662-F9EA-5A61-ED35BB38C506}"/>
              </a:ext>
            </a:extLst>
          </p:cNvPr>
          <p:cNvSpPr>
            <a:spLocks noGrp="1"/>
          </p:cNvSpPr>
          <p:nvPr>
            <p:ph type="title"/>
          </p:nvPr>
        </p:nvSpPr>
        <p:spPr/>
        <p:txBody>
          <a:bodyPr/>
          <a:lstStyle/>
          <a:p>
            <a:r>
              <a:rPr lang="pt-BR"/>
              <a:t>Clique para editar o título Mestre</a:t>
            </a:r>
            <a:endParaRPr lang="pt-PT"/>
          </a:p>
        </p:txBody>
      </p:sp>
      <p:sp>
        <p:nvSpPr>
          <p:cNvPr id="3" name="Espaço Reservado para Texto Vertical 2">
            <a:extLst>
              <a:ext uri="{FF2B5EF4-FFF2-40B4-BE49-F238E27FC236}">
                <a16:creationId xmlns:a16="http://schemas.microsoft.com/office/drawing/2014/main" id="{718758BA-DAE0-BDF7-24BC-366974431A6B}"/>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pt-PT"/>
          </a:p>
        </p:txBody>
      </p:sp>
      <p:sp>
        <p:nvSpPr>
          <p:cNvPr id="4" name="Espaço Reservado para Data 3">
            <a:extLst>
              <a:ext uri="{FF2B5EF4-FFF2-40B4-BE49-F238E27FC236}">
                <a16:creationId xmlns:a16="http://schemas.microsoft.com/office/drawing/2014/main" id="{6B5BC3C7-3D2F-5676-2EF8-B9648DDCDE38}"/>
              </a:ext>
            </a:extLst>
          </p:cNvPr>
          <p:cNvSpPr>
            <a:spLocks noGrp="1"/>
          </p:cNvSpPr>
          <p:nvPr>
            <p:ph type="dt" sz="half" idx="10"/>
          </p:nvPr>
        </p:nvSpPr>
        <p:spPr/>
        <p:txBody>
          <a:bodyPr/>
          <a:lstStyle/>
          <a:p>
            <a:fld id="{E8B53D03-110A-429B-AF89-CB87E6CBA551}" type="datetimeFigureOut">
              <a:rPr lang="pt-PT" smtClean="0"/>
              <a:t>09/12/2025</a:t>
            </a:fld>
            <a:endParaRPr lang="pt-PT"/>
          </a:p>
        </p:txBody>
      </p:sp>
      <p:sp>
        <p:nvSpPr>
          <p:cNvPr id="5" name="Espaço Reservado para Rodapé 4">
            <a:extLst>
              <a:ext uri="{FF2B5EF4-FFF2-40B4-BE49-F238E27FC236}">
                <a16:creationId xmlns:a16="http://schemas.microsoft.com/office/drawing/2014/main" id="{0ECD107F-B77D-0560-D6C2-FAB1D7F1743C}"/>
              </a:ext>
            </a:extLst>
          </p:cNvPr>
          <p:cNvSpPr>
            <a:spLocks noGrp="1"/>
          </p:cNvSpPr>
          <p:nvPr>
            <p:ph type="ftr" sz="quarter" idx="11"/>
          </p:nvPr>
        </p:nvSpPr>
        <p:spPr/>
        <p:txBody>
          <a:bodyPr/>
          <a:lstStyle/>
          <a:p>
            <a:endParaRPr lang="pt-PT"/>
          </a:p>
        </p:txBody>
      </p:sp>
      <p:sp>
        <p:nvSpPr>
          <p:cNvPr id="6" name="Espaço Reservado para Número de Slide 5">
            <a:extLst>
              <a:ext uri="{FF2B5EF4-FFF2-40B4-BE49-F238E27FC236}">
                <a16:creationId xmlns:a16="http://schemas.microsoft.com/office/drawing/2014/main" id="{A617F4BD-C39C-0CEA-025C-8B4771805239}"/>
              </a:ext>
            </a:extLst>
          </p:cNvPr>
          <p:cNvSpPr>
            <a:spLocks noGrp="1"/>
          </p:cNvSpPr>
          <p:nvPr>
            <p:ph type="sldNum" sz="quarter" idx="12"/>
          </p:nvPr>
        </p:nvSpPr>
        <p:spPr/>
        <p:txBody>
          <a:bodyPr/>
          <a:lstStyle/>
          <a:p>
            <a:fld id="{4DCF6903-0146-44E3-9B86-ACA9D88A63D9}" type="slidenum">
              <a:rPr lang="pt-PT" smtClean="0"/>
              <a:t>‹nº›</a:t>
            </a:fld>
            <a:endParaRPr lang="pt-PT"/>
          </a:p>
        </p:txBody>
      </p:sp>
    </p:spTree>
    <p:extLst>
      <p:ext uri="{BB962C8B-B14F-4D97-AF65-F5344CB8AC3E}">
        <p14:creationId xmlns:p14="http://schemas.microsoft.com/office/powerpoint/2010/main" val="1817018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D43C188-B737-907B-016A-E9A077168746}"/>
              </a:ext>
            </a:extLst>
          </p:cNvPr>
          <p:cNvSpPr>
            <a:spLocks noGrp="1"/>
          </p:cNvSpPr>
          <p:nvPr>
            <p:ph type="title" orient="vert"/>
          </p:nvPr>
        </p:nvSpPr>
        <p:spPr>
          <a:xfrm>
            <a:off x="8724900" y="365125"/>
            <a:ext cx="2628900" cy="5811838"/>
          </a:xfrm>
        </p:spPr>
        <p:txBody>
          <a:bodyPr vert="eaVert"/>
          <a:lstStyle/>
          <a:p>
            <a:r>
              <a:rPr lang="pt-BR"/>
              <a:t>Clique para editar o título Mestre</a:t>
            </a:r>
            <a:endParaRPr lang="pt-PT"/>
          </a:p>
        </p:txBody>
      </p:sp>
      <p:sp>
        <p:nvSpPr>
          <p:cNvPr id="3" name="Espaço Reservado para Texto Vertical 2">
            <a:extLst>
              <a:ext uri="{FF2B5EF4-FFF2-40B4-BE49-F238E27FC236}">
                <a16:creationId xmlns:a16="http://schemas.microsoft.com/office/drawing/2014/main" id="{81B91DB3-1D94-65CB-5957-C6D18A760385}"/>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pt-PT"/>
          </a:p>
        </p:txBody>
      </p:sp>
      <p:sp>
        <p:nvSpPr>
          <p:cNvPr id="4" name="Espaço Reservado para Data 3">
            <a:extLst>
              <a:ext uri="{FF2B5EF4-FFF2-40B4-BE49-F238E27FC236}">
                <a16:creationId xmlns:a16="http://schemas.microsoft.com/office/drawing/2014/main" id="{C509228D-661C-105B-B0BE-DD319FD59A15}"/>
              </a:ext>
            </a:extLst>
          </p:cNvPr>
          <p:cNvSpPr>
            <a:spLocks noGrp="1"/>
          </p:cNvSpPr>
          <p:nvPr>
            <p:ph type="dt" sz="half" idx="10"/>
          </p:nvPr>
        </p:nvSpPr>
        <p:spPr/>
        <p:txBody>
          <a:bodyPr/>
          <a:lstStyle/>
          <a:p>
            <a:fld id="{E8B53D03-110A-429B-AF89-CB87E6CBA551}" type="datetimeFigureOut">
              <a:rPr lang="pt-PT" smtClean="0"/>
              <a:t>09/12/2025</a:t>
            </a:fld>
            <a:endParaRPr lang="pt-PT"/>
          </a:p>
        </p:txBody>
      </p:sp>
      <p:sp>
        <p:nvSpPr>
          <p:cNvPr id="5" name="Espaço Reservado para Rodapé 4">
            <a:extLst>
              <a:ext uri="{FF2B5EF4-FFF2-40B4-BE49-F238E27FC236}">
                <a16:creationId xmlns:a16="http://schemas.microsoft.com/office/drawing/2014/main" id="{DF5DAA5F-AFFA-60A5-F563-F690C843BA1B}"/>
              </a:ext>
            </a:extLst>
          </p:cNvPr>
          <p:cNvSpPr>
            <a:spLocks noGrp="1"/>
          </p:cNvSpPr>
          <p:nvPr>
            <p:ph type="ftr" sz="quarter" idx="11"/>
          </p:nvPr>
        </p:nvSpPr>
        <p:spPr/>
        <p:txBody>
          <a:bodyPr/>
          <a:lstStyle/>
          <a:p>
            <a:endParaRPr lang="pt-PT"/>
          </a:p>
        </p:txBody>
      </p:sp>
      <p:sp>
        <p:nvSpPr>
          <p:cNvPr id="6" name="Espaço Reservado para Número de Slide 5">
            <a:extLst>
              <a:ext uri="{FF2B5EF4-FFF2-40B4-BE49-F238E27FC236}">
                <a16:creationId xmlns:a16="http://schemas.microsoft.com/office/drawing/2014/main" id="{5484F86D-D722-5E19-6AA4-035675C384CE}"/>
              </a:ext>
            </a:extLst>
          </p:cNvPr>
          <p:cNvSpPr>
            <a:spLocks noGrp="1"/>
          </p:cNvSpPr>
          <p:nvPr>
            <p:ph type="sldNum" sz="quarter" idx="12"/>
          </p:nvPr>
        </p:nvSpPr>
        <p:spPr/>
        <p:txBody>
          <a:bodyPr/>
          <a:lstStyle/>
          <a:p>
            <a:fld id="{4DCF6903-0146-44E3-9B86-ACA9D88A63D9}" type="slidenum">
              <a:rPr lang="pt-PT" smtClean="0"/>
              <a:t>‹nº›</a:t>
            </a:fld>
            <a:endParaRPr lang="pt-PT"/>
          </a:p>
        </p:txBody>
      </p:sp>
    </p:spTree>
    <p:extLst>
      <p:ext uri="{BB962C8B-B14F-4D97-AF65-F5344CB8AC3E}">
        <p14:creationId xmlns:p14="http://schemas.microsoft.com/office/powerpoint/2010/main" val="1676698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B87DD279-4900-E9DB-1A82-5F7EC6DCA8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pt-PT"/>
          </a:p>
        </p:txBody>
      </p:sp>
      <p:sp>
        <p:nvSpPr>
          <p:cNvPr id="3" name="Espaço Reservado para Texto 2">
            <a:extLst>
              <a:ext uri="{FF2B5EF4-FFF2-40B4-BE49-F238E27FC236}">
                <a16:creationId xmlns:a16="http://schemas.microsoft.com/office/drawing/2014/main" id="{7653A983-777A-C426-0EF6-45E5D5319B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pt-PT"/>
          </a:p>
        </p:txBody>
      </p:sp>
      <p:sp>
        <p:nvSpPr>
          <p:cNvPr id="4" name="Espaço Reservado para Data 3">
            <a:extLst>
              <a:ext uri="{FF2B5EF4-FFF2-40B4-BE49-F238E27FC236}">
                <a16:creationId xmlns:a16="http://schemas.microsoft.com/office/drawing/2014/main" id="{DEB50E49-8D15-8EFB-2F0F-5887543992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B53D03-110A-429B-AF89-CB87E6CBA551}" type="datetimeFigureOut">
              <a:rPr lang="pt-PT" smtClean="0"/>
              <a:t>09/12/2025</a:t>
            </a:fld>
            <a:endParaRPr lang="pt-PT"/>
          </a:p>
        </p:txBody>
      </p:sp>
      <p:sp>
        <p:nvSpPr>
          <p:cNvPr id="5" name="Espaço Reservado para Rodapé 4">
            <a:extLst>
              <a:ext uri="{FF2B5EF4-FFF2-40B4-BE49-F238E27FC236}">
                <a16:creationId xmlns:a16="http://schemas.microsoft.com/office/drawing/2014/main" id="{5EE93CF4-B01E-3E5F-C510-E1E02D89A2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PT"/>
          </a:p>
        </p:txBody>
      </p:sp>
      <p:sp>
        <p:nvSpPr>
          <p:cNvPr id="6" name="Espaço Reservado para Número de Slide 5">
            <a:extLst>
              <a:ext uri="{FF2B5EF4-FFF2-40B4-BE49-F238E27FC236}">
                <a16:creationId xmlns:a16="http://schemas.microsoft.com/office/drawing/2014/main" id="{4FEB0A18-AB5A-6958-7404-FD2F317756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CF6903-0146-44E3-9B86-ACA9D88A63D9}" type="slidenum">
              <a:rPr lang="pt-PT" smtClean="0"/>
              <a:t>‹nº›</a:t>
            </a:fld>
            <a:endParaRPr lang="pt-PT"/>
          </a:p>
        </p:txBody>
      </p:sp>
    </p:spTree>
    <p:extLst>
      <p:ext uri="{BB962C8B-B14F-4D97-AF65-F5344CB8AC3E}">
        <p14:creationId xmlns:p14="http://schemas.microsoft.com/office/powerpoint/2010/main" val="3291425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3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4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Cíber segurança - ícones de segurança grátis">
            <a:extLst>
              <a:ext uri="{FF2B5EF4-FFF2-40B4-BE49-F238E27FC236}">
                <a16:creationId xmlns:a16="http://schemas.microsoft.com/office/drawing/2014/main" id="{A4C71BD2-8405-24B3-109E-140F06B6BB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7067" r="9092" b="11012"/>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5" name="Rectangle 1034">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ítulo 3">
            <a:extLst>
              <a:ext uri="{FF2B5EF4-FFF2-40B4-BE49-F238E27FC236}">
                <a16:creationId xmlns:a16="http://schemas.microsoft.com/office/drawing/2014/main" id="{CB217222-C40A-5EF7-0EB3-011504EB91A1}"/>
              </a:ext>
            </a:extLst>
          </p:cNvPr>
          <p:cNvSpPr>
            <a:spLocks noGrp="1"/>
          </p:cNvSpPr>
          <p:nvPr>
            <p:ph type="ctrTitle"/>
          </p:nvPr>
        </p:nvSpPr>
        <p:spPr>
          <a:xfrm>
            <a:off x="477981" y="1122363"/>
            <a:ext cx="4023360" cy="2005672"/>
          </a:xfrm>
        </p:spPr>
        <p:txBody>
          <a:bodyPr anchor="b">
            <a:normAutofit fontScale="90000"/>
          </a:bodyPr>
          <a:lstStyle/>
          <a:p>
            <a:pPr algn="l"/>
            <a:r>
              <a:rPr lang="pt-PT" sz="4800" dirty="0">
                <a:solidFill>
                  <a:schemeClr val="bg1"/>
                </a:solidFill>
              </a:rPr>
              <a:t>Análise de Vulnerabilidades</a:t>
            </a:r>
          </a:p>
        </p:txBody>
      </p:sp>
      <p:sp>
        <p:nvSpPr>
          <p:cNvPr id="3" name="Subtítulo 2">
            <a:extLst>
              <a:ext uri="{FF2B5EF4-FFF2-40B4-BE49-F238E27FC236}">
                <a16:creationId xmlns:a16="http://schemas.microsoft.com/office/drawing/2014/main" id="{336171B0-A477-9D77-1AD7-B6D4BA3361E6}"/>
              </a:ext>
            </a:extLst>
          </p:cNvPr>
          <p:cNvSpPr>
            <a:spLocks noGrp="1"/>
          </p:cNvSpPr>
          <p:nvPr>
            <p:ph type="subTitle" idx="1"/>
          </p:nvPr>
        </p:nvSpPr>
        <p:spPr>
          <a:xfrm>
            <a:off x="477980" y="3478410"/>
            <a:ext cx="4023359" cy="2602653"/>
          </a:xfrm>
        </p:spPr>
        <p:txBody>
          <a:bodyPr>
            <a:normAutofit/>
          </a:bodyPr>
          <a:lstStyle/>
          <a:p>
            <a:pPr algn="l"/>
            <a:r>
              <a:rPr lang="pt-PT" sz="1400" b="1" dirty="0">
                <a:solidFill>
                  <a:schemeClr val="bg1"/>
                </a:solidFill>
              </a:rPr>
              <a:t>Unidade Curricular </a:t>
            </a:r>
            <a:r>
              <a:rPr lang="pt-PT" sz="1400" dirty="0">
                <a:solidFill>
                  <a:schemeClr val="bg1"/>
                </a:solidFill>
              </a:rPr>
              <a:t>- Cibersegurança</a:t>
            </a:r>
          </a:p>
          <a:p>
            <a:pPr algn="l"/>
            <a:r>
              <a:rPr lang="pt-PT" sz="1400" b="1" dirty="0">
                <a:solidFill>
                  <a:schemeClr val="bg1"/>
                </a:solidFill>
              </a:rPr>
              <a:t>Curso</a:t>
            </a:r>
            <a:r>
              <a:rPr lang="pt-PT" sz="1400" dirty="0">
                <a:solidFill>
                  <a:schemeClr val="bg1"/>
                </a:solidFill>
              </a:rPr>
              <a:t> - Engenharia de Sistemas e Tecnologias Informáticas</a:t>
            </a:r>
          </a:p>
          <a:p>
            <a:pPr algn="l"/>
            <a:endParaRPr lang="pt-PT" sz="1400" dirty="0">
              <a:solidFill>
                <a:schemeClr val="bg1"/>
              </a:solidFill>
            </a:endParaRPr>
          </a:p>
          <a:p>
            <a:pPr algn="l"/>
            <a:r>
              <a:rPr lang="pt-PT" sz="1400" b="1" dirty="0">
                <a:solidFill>
                  <a:schemeClr val="bg1"/>
                </a:solidFill>
              </a:rPr>
              <a:t>Trabalho elaborado por</a:t>
            </a:r>
            <a:r>
              <a:rPr lang="pt-PT" sz="1400" dirty="0">
                <a:solidFill>
                  <a:schemeClr val="bg1"/>
                </a:solidFill>
              </a:rPr>
              <a:t>:</a:t>
            </a:r>
          </a:p>
          <a:p>
            <a:pPr algn="l"/>
            <a:r>
              <a:rPr lang="pt-PT" sz="1400" b="1" dirty="0">
                <a:solidFill>
                  <a:schemeClr val="bg1"/>
                </a:solidFill>
              </a:rPr>
              <a:t>Guilherme Coelho Simões </a:t>
            </a:r>
            <a:r>
              <a:rPr lang="pt-PT" sz="1400" dirty="0">
                <a:solidFill>
                  <a:schemeClr val="bg1"/>
                </a:solidFill>
              </a:rPr>
              <a:t>- 74535 </a:t>
            </a:r>
          </a:p>
          <a:p>
            <a:pPr algn="l"/>
            <a:r>
              <a:rPr lang="pt-PT" sz="1400" b="1" dirty="0">
                <a:solidFill>
                  <a:schemeClr val="bg1"/>
                </a:solidFill>
              </a:rPr>
              <a:t>Lucas Machadinho Martins </a:t>
            </a:r>
            <a:r>
              <a:rPr lang="pt-PT" sz="1400" dirty="0">
                <a:solidFill>
                  <a:schemeClr val="bg1"/>
                </a:solidFill>
              </a:rPr>
              <a:t>- 79294 </a:t>
            </a:r>
          </a:p>
          <a:p>
            <a:pPr algn="l"/>
            <a:r>
              <a:rPr lang="pt-PT" sz="1400" b="1" dirty="0">
                <a:solidFill>
                  <a:schemeClr val="bg1"/>
                </a:solidFill>
              </a:rPr>
              <a:t>Pedro Daniel Gonçalves </a:t>
            </a:r>
            <a:r>
              <a:rPr lang="pt-PT" sz="1400" dirty="0">
                <a:solidFill>
                  <a:schemeClr val="bg1"/>
                </a:solidFill>
              </a:rPr>
              <a:t>- 79297 </a:t>
            </a:r>
          </a:p>
          <a:p>
            <a:pPr algn="l"/>
            <a:endParaRPr lang="pt-PT" sz="500" dirty="0">
              <a:solidFill>
                <a:schemeClr val="bg1"/>
              </a:solidFill>
            </a:endParaRPr>
          </a:p>
        </p:txBody>
      </p:sp>
      <p:sp>
        <p:nvSpPr>
          <p:cNvPr id="1037" name="Rectangle 103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9" name="Rectangle 103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3935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F77C85A-3C53-2430-DD8C-716F857EE8E3}"/>
              </a:ext>
            </a:extLst>
          </p:cNvPr>
          <p:cNvSpPr>
            <a:spLocks noGrp="1"/>
          </p:cNvSpPr>
          <p:nvPr>
            <p:ph type="title"/>
          </p:nvPr>
        </p:nvSpPr>
        <p:spPr>
          <a:xfrm>
            <a:off x="640080" y="325369"/>
            <a:ext cx="4368602" cy="1956841"/>
          </a:xfrm>
        </p:spPr>
        <p:txBody>
          <a:bodyPr anchor="b">
            <a:normAutofit/>
          </a:bodyPr>
          <a:lstStyle/>
          <a:p>
            <a:r>
              <a:rPr lang="pt-PT" sz="5400"/>
              <a:t>Objetivos do Trabalho</a:t>
            </a:r>
          </a:p>
        </p:txBody>
      </p:sp>
      <p:sp>
        <p:nvSpPr>
          <p:cNvPr id="205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ço Reservado para Conteúdo 2">
            <a:extLst>
              <a:ext uri="{FF2B5EF4-FFF2-40B4-BE49-F238E27FC236}">
                <a16:creationId xmlns:a16="http://schemas.microsoft.com/office/drawing/2014/main" id="{129BAD7D-BEB7-9ED9-6A01-35CF4AB4305C}"/>
              </a:ext>
            </a:extLst>
          </p:cNvPr>
          <p:cNvSpPr>
            <a:spLocks noGrp="1"/>
          </p:cNvSpPr>
          <p:nvPr>
            <p:ph idx="1"/>
          </p:nvPr>
        </p:nvSpPr>
        <p:spPr>
          <a:xfrm>
            <a:off x="640080" y="2872899"/>
            <a:ext cx="4243589" cy="3320668"/>
          </a:xfrm>
        </p:spPr>
        <p:txBody>
          <a:bodyPr>
            <a:normAutofit/>
          </a:bodyPr>
          <a:lstStyle/>
          <a:p>
            <a:r>
              <a:rPr lang="pt-PT" sz="2200" dirty="0"/>
              <a:t>Este trabalho pretende identificar, analisar e explorar vulnerabilidades críticas em redes, sistemas, aplicações e dados. Além disso, procura apresentar formas de prevenir e mitigar essas vulnerabilidades, contribuindo para a proteção dos sistemas e da informação sensível.</a:t>
            </a:r>
          </a:p>
        </p:txBody>
      </p:sp>
      <p:pic>
        <p:nvPicPr>
          <p:cNvPr id="2052" name="Picture 4" descr="Contraffazione online e reati finanziari: un fenomeno in crescita">
            <a:extLst>
              <a:ext uri="{FF2B5EF4-FFF2-40B4-BE49-F238E27FC236}">
                <a16:creationId xmlns:a16="http://schemas.microsoft.com/office/drawing/2014/main" id="{5F7E0364-6E25-E87A-A1AE-5A1AE65819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828" r="14948"/>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3097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898FE2D-A719-ECB1-F84B-524CF3A45BEC}"/>
              </a:ext>
            </a:extLst>
          </p:cNvPr>
          <p:cNvSpPr>
            <a:spLocks noGrp="1"/>
          </p:cNvSpPr>
          <p:nvPr>
            <p:ph type="title"/>
          </p:nvPr>
        </p:nvSpPr>
        <p:spPr>
          <a:xfrm>
            <a:off x="838200" y="459863"/>
            <a:ext cx="10515600" cy="1004594"/>
          </a:xfrm>
        </p:spPr>
        <p:txBody>
          <a:bodyPr>
            <a:normAutofit/>
          </a:bodyPr>
          <a:lstStyle/>
          <a:p>
            <a:pPr algn="ctr"/>
            <a:r>
              <a:rPr lang="pt-PT" sz="3100">
                <a:solidFill>
                  <a:srgbClr val="FFFFFF"/>
                </a:solidFill>
              </a:rPr>
              <a:t>Introdução às Vulnerabilidades em Cibersegurança</a:t>
            </a:r>
            <a:br>
              <a:rPr lang="pt-PT" sz="3100">
                <a:solidFill>
                  <a:srgbClr val="FFFFFF"/>
                </a:solidFill>
              </a:rPr>
            </a:br>
            <a:endParaRPr lang="pt-PT" sz="3100">
              <a:solidFill>
                <a:srgbClr val="FFFFFF"/>
              </a:solidFill>
            </a:endParaRPr>
          </a:p>
        </p:txBody>
      </p:sp>
      <p:sp>
        <p:nvSpPr>
          <p:cNvPr id="7"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Espaço Reservado para Conteúdo 2">
            <a:extLst>
              <a:ext uri="{FF2B5EF4-FFF2-40B4-BE49-F238E27FC236}">
                <a16:creationId xmlns:a16="http://schemas.microsoft.com/office/drawing/2014/main" id="{8E965CF6-FA47-530C-B6E7-56E857FA0711}"/>
              </a:ext>
            </a:extLst>
          </p:cNvPr>
          <p:cNvGraphicFramePr>
            <a:graphicFrameLocks noGrp="1"/>
          </p:cNvGraphicFramePr>
          <p:nvPr>
            <p:ph idx="1"/>
            <p:extLst>
              <p:ext uri="{D42A27DB-BD31-4B8C-83A1-F6EECF244321}">
                <p14:modId xmlns:p14="http://schemas.microsoft.com/office/powerpoint/2010/main" val="3657627833"/>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8146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5" name="Rectangle 3084">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5FB182E-E29E-2B1B-63B7-E0FDEA4356DE}"/>
              </a:ext>
            </a:extLst>
          </p:cNvPr>
          <p:cNvSpPr>
            <a:spLocks noGrp="1"/>
          </p:cNvSpPr>
          <p:nvPr>
            <p:ph type="title"/>
          </p:nvPr>
        </p:nvSpPr>
        <p:spPr>
          <a:xfrm>
            <a:off x="630936" y="640080"/>
            <a:ext cx="4818888" cy="1481328"/>
          </a:xfrm>
        </p:spPr>
        <p:txBody>
          <a:bodyPr anchor="b">
            <a:normAutofit/>
          </a:bodyPr>
          <a:lstStyle/>
          <a:p>
            <a:r>
              <a:rPr lang="en-US" sz="5400"/>
              <a:t>Vulnerabilidades</a:t>
            </a:r>
            <a:endParaRPr lang="pt-PT" sz="5400"/>
          </a:p>
        </p:txBody>
      </p:sp>
      <p:sp>
        <p:nvSpPr>
          <p:cNvPr id="3087"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ço Reservado para Conteúdo 2">
            <a:extLst>
              <a:ext uri="{FF2B5EF4-FFF2-40B4-BE49-F238E27FC236}">
                <a16:creationId xmlns:a16="http://schemas.microsoft.com/office/drawing/2014/main" id="{1080F9A7-3B44-831E-BCA0-832D06AFF6D0}"/>
              </a:ext>
            </a:extLst>
          </p:cNvPr>
          <p:cNvSpPr>
            <a:spLocks noGrp="1"/>
          </p:cNvSpPr>
          <p:nvPr>
            <p:ph idx="1"/>
          </p:nvPr>
        </p:nvSpPr>
        <p:spPr>
          <a:xfrm>
            <a:off x="320835" y="2580894"/>
            <a:ext cx="4818888" cy="3547872"/>
          </a:xfrm>
        </p:spPr>
        <p:txBody>
          <a:bodyPr anchor="t">
            <a:normAutofit/>
          </a:bodyPr>
          <a:lstStyle/>
          <a:p>
            <a:endParaRPr lang="pt-PT" sz="1900" dirty="0"/>
          </a:p>
          <a:p>
            <a:pPr marL="457200" lvl="1" indent="0">
              <a:buNone/>
            </a:pPr>
            <a:r>
              <a:rPr lang="en-US" sz="1900" b="1" dirty="0"/>
              <a:t>(CVE-2021-42548) - </a:t>
            </a:r>
            <a:r>
              <a:rPr lang="en-US" sz="1900" b="1" dirty="0">
                <a:solidFill>
                  <a:schemeClr val="bg1">
                    <a:lumMod val="50000"/>
                  </a:schemeClr>
                </a:solidFill>
              </a:rPr>
              <a:t>Reflected XSS in search the functionality of </a:t>
            </a:r>
            <a:r>
              <a:rPr lang="en-US" sz="1900" b="1" dirty="0" err="1">
                <a:solidFill>
                  <a:schemeClr val="bg1">
                    <a:lumMod val="50000"/>
                  </a:schemeClr>
                </a:solidFill>
              </a:rPr>
              <a:t>Wordpress</a:t>
            </a:r>
            <a:r>
              <a:rPr lang="en-US" sz="1900" b="1" dirty="0">
                <a:solidFill>
                  <a:schemeClr val="bg1">
                    <a:lumMod val="50000"/>
                  </a:schemeClr>
                </a:solidFill>
              </a:rPr>
              <a:t>, WP Cloud Plugins Share-</a:t>
            </a:r>
            <a:r>
              <a:rPr lang="en-US" sz="1900" b="1" dirty="0" err="1">
                <a:solidFill>
                  <a:schemeClr val="bg1">
                    <a:lumMod val="50000"/>
                  </a:schemeClr>
                </a:solidFill>
              </a:rPr>
              <a:t>oneDrive</a:t>
            </a:r>
            <a:endParaRPr lang="en-US" sz="1900" b="1" dirty="0">
              <a:solidFill>
                <a:schemeClr val="bg1">
                  <a:lumMod val="50000"/>
                </a:schemeClr>
              </a:solidFill>
            </a:endParaRPr>
          </a:p>
          <a:p>
            <a:pPr marL="914400" lvl="1" indent="-457200">
              <a:buFont typeface="+mj-lt"/>
              <a:buAutoNum type="arabicPeriod"/>
            </a:pPr>
            <a:endParaRPr lang="pt-PT" sz="1900" b="1" dirty="0"/>
          </a:p>
        </p:txBody>
      </p:sp>
      <p:sp>
        <p:nvSpPr>
          <p:cNvPr id="5" name="TextBox 4">
            <a:extLst>
              <a:ext uri="{FF2B5EF4-FFF2-40B4-BE49-F238E27FC236}">
                <a16:creationId xmlns:a16="http://schemas.microsoft.com/office/drawing/2014/main" id="{84A7BD95-2EF6-C8EF-459A-60AC79CCCA3B}"/>
              </a:ext>
            </a:extLst>
          </p:cNvPr>
          <p:cNvSpPr txBox="1"/>
          <p:nvPr/>
        </p:nvSpPr>
        <p:spPr>
          <a:xfrm>
            <a:off x="5591756" y="1380744"/>
            <a:ext cx="6094674" cy="646331"/>
          </a:xfrm>
          <a:prstGeom prst="rect">
            <a:avLst/>
          </a:prstGeom>
          <a:noFill/>
        </p:spPr>
        <p:txBody>
          <a:bodyPr wrap="square">
            <a:spAutoFit/>
          </a:bodyPr>
          <a:lstStyle/>
          <a:p>
            <a:r>
              <a:rPr lang="pt-PT" sz="1800" dirty="0"/>
              <a:t>Para este trabalho, foram selecionadas duas vulnerabilidades críticas para análise aprofundada:</a:t>
            </a:r>
          </a:p>
        </p:txBody>
      </p:sp>
      <p:sp>
        <p:nvSpPr>
          <p:cNvPr id="7" name="TextBox 6">
            <a:extLst>
              <a:ext uri="{FF2B5EF4-FFF2-40B4-BE49-F238E27FC236}">
                <a16:creationId xmlns:a16="http://schemas.microsoft.com/office/drawing/2014/main" id="{9A12EA83-C884-0D37-5282-7974664ADA87}"/>
              </a:ext>
            </a:extLst>
          </p:cNvPr>
          <p:cNvSpPr txBox="1"/>
          <p:nvPr/>
        </p:nvSpPr>
        <p:spPr>
          <a:xfrm>
            <a:off x="5460558" y="2916649"/>
            <a:ext cx="6094674" cy="646331"/>
          </a:xfrm>
          <a:prstGeom prst="rect">
            <a:avLst/>
          </a:prstGeom>
          <a:noFill/>
        </p:spPr>
        <p:txBody>
          <a:bodyPr wrap="square">
            <a:spAutoFit/>
          </a:bodyPr>
          <a:lstStyle/>
          <a:p>
            <a:pPr lvl="1"/>
            <a:r>
              <a:rPr lang="en-US" b="1" dirty="0"/>
              <a:t>(CVE-2014-6278) - </a:t>
            </a:r>
            <a:r>
              <a:rPr lang="en-US" sz="1800" b="1" dirty="0">
                <a:solidFill>
                  <a:schemeClr val="bg1">
                    <a:lumMod val="50000"/>
                  </a:schemeClr>
                </a:solidFill>
              </a:rPr>
              <a:t>GNU Bash OS Command Injection Vulnerability</a:t>
            </a:r>
          </a:p>
        </p:txBody>
      </p:sp>
      <p:cxnSp>
        <p:nvCxnSpPr>
          <p:cNvPr id="9" name="Straight Connector 8">
            <a:extLst>
              <a:ext uri="{FF2B5EF4-FFF2-40B4-BE49-F238E27FC236}">
                <a16:creationId xmlns:a16="http://schemas.microsoft.com/office/drawing/2014/main" id="{8D0E29D2-4D4D-B6C3-52FE-4839CBDA1CF7}"/>
              </a:ext>
            </a:extLst>
          </p:cNvPr>
          <p:cNvCxnSpPr/>
          <p:nvPr/>
        </p:nvCxnSpPr>
        <p:spPr>
          <a:xfrm>
            <a:off x="5390984" y="2916649"/>
            <a:ext cx="0" cy="3492102"/>
          </a:xfrm>
          <a:prstGeom prst="line">
            <a:avLst/>
          </a:prstGeom>
        </p:spPr>
        <p:style>
          <a:lnRef idx="2">
            <a:schemeClr val="accent1"/>
          </a:lnRef>
          <a:fillRef idx="0">
            <a:schemeClr val="accent1"/>
          </a:fillRef>
          <a:effectRef idx="1">
            <a:schemeClr val="accent1"/>
          </a:effectRef>
          <a:fontRef idx="minor">
            <a:schemeClr val="tx1"/>
          </a:fontRef>
        </p:style>
      </p:cxnSp>
      <p:pic>
        <p:nvPicPr>
          <p:cNvPr id="1026" name="Picture 2" descr="What are the different types of XSS? - Blog Detectify">
            <a:extLst>
              <a:ext uri="{FF2B5EF4-FFF2-40B4-BE49-F238E27FC236}">
                <a16:creationId xmlns:a16="http://schemas.microsoft.com/office/drawing/2014/main" id="{D36BB8CF-3CE1-9B35-0D8B-AD6D02870A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6552" y="4354830"/>
            <a:ext cx="2321821" cy="145113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1028" name="Picture 4">
            <a:extLst>
              <a:ext uri="{FF2B5EF4-FFF2-40B4-BE49-F238E27FC236}">
                <a16:creationId xmlns:a16="http://schemas.microsoft.com/office/drawing/2014/main" id="{A4BC1337-38DC-6339-504C-3FC9913647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4194" y="3996674"/>
            <a:ext cx="1894099" cy="189409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8762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What are the different types of XSS? - Blog Detectify">
            <a:extLst>
              <a:ext uri="{FF2B5EF4-FFF2-40B4-BE49-F238E27FC236}">
                <a16:creationId xmlns:a16="http://schemas.microsoft.com/office/drawing/2014/main" id="{BD19259C-D426-CB23-1DC4-DA02B2A71C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588" y="0"/>
            <a:ext cx="11215625" cy="685799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p:spPr>
      </p:pic>
      <p:sp>
        <p:nvSpPr>
          <p:cNvPr id="14" name="Rectangle 13">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sco rígido com formato de nuvem com cabos">
            <a:extLst>
              <a:ext uri="{FF2B5EF4-FFF2-40B4-BE49-F238E27FC236}">
                <a16:creationId xmlns:a16="http://schemas.microsoft.com/office/drawing/2014/main" id="{D49F943B-A692-7747-16D7-187E8641AF01}"/>
              </a:ext>
            </a:extLst>
          </p:cNvPr>
          <p:cNvPicPr>
            <a:picLocks noChangeAspect="1"/>
          </p:cNvPicPr>
          <p:nvPr/>
        </p:nvPicPr>
        <p:blipFill>
          <a:blip r:embed="rId4">
            <a:alphaModFix amt="50000"/>
          </a:blip>
          <a:srcRect r="-1" b="1721"/>
          <a:stretch>
            <a:fillRect/>
          </a:stretch>
        </p:blipFill>
        <p:spPr>
          <a:xfrm>
            <a:off x="20" y="10"/>
            <a:ext cx="12188930" cy="6857990"/>
          </a:xfrm>
          <a:prstGeom prst="rect">
            <a:avLst/>
          </a:prstGeom>
        </p:spPr>
      </p:pic>
      <p:sp>
        <p:nvSpPr>
          <p:cNvPr id="2" name="Título 1">
            <a:extLst>
              <a:ext uri="{FF2B5EF4-FFF2-40B4-BE49-F238E27FC236}">
                <a16:creationId xmlns:a16="http://schemas.microsoft.com/office/drawing/2014/main" id="{10CC0049-03BC-4F1D-D318-F2D3FCEACC66}"/>
              </a:ext>
            </a:extLst>
          </p:cNvPr>
          <p:cNvSpPr>
            <a:spLocks noGrp="1"/>
          </p:cNvSpPr>
          <p:nvPr>
            <p:ph type="title"/>
          </p:nvPr>
        </p:nvSpPr>
        <p:spPr>
          <a:xfrm>
            <a:off x="1524000" y="1122363"/>
            <a:ext cx="9144000" cy="3063240"/>
          </a:xfrm>
        </p:spPr>
        <p:txBody>
          <a:bodyPr vert="horz" lIns="91440" tIns="45720" rIns="91440" bIns="45720" rtlCol="0" anchor="b">
            <a:normAutofit fontScale="90000"/>
          </a:bodyPr>
          <a:lstStyle/>
          <a:p>
            <a:pPr algn="ctr"/>
            <a:r>
              <a:rPr lang="en-US" sz="5100" b="1" dirty="0" err="1">
                <a:solidFill>
                  <a:schemeClr val="bg1"/>
                </a:solidFill>
              </a:rPr>
              <a:t>Vulnerabilidade</a:t>
            </a:r>
            <a:r>
              <a:rPr lang="en-US" sz="5100" b="1" dirty="0">
                <a:solidFill>
                  <a:schemeClr val="bg1"/>
                </a:solidFill>
              </a:rPr>
              <a:t> 1: </a:t>
            </a:r>
            <a:br>
              <a:rPr lang="en-US" sz="5100" b="1" dirty="0">
                <a:solidFill>
                  <a:schemeClr val="bg1"/>
                </a:solidFill>
              </a:rPr>
            </a:br>
            <a:r>
              <a:rPr lang="en-US" sz="5100" b="1" dirty="0">
                <a:solidFill>
                  <a:schemeClr val="bg1"/>
                </a:solidFill>
              </a:rPr>
              <a:t>Reflected XSS no WordPress WP Cloud Plugins Share-OneDrive</a:t>
            </a:r>
            <a:br>
              <a:rPr lang="en-US" sz="5100" b="1" dirty="0">
                <a:solidFill>
                  <a:schemeClr val="bg1"/>
                </a:solidFill>
              </a:rPr>
            </a:br>
            <a:endParaRPr lang="en-US" sz="5100" dirty="0">
              <a:solidFill>
                <a:schemeClr val="bg1"/>
              </a:solidFill>
            </a:endParaRPr>
          </a:p>
        </p:txBody>
      </p:sp>
      <p:sp>
        <p:nvSpPr>
          <p:cNvPr id="16"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49611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1D129-4E15-6D67-0CA4-DAB094B25F9D}"/>
              </a:ext>
            </a:extLst>
          </p:cNvPr>
          <p:cNvSpPr>
            <a:spLocks noGrp="1"/>
          </p:cNvSpPr>
          <p:nvPr>
            <p:ph type="title"/>
          </p:nvPr>
        </p:nvSpPr>
        <p:spPr>
          <a:xfrm>
            <a:off x="838200" y="365126"/>
            <a:ext cx="10515600" cy="724766"/>
          </a:xfr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algn="ctr"/>
            <a:r>
              <a:rPr lang="pt-PT" dirty="0">
                <a:ln w="0"/>
                <a:solidFill>
                  <a:schemeClr val="tx1"/>
                </a:solidFill>
                <a:effectLst>
                  <a:outerShdw blurRad="38100" dist="19050" dir="2700000" algn="tl" rotWithShape="0">
                    <a:schemeClr val="dk1">
                      <a:alpha val="40000"/>
                    </a:schemeClr>
                  </a:outerShdw>
                </a:effectLst>
              </a:rPr>
              <a:t>XSS – O que é?</a:t>
            </a:r>
          </a:p>
        </p:txBody>
      </p:sp>
      <p:sp>
        <p:nvSpPr>
          <p:cNvPr id="3" name="Content Placeholder 2">
            <a:extLst>
              <a:ext uri="{FF2B5EF4-FFF2-40B4-BE49-F238E27FC236}">
                <a16:creationId xmlns:a16="http://schemas.microsoft.com/office/drawing/2014/main" id="{2B25076E-84E9-AFD9-1089-A4E80E78EA81}"/>
              </a:ext>
            </a:extLst>
          </p:cNvPr>
          <p:cNvSpPr>
            <a:spLocks noGrp="1"/>
          </p:cNvSpPr>
          <p:nvPr>
            <p:ph idx="1"/>
          </p:nvPr>
        </p:nvSpPr>
        <p:spPr>
          <a:xfrm>
            <a:off x="838200" y="1265382"/>
            <a:ext cx="10515600" cy="1654799"/>
          </a:xfrm>
        </p:spPr>
        <p:txBody>
          <a:bodyPr>
            <a:normAutofit fontScale="70000" lnSpcReduction="20000"/>
          </a:bodyPr>
          <a:lstStyle/>
          <a:p>
            <a:pPr marL="0" indent="0">
              <a:buNone/>
            </a:pPr>
            <a:r>
              <a:rPr lang="pt-PT" b="1" dirty="0"/>
              <a:t>Ataques de XSS (</a:t>
            </a:r>
            <a:r>
              <a:rPr lang="pt-PT" b="1" i="1" dirty="0"/>
              <a:t>Cross-Site Scripting</a:t>
            </a:r>
            <a:r>
              <a:rPr lang="pt-PT" b="1" dirty="0"/>
              <a:t>)</a:t>
            </a:r>
            <a:r>
              <a:rPr lang="pt-PT" dirty="0"/>
              <a:t> são um tipo de injeção, em que scripts maliciosos são injetados em sites benignos e confiáveis. Os ataques XSS ocorrem quando um invasor usa uma aplicação web para enviar código malicioso, geralmente na forma de um script do lado do navegador, para um utilizador final diferente. As falhas que permitem que esses ataques tenham sucesso são bastante comuns e ocorrem em qualquer lugar onde uma aplicação web usa entradas de um utilizador na saída que gera, sem validá-las ou codificá-las.</a:t>
            </a:r>
          </a:p>
          <a:p>
            <a:pPr marL="0" indent="0">
              <a:buNone/>
            </a:pPr>
            <a:endParaRPr lang="pt-PT" dirty="0"/>
          </a:p>
        </p:txBody>
      </p:sp>
      <p:pic>
        <p:nvPicPr>
          <p:cNvPr id="2050" name="Picture 2" descr="Cyber Insurance Fraud Detection | Cyber Claim Investigation ...">
            <a:extLst>
              <a:ext uri="{FF2B5EF4-FFF2-40B4-BE49-F238E27FC236}">
                <a16:creationId xmlns:a16="http://schemas.microsoft.com/office/drawing/2014/main" id="{947B884F-0A56-326C-94B4-E25E11182C51}"/>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l="22202" t="20566" r="27697" b="17585"/>
          <a:stretch>
            <a:fillRect/>
          </a:stretch>
        </p:blipFill>
        <p:spPr bwMode="auto">
          <a:xfrm>
            <a:off x="1145308" y="2920181"/>
            <a:ext cx="2863273" cy="25861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0284FADA-85D5-7F36-E58C-30BE48435180}"/>
              </a:ext>
            </a:extLst>
          </p:cNvPr>
          <p:cNvSpPr txBox="1">
            <a:spLocks/>
          </p:cNvSpPr>
          <p:nvPr/>
        </p:nvSpPr>
        <p:spPr>
          <a:xfrm>
            <a:off x="1191489" y="5703455"/>
            <a:ext cx="2770910" cy="5218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pt-PT" sz="2000" dirty="0"/>
              <a:t>REFLECTED XSS</a:t>
            </a:r>
          </a:p>
        </p:txBody>
      </p:sp>
      <p:pic>
        <p:nvPicPr>
          <p:cNvPr id="5" name="Picture 2">
            <a:extLst>
              <a:ext uri="{FF2B5EF4-FFF2-40B4-BE49-F238E27FC236}">
                <a16:creationId xmlns:a16="http://schemas.microsoft.com/office/drawing/2014/main" id="{465232EA-3230-D958-2B2F-D1BBDC4D1D84}"/>
              </a:ext>
            </a:extLst>
          </p:cNvPr>
          <p:cNvPicPr>
            <a:picLocks noChangeAspect="1" noChangeArrowheads="1"/>
          </p:cNvPicPr>
          <p:nvPr/>
        </p:nvPicPr>
        <p:blipFill rotWithShape="1">
          <a:blip r:embed="rId3">
            <a:duotone>
              <a:schemeClr val="accent2">
                <a:shade val="45000"/>
                <a:satMod val="135000"/>
              </a:schemeClr>
              <a:prstClr val="white"/>
            </a:duotone>
            <a:extLst>
              <a:ext uri="{28A0092B-C50C-407E-A947-70E740481C1C}">
                <a14:useLocalDpi xmlns:a14="http://schemas.microsoft.com/office/drawing/2010/main" val="0"/>
              </a:ext>
            </a:extLst>
          </a:blip>
          <a:srcRect l="-4516" t="-2967" r="-3872" b="-3692"/>
          <a:stretch>
            <a:fillRect/>
          </a:stretch>
        </p:blipFill>
        <p:spPr bwMode="auto">
          <a:xfrm>
            <a:off x="4710544" y="2920181"/>
            <a:ext cx="2917879" cy="25861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4912613F-A789-18AC-101F-52E53E0C5795}"/>
              </a:ext>
            </a:extLst>
          </p:cNvPr>
          <p:cNvSpPr txBox="1">
            <a:spLocks/>
          </p:cNvSpPr>
          <p:nvPr/>
        </p:nvSpPr>
        <p:spPr>
          <a:xfrm>
            <a:off x="4710544" y="5703455"/>
            <a:ext cx="2770910" cy="5218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pt-PT" sz="2000" dirty="0"/>
              <a:t>STORED XSS</a:t>
            </a:r>
          </a:p>
        </p:txBody>
      </p:sp>
      <p:pic>
        <p:nvPicPr>
          <p:cNvPr id="7" name="Picture 2">
            <a:extLst>
              <a:ext uri="{FF2B5EF4-FFF2-40B4-BE49-F238E27FC236}">
                <a16:creationId xmlns:a16="http://schemas.microsoft.com/office/drawing/2014/main" id="{B3896937-8E33-F809-5347-EEEB404DCC22}"/>
              </a:ext>
            </a:extLst>
          </p:cNvPr>
          <p:cNvPicPr>
            <a:picLocks noChangeAspect="1" noChangeArrowheads="1"/>
          </p:cNvPicPr>
          <p:nvPr/>
        </p:nvPicPr>
        <p:blipFill rotWithShape="1">
          <a:blip r:embed="rId4">
            <a:duotone>
              <a:schemeClr val="accent2">
                <a:shade val="45000"/>
                <a:satMod val="135000"/>
              </a:schemeClr>
              <a:prstClr val="white"/>
            </a:duotone>
            <a:extLst>
              <a:ext uri="{28A0092B-C50C-407E-A947-70E740481C1C}">
                <a14:useLocalDpi xmlns:a14="http://schemas.microsoft.com/office/drawing/2010/main" val="0"/>
              </a:ext>
            </a:extLst>
          </a:blip>
          <a:srcRect l="-6619" t="-2282" r="-4488" b="-4077"/>
          <a:stretch>
            <a:fillRect/>
          </a:stretch>
        </p:blipFill>
        <p:spPr bwMode="auto">
          <a:xfrm>
            <a:off x="8376568" y="2872675"/>
            <a:ext cx="3048814" cy="26336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F29C5E4A-9CD0-E0AC-AA7F-70EF25B0AF6C}"/>
              </a:ext>
            </a:extLst>
          </p:cNvPr>
          <p:cNvSpPr txBox="1">
            <a:spLocks/>
          </p:cNvSpPr>
          <p:nvPr/>
        </p:nvSpPr>
        <p:spPr>
          <a:xfrm>
            <a:off x="8515520" y="5703455"/>
            <a:ext cx="2770910" cy="5218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pt-PT" sz="2000" dirty="0"/>
              <a:t>DOM-BASED XSS</a:t>
            </a:r>
          </a:p>
        </p:txBody>
      </p:sp>
    </p:spTree>
    <p:extLst>
      <p:ext uri="{BB962C8B-B14F-4D97-AF65-F5344CB8AC3E}">
        <p14:creationId xmlns:p14="http://schemas.microsoft.com/office/powerpoint/2010/main" val="520560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21722-9149-1502-5772-C97C027F2A8D}"/>
            </a:ext>
          </a:extLst>
        </p:cNvPr>
        <p:cNvGrpSpPr/>
        <p:nvPr/>
      </p:nvGrpSpPr>
      <p:grpSpPr>
        <a:xfrm>
          <a:off x="0" y="0"/>
          <a:ext cx="0" cy="0"/>
          <a:chOff x="0" y="0"/>
          <a:chExt cx="0" cy="0"/>
        </a:xfrm>
      </p:grpSpPr>
      <p:pic>
        <p:nvPicPr>
          <p:cNvPr id="2050" name="Picture 2" descr="Cyber Insurance Fraud Detection | Cyber Claim Investigation ...">
            <a:extLst>
              <a:ext uri="{FF2B5EF4-FFF2-40B4-BE49-F238E27FC236}">
                <a16:creationId xmlns:a16="http://schemas.microsoft.com/office/drawing/2014/main" id="{6BFC58C6-32ED-FF2C-9C75-B1D12918A8D8}"/>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l="22202" t="20566" r="27697" b="17585"/>
          <a:stretch>
            <a:fillRect/>
          </a:stretch>
        </p:blipFill>
        <p:spPr bwMode="auto">
          <a:xfrm>
            <a:off x="1182253" y="-1007058"/>
            <a:ext cx="9144001" cy="82590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6DFC18C9-8C12-3E2E-7CA8-3332CE711C17}"/>
              </a:ext>
            </a:extLst>
          </p:cNvPr>
          <p:cNvSpPr/>
          <p:nvPr/>
        </p:nvSpPr>
        <p:spPr>
          <a:xfrm>
            <a:off x="-78511" y="0"/>
            <a:ext cx="12270511" cy="67794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 name="Title 1">
            <a:extLst>
              <a:ext uri="{FF2B5EF4-FFF2-40B4-BE49-F238E27FC236}">
                <a16:creationId xmlns:a16="http://schemas.microsoft.com/office/drawing/2014/main" id="{CCD70D8D-B9F8-7F16-EE02-DD08A68B800D}"/>
              </a:ext>
            </a:extLst>
          </p:cNvPr>
          <p:cNvSpPr>
            <a:spLocks noGrp="1"/>
          </p:cNvSpPr>
          <p:nvPr>
            <p:ph type="title"/>
          </p:nvPr>
        </p:nvSpPr>
        <p:spPr>
          <a:xfrm>
            <a:off x="838200" y="365126"/>
            <a:ext cx="10515600" cy="724766"/>
          </a:xfr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algn="ctr"/>
            <a:r>
              <a:rPr lang="pt-PT" dirty="0"/>
              <a:t>REFLECTED XSS</a:t>
            </a:r>
          </a:p>
        </p:txBody>
      </p:sp>
      <p:sp>
        <p:nvSpPr>
          <p:cNvPr id="3" name="Content Placeholder 2">
            <a:extLst>
              <a:ext uri="{FF2B5EF4-FFF2-40B4-BE49-F238E27FC236}">
                <a16:creationId xmlns:a16="http://schemas.microsoft.com/office/drawing/2014/main" id="{A95E27B0-9A13-9640-1B21-544014AB7915}"/>
              </a:ext>
            </a:extLst>
          </p:cNvPr>
          <p:cNvSpPr>
            <a:spLocks noGrp="1"/>
          </p:cNvSpPr>
          <p:nvPr>
            <p:ph idx="1"/>
          </p:nvPr>
        </p:nvSpPr>
        <p:spPr>
          <a:xfrm>
            <a:off x="838200" y="1265383"/>
            <a:ext cx="10515600" cy="1413162"/>
          </a:xfrm>
        </p:spPr>
        <p:txBody>
          <a:bodyPr>
            <a:normAutofit fontScale="85000" lnSpcReduction="20000"/>
          </a:bodyPr>
          <a:lstStyle/>
          <a:p>
            <a:pPr marL="0" indent="0">
              <a:buNone/>
            </a:pPr>
            <a:r>
              <a:rPr lang="pt-PT" b="1" dirty="0"/>
              <a:t>Reflect XSS</a:t>
            </a:r>
            <a:r>
              <a:rPr lang="pt-PT" dirty="0"/>
              <a:t> é uma vulnerabilidade da web em que um script malicioso, geralmente num URL ou envio de formulário, é “refletido” de numa web app vulnerável de volta para o navegador da vítima de forma imediata, executando código na sessão para roubar dados ou realizar ações, sem ser armazenado permanentemente no servidor.</a:t>
            </a:r>
          </a:p>
        </p:txBody>
      </p:sp>
      <p:pic>
        <p:nvPicPr>
          <p:cNvPr id="8194" name="Picture 2" descr="Differences of Stored XSS and Reflected XSS">
            <a:extLst>
              <a:ext uri="{FF2B5EF4-FFF2-40B4-BE49-F238E27FC236}">
                <a16:creationId xmlns:a16="http://schemas.microsoft.com/office/drawing/2014/main" id="{D9A00C98-2991-872B-C392-49E10B242B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2826" y="2678544"/>
            <a:ext cx="5381335" cy="3729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1055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55FD5B2-3AEC-DD76-10F3-FF2FBF3C4F99}"/>
              </a:ext>
            </a:extLst>
          </p:cNvPr>
          <p:cNvSpPr>
            <a:spLocks noGrp="1"/>
          </p:cNvSpPr>
          <p:nvPr>
            <p:ph type="title"/>
          </p:nvPr>
        </p:nvSpPr>
        <p:spPr>
          <a:xfrm>
            <a:off x="630936" y="640080"/>
            <a:ext cx="4818888" cy="1481328"/>
          </a:xfrm>
        </p:spPr>
        <p:txBody>
          <a:bodyPr anchor="b">
            <a:normAutofit/>
          </a:bodyPr>
          <a:lstStyle/>
          <a:p>
            <a:r>
              <a:rPr lang="pt-PT" sz="4600" dirty="0"/>
              <a:t>Metodologias de Deteção Utilizadas</a:t>
            </a:r>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ço Reservado para Conteúdo 2">
            <a:extLst>
              <a:ext uri="{FF2B5EF4-FFF2-40B4-BE49-F238E27FC236}">
                <a16:creationId xmlns:a16="http://schemas.microsoft.com/office/drawing/2014/main" id="{F98157C5-870D-BBF1-89D3-98E6019A82F6}"/>
              </a:ext>
            </a:extLst>
          </p:cNvPr>
          <p:cNvSpPr>
            <a:spLocks noGrp="1"/>
          </p:cNvSpPr>
          <p:nvPr>
            <p:ph idx="1"/>
          </p:nvPr>
        </p:nvSpPr>
        <p:spPr>
          <a:xfrm>
            <a:off x="630935" y="2660904"/>
            <a:ext cx="5809193" cy="3859260"/>
          </a:xfrm>
        </p:spPr>
        <p:txBody>
          <a:bodyPr anchor="t">
            <a:normAutofit/>
          </a:bodyPr>
          <a:lstStyle/>
          <a:p>
            <a:endParaRPr lang="pt-PT" sz="1400" b="1" dirty="0"/>
          </a:p>
          <a:p>
            <a:r>
              <a:rPr lang="pt-PT" sz="1400" b="1" dirty="0"/>
              <a:t>Análise de CVE (Common Vulnerabilities and Exposures)</a:t>
            </a:r>
            <a:r>
              <a:rPr lang="pt-PT" sz="1400" dirty="0"/>
              <a:t>: Pesquisa em bases de dados públicas de vulnerabilidades, nomeadamente no site NVD (National Vulnerability Database), cortesia do Instituto Nacional de Padrões e Tecnologia dos EUA.</a:t>
            </a:r>
          </a:p>
          <a:p>
            <a:r>
              <a:rPr lang="pt-PT" sz="1400" b="1" dirty="0"/>
              <a:t>Testes de Penetração</a:t>
            </a:r>
            <a:r>
              <a:rPr lang="pt-PT" sz="1400" dirty="0"/>
              <a:t>: Simulação de ataques XSS em ambientes controlados.</a:t>
            </a:r>
          </a:p>
          <a:p>
            <a:r>
              <a:rPr lang="pt-PT" sz="1400" b="1" dirty="0"/>
              <a:t>Análise de Código-Fonte</a:t>
            </a:r>
            <a:r>
              <a:rPr lang="pt-PT" sz="1400" dirty="0"/>
              <a:t>: Revisão do código para identificar falhas de validação e sanitização de entradas</a:t>
            </a:r>
          </a:p>
          <a:p>
            <a:r>
              <a:rPr lang="pt-PT" sz="1400" b="1" dirty="0"/>
              <a:t>Ferramentas Automatizadas</a:t>
            </a:r>
            <a:r>
              <a:rPr lang="pt-PT" sz="1400" dirty="0"/>
              <a:t>: Utilização de scanners de vulnerabilidades web</a:t>
            </a:r>
          </a:p>
          <a:p>
            <a:r>
              <a:rPr lang="pt-PT" sz="1400" b="1" dirty="0"/>
              <a:t>Testes Manuais</a:t>
            </a:r>
            <a:r>
              <a:rPr lang="pt-PT" sz="1400" dirty="0"/>
              <a:t>: Injeção de cargas úteis XSS personalizadas para confirmar a exploração</a:t>
            </a:r>
          </a:p>
          <a:p>
            <a:endParaRPr lang="pt-PT" sz="1200" dirty="0"/>
          </a:p>
        </p:txBody>
      </p:sp>
      <p:pic>
        <p:nvPicPr>
          <p:cNvPr id="7" name="Graphic 6" descr="Laptop seguro">
            <a:extLst>
              <a:ext uri="{FF2B5EF4-FFF2-40B4-BE49-F238E27FC236}">
                <a16:creationId xmlns:a16="http://schemas.microsoft.com/office/drawing/2014/main" id="{32436B0B-D531-DAB3-C59B-B4A11C9DE5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90490" y="1143713"/>
            <a:ext cx="4570574" cy="4570574"/>
          </a:xfrm>
          <a:prstGeom prst="rect">
            <a:avLst/>
          </a:prstGeom>
        </p:spPr>
      </p:pic>
    </p:spTree>
    <p:extLst>
      <p:ext uri="{BB962C8B-B14F-4D97-AF65-F5344CB8AC3E}">
        <p14:creationId xmlns:p14="http://schemas.microsoft.com/office/powerpoint/2010/main" val="3522169767"/>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24D46527-8963-4773-8769-07E6ACE084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ítulo 1">
            <a:extLst>
              <a:ext uri="{FF2B5EF4-FFF2-40B4-BE49-F238E27FC236}">
                <a16:creationId xmlns:a16="http://schemas.microsoft.com/office/drawing/2014/main" id="{46E79F50-01CE-16F6-5A26-7BFB9C2A1FA0}"/>
              </a:ext>
            </a:extLst>
          </p:cNvPr>
          <p:cNvSpPr>
            <a:spLocks noGrp="1"/>
          </p:cNvSpPr>
          <p:nvPr>
            <p:ph type="title"/>
          </p:nvPr>
        </p:nvSpPr>
        <p:spPr>
          <a:xfrm>
            <a:off x="6096000" y="365125"/>
            <a:ext cx="5257800" cy="1325563"/>
          </a:xfrm>
        </p:spPr>
        <p:txBody>
          <a:bodyPr>
            <a:normAutofit fontScale="90000"/>
          </a:bodyPr>
          <a:lstStyle/>
          <a:p>
            <a:br>
              <a:rPr lang="pt-PT" sz="1400" b="1" dirty="0"/>
            </a:br>
            <a:br>
              <a:rPr lang="pt-PT" sz="2600" b="1" dirty="0"/>
            </a:br>
            <a:r>
              <a:rPr lang="pt-PT" sz="3100" b="1" dirty="0"/>
              <a:t>Apresentação da Vulnerabilidade</a:t>
            </a:r>
            <a:br>
              <a:rPr lang="pt-PT" sz="1400" b="1" dirty="0"/>
            </a:br>
            <a:br>
              <a:rPr lang="pt-PT" sz="1400" b="1" dirty="0"/>
            </a:br>
            <a:endParaRPr lang="pt-PT" sz="1400" dirty="0"/>
          </a:p>
        </p:txBody>
      </p:sp>
      <p:pic>
        <p:nvPicPr>
          <p:cNvPr id="7" name="Graphic 6" descr="Employee Badge">
            <a:extLst>
              <a:ext uri="{FF2B5EF4-FFF2-40B4-BE49-F238E27FC236}">
                <a16:creationId xmlns:a16="http://schemas.microsoft.com/office/drawing/2014/main" id="{BF59D81A-E43C-88F0-D68A-9536E8E316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4500" y="985390"/>
            <a:ext cx="4643496" cy="4643496"/>
          </a:xfrm>
          <a:custGeom>
            <a:avLst/>
            <a:gdLst/>
            <a:ahLst/>
            <a:cxnLst/>
            <a:rect l="l" t="t" r="r" b="b"/>
            <a:pathLst>
              <a:path w="4643496" h="555037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p:spPr>
      </p:pic>
      <p:sp>
        <p:nvSpPr>
          <p:cNvPr id="3" name="Espaço Reservado para Conteúdo 2">
            <a:extLst>
              <a:ext uri="{FF2B5EF4-FFF2-40B4-BE49-F238E27FC236}">
                <a16:creationId xmlns:a16="http://schemas.microsoft.com/office/drawing/2014/main" id="{34E14700-3B0F-64F2-D5A5-AB00599EDFC9}"/>
              </a:ext>
            </a:extLst>
          </p:cNvPr>
          <p:cNvSpPr>
            <a:spLocks noGrp="1"/>
          </p:cNvSpPr>
          <p:nvPr>
            <p:ph idx="1"/>
          </p:nvPr>
        </p:nvSpPr>
        <p:spPr>
          <a:xfrm>
            <a:off x="6096000" y="1825625"/>
            <a:ext cx="5257800" cy="4351338"/>
          </a:xfrm>
        </p:spPr>
        <p:txBody>
          <a:bodyPr>
            <a:normAutofit fontScale="85000" lnSpcReduction="20000"/>
          </a:bodyPr>
          <a:lstStyle/>
          <a:p>
            <a:pPr marL="0" indent="0">
              <a:buNone/>
            </a:pPr>
            <a:endParaRPr lang="pt-PT" sz="1000" b="1" dirty="0"/>
          </a:p>
          <a:p>
            <a:pPr marL="0" indent="0">
              <a:buNone/>
            </a:pPr>
            <a:endParaRPr lang="pt-PT" sz="1000" b="1" dirty="0"/>
          </a:p>
          <a:p>
            <a:pPr marL="0" indent="0">
              <a:buNone/>
            </a:pPr>
            <a:endParaRPr lang="pt-PT" sz="1000" b="1" dirty="0"/>
          </a:p>
          <a:p>
            <a:pPr marL="0" indent="0">
              <a:buNone/>
            </a:pPr>
            <a:r>
              <a:rPr lang="pt-PT" sz="2400" b="1" dirty="0"/>
              <a:t>Identificação: </a:t>
            </a:r>
          </a:p>
          <a:p>
            <a:endParaRPr lang="pt-PT" sz="2000" b="1" dirty="0"/>
          </a:p>
          <a:p>
            <a:pPr lvl="1"/>
            <a:r>
              <a:rPr lang="pt-PT" sz="2000" b="1" dirty="0"/>
              <a:t>CVE ID</a:t>
            </a:r>
            <a:r>
              <a:rPr lang="pt-PT" sz="2000" dirty="0"/>
              <a:t>: CVE-2021-42548</a:t>
            </a:r>
          </a:p>
          <a:p>
            <a:pPr lvl="1"/>
            <a:r>
              <a:rPr lang="pt-PT" sz="2000" b="1" dirty="0"/>
              <a:t>Plugin Afetado</a:t>
            </a:r>
            <a:r>
              <a:rPr lang="pt-PT" sz="2000" dirty="0"/>
              <a:t>: WP Cloud Plugins Share-OneDrive</a:t>
            </a:r>
          </a:p>
          <a:p>
            <a:pPr lvl="1"/>
            <a:r>
              <a:rPr lang="pt-PT" sz="2000" b="1" dirty="0"/>
              <a:t>Versões Vulneráveis</a:t>
            </a:r>
            <a:r>
              <a:rPr lang="pt-PT" sz="2000" dirty="0"/>
              <a:t>: Todas as versões anteriores à 1.15.3 (≤ 1.15.2)</a:t>
            </a:r>
          </a:p>
          <a:p>
            <a:pPr lvl="1"/>
            <a:r>
              <a:rPr lang="pt-PT" sz="2000" b="1" dirty="0"/>
              <a:t>Plataforma</a:t>
            </a:r>
            <a:r>
              <a:rPr lang="pt-PT" sz="2000" dirty="0"/>
              <a:t>: WordPress</a:t>
            </a:r>
          </a:p>
          <a:p>
            <a:pPr lvl="1"/>
            <a:r>
              <a:rPr lang="pt-PT" sz="2000" b="1" dirty="0"/>
              <a:t>Tipo de Vulnerabilidade</a:t>
            </a:r>
            <a:r>
              <a:rPr lang="pt-PT" sz="2000" dirty="0"/>
              <a:t>: Reflected Cross-Site Scripting (XSS)</a:t>
            </a:r>
          </a:p>
          <a:p>
            <a:pPr lvl="1"/>
            <a:r>
              <a:rPr lang="pt-PT" sz="2000" b="1" dirty="0"/>
              <a:t>Severidade</a:t>
            </a:r>
            <a:r>
              <a:rPr lang="pt-PT" sz="2000" dirty="0"/>
              <a:t>: CVSS base score 4.7 – Medium</a:t>
            </a:r>
          </a:p>
          <a:p>
            <a:pPr lvl="1"/>
            <a:r>
              <a:rPr lang="pt-PT" sz="2000" b="1" dirty="0"/>
              <a:t>Sistemas afetados</a:t>
            </a:r>
            <a:r>
              <a:rPr lang="pt-PT" sz="2000" dirty="0"/>
              <a:t>: Esta vulnerabilidade afeta qualquer site WordPress que utilize o plugin WP Cloud Plugins Share-OneDrive nas versões vulneráveis. </a:t>
            </a:r>
          </a:p>
          <a:p>
            <a:pPr lvl="1"/>
            <a:endParaRPr lang="pt-PT" sz="1000" dirty="0"/>
          </a:p>
          <a:p>
            <a:pPr marL="0" indent="0">
              <a:buNone/>
            </a:pPr>
            <a:endParaRPr lang="pt-PT" sz="1000" b="1" dirty="0"/>
          </a:p>
          <a:p>
            <a:pPr marL="0" indent="0">
              <a:buNone/>
            </a:pPr>
            <a:endParaRPr lang="pt-PT" sz="1000" b="1" dirty="0"/>
          </a:p>
          <a:p>
            <a:endParaRPr lang="pt-PT" sz="1000" b="1" dirty="0"/>
          </a:p>
          <a:p>
            <a:pPr marL="457200" lvl="1" indent="0">
              <a:buNone/>
            </a:pPr>
            <a:endParaRPr lang="pt-PT" sz="1000" dirty="0"/>
          </a:p>
        </p:txBody>
      </p:sp>
      <p:sp>
        <p:nvSpPr>
          <p:cNvPr id="38" name="Arc 37">
            <a:extLst>
              <a:ext uri="{FF2B5EF4-FFF2-40B4-BE49-F238E27FC236}">
                <a16:creationId xmlns:a16="http://schemas.microsoft.com/office/drawing/2014/main" id="{920E13D1-85D7-4BF3-9903-59216CB5AE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365355" y="705367"/>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2570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D46527-8963-4773-8769-07E6ACE084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Graphic 6" descr="Bug under Magnifying Glass">
            <a:extLst>
              <a:ext uri="{FF2B5EF4-FFF2-40B4-BE49-F238E27FC236}">
                <a16:creationId xmlns:a16="http://schemas.microsoft.com/office/drawing/2014/main" id="{893E8188-C775-B582-233D-03CA99B1611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4500" y="985390"/>
            <a:ext cx="4643496" cy="4643496"/>
          </a:xfrm>
          <a:custGeom>
            <a:avLst/>
            <a:gdLst/>
            <a:ahLst/>
            <a:cxnLst/>
            <a:rect l="l" t="t" r="r" b="b"/>
            <a:pathLst>
              <a:path w="4643496" h="555037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p:spPr>
      </p:pic>
      <p:sp>
        <p:nvSpPr>
          <p:cNvPr id="3" name="Espaço Reservado para Conteúdo 2">
            <a:extLst>
              <a:ext uri="{FF2B5EF4-FFF2-40B4-BE49-F238E27FC236}">
                <a16:creationId xmlns:a16="http://schemas.microsoft.com/office/drawing/2014/main" id="{05CCE2EC-04D3-D6B5-7D4A-5C22DAD4AF09}"/>
              </a:ext>
            </a:extLst>
          </p:cNvPr>
          <p:cNvSpPr>
            <a:spLocks noGrp="1"/>
          </p:cNvSpPr>
          <p:nvPr>
            <p:ph idx="1"/>
          </p:nvPr>
        </p:nvSpPr>
        <p:spPr>
          <a:xfrm>
            <a:off x="6538451" y="422788"/>
            <a:ext cx="5257800" cy="5830528"/>
          </a:xfrm>
        </p:spPr>
        <p:txBody>
          <a:bodyPr>
            <a:normAutofit fontScale="25000" lnSpcReduction="20000"/>
          </a:bodyPr>
          <a:lstStyle/>
          <a:p>
            <a:pPr marL="0" indent="0">
              <a:buNone/>
            </a:pPr>
            <a:endParaRPr lang="en-US" sz="1100" b="1" dirty="0"/>
          </a:p>
          <a:p>
            <a:pPr marL="0" indent="0">
              <a:buNone/>
            </a:pPr>
            <a:r>
              <a:rPr lang="en-US" sz="8600" b="1" dirty="0" err="1"/>
              <a:t>Deteção</a:t>
            </a:r>
            <a:r>
              <a:rPr lang="en-US" sz="8600" b="1" dirty="0"/>
              <a:t> :</a:t>
            </a:r>
          </a:p>
          <a:p>
            <a:pPr marL="457200" lvl="1" indent="0">
              <a:buNone/>
            </a:pPr>
            <a:endParaRPr lang="en-US" sz="4200" b="1" dirty="0"/>
          </a:p>
          <a:p>
            <a:pPr marL="457200" lvl="1" indent="0">
              <a:buNone/>
            </a:pPr>
            <a:endParaRPr lang="en-US" sz="5500" b="1" dirty="0"/>
          </a:p>
          <a:p>
            <a:pPr lvl="1">
              <a:buFont typeface="Aptos" panose="020B0004020202020204" pitchFamily="34" charset="0"/>
              <a:buChar char="-"/>
            </a:pPr>
            <a:r>
              <a:rPr lang="pt-PT" sz="7200" b="1" dirty="0"/>
              <a:t>Onde:</a:t>
            </a:r>
          </a:p>
          <a:p>
            <a:pPr marL="457200" lvl="1" indent="0">
              <a:buNone/>
            </a:pPr>
            <a:endParaRPr lang="pt-PT" sz="7200" dirty="0"/>
          </a:p>
          <a:p>
            <a:pPr lvl="2"/>
            <a:r>
              <a:rPr lang="pt-PT" sz="7200" dirty="0"/>
              <a:t>Na funcionalidade de pesquisa (</a:t>
            </a:r>
            <a:r>
              <a:rPr lang="pt-PT" sz="7200" i="1" dirty="0"/>
              <a:t>search functionality</a:t>
            </a:r>
            <a:r>
              <a:rPr lang="pt-PT" sz="7200" dirty="0"/>
              <a:t>) do plugin Share-one-Drive (WP Cloud Plugins) para WordPress, onde havia validação insuficiente dos dados de entrada. </a:t>
            </a:r>
          </a:p>
          <a:p>
            <a:pPr marL="914400" lvl="2" indent="0">
              <a:buNone/>
            </a:pPr>
            <a:endParaRPr lang="pt-PT" sz="7200" dirty="0"/>
          </a:p>
          <a:p>
            <a:pPr lvl="2"/>
            <a:r>
              <a:rPr lang="pt-PT" sz="7200" dirty="0"/>
              <a:t>A vulnerabilidade foi reportada e registada no âmbito do </a:t>
            </a:r>
            <a:r>
              <a:rPr lang="pt-PT" sz="7200" b="1" dirty="0"/>
              <a:t>Switzerland Government Common Vulnerability Program / NCSC </a:t>
            </a:r>
            <a:r>
              <a:rPr lang="pt-PT" sz="7200" dirty="0"/>
              <a:t>(National Cyber Security Centre da Suíça), que aparece como fonte oficial do CVE.</a:t>
            </a:r>
          </a:p>
          <a:p>
            <a:pPr marL="914400" lvl="2" indent="0">
              <a:buNone/>
            </a:pPr>
            <a:endParaRPr lang="pt-PT" sz="7200" dirty="0"/>
          </a:p>
          <a:p>
            <a:pPr lvl="1">
              <a:buFont typeface="Aptos" panose="020B0004020202020204" pitchFamily="34" charset="0"/>
              <a:buChar char="-"/>
            </a:pPr>
            <a:r>
              <a:rPr lang="pt-PT" sz="7200" b="1" dirty="0"/>
              <a:t>Quando:</a:t>
            </a:r>
          </a:p>
          <a:p>
            <a:pPr marL="457200" lvl="1" indent="0">
              <a:buNone/>
            </a:pPr>
            <a:endParaRPr lang="pt-PT" sz="7200" dirty="0"/>
          </a:p>
          <a:p>
            <a:pPr lvl="2"/>
            <a:r>
              <a:rPr lang="pt-PT" sz="7200" dirty="0"/>
              <a:t>A vulnerabilidade foi publicamente divulgada a 13 de dezembro de 2021, data usada tanto pela NVD (National Vulnerability Database) como pelo NCSC da Suíça e outras bases de dados (CVE Details, WPScan).</a:t>
            </a:r>
          </a:p>
          <a:p>
            <a:endParaRPr lang="pt-PT" sz="1100" b="1" dirty="0"/>
          </a:p>
        </p:txBody>
      </p:sp>
      <p:sp>
        <p:nvSpPr>
          <p:cNvPr id="12" name="Arc 11">
            <a:extLst>
              <a:ext uri="{FF2B5EF4-FFF2-40B4-BE49-F238E27FC236}">
                <a16:creationId xmlns:a16="http://schemas.microsoft.com/office/drawing/2014/main" id="{920E13D1-85D7-4BF3-9903-59216CB5AE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365355" y="705367"/>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3725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CA830E1-1DF1-C0B3-23AF-C16301E82C4A}"/>
              </a:ext>
            </a:extLst>
          </p:cNvPr>
          <p:cNvSpPr>
            <a:spLocks noGrp="1"/>
          </p:cNvSpPr>
          <p:nvPr>
            <p:ph type="title"/>
          </p:nvPr>
        </p:nvSpPr>
        <p:spPr>
          <a:xfrm>
            <a:off x="630936" y="640080"/>
            <a:ext cx="4818888" cy="1481328"/>
          </a:xfrm>
        </p:spPr>
        <p:txBody>
          <a:bodyPr anchor="b">
            <a:normAutofit/>
          </a:bodyPr>
          <a:lstStyle/>
          <a:p>
            <a:r>
              <a:rPr lang="pt-PT" sz="3000" b="1"/>
              <a:t>Ações, Objetivos e Resultados de Exploração:</a:t>
            </a:r>
            <a:endParaRPr lang="pt-PT" sz="3000"/>
          </a:p>
        </p:txBody>
      </p:sp>
      <p:sp>
        <p:nvSpPr>
          <p:cNvPr id="1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ço Reservado para Conteúdo 2">
            <a:extLst>
              <a:ext uri="{FF2B5EF4-FFF2-40B4-BE49-F238E27FC236}">
                <a16:creationId xmlns:a16="http://schemas.microsoft.com/office/drawing/2014/main" id="{0C0C3346-E8A7-0460-1784-A8D6625889F8}"/>
              </a:ext>
            </a:extLst>
          </p:cNvPr>
          <p:cNvSpPr>
            <a:spLocks noGrp="1"/>
          </p:cNvSpPr>
          <p:nvPr>
            <p:ph idx="1"/>
          </p:nvPr>
        </p:nvSpPr>
        <p:spPr>
          <a:xfrm>
            <a:off x="630936" y="2660904"/>
            <a:ext cx="4818888" cy="3547872"/>
          </a:xfrm>
        </p:spPr>
        <p:txBody>
          <a:bodyPr anchor="t">
            <a:normAutofit/>
          </a:bodyPr>
          <a:lstStyle/>
          <a:p>
            <a:pPr marL="0" indent="0">
              <a:buNone/>
            </a:pPr>
            <a:r>
              <a:rPr lang="pt-PT" sz="1500" dirty="0"/>
              <a:t>O Reflected XSS permite que um atacante execute código JavaScript malicioso nos Web-Browsers de utilizadores legítimos através de URLs manipulados. Os objectivos típicos incluem:</a:t>
            </a:r>
          </a:p>
          <a:p>
            <a:pPr lvl="1"/>
            <a:r>
              <a:rPr lang="pt-PT" sz="1500" b="1" dirty="0"/>
              <a:t>Roubo de Credenciais</a:t>
            </a:r>
            <a:r>
              <a:rPr lang="pt-PT" sz="1500" dirty="0"/>
              <a:t>: Captura de cookies de sessão e tokens de autenticação</a:t>
            </a:r>
          </a:p>
          <a:p>
            <a:pPr lvl="1"/>
            <a:r>
              <a:rPr lang="pt-PT" sz="1500" b="1" dirty="0"/>
              <a:t>Phishing</a:t>
            </a:r>
            <a:r>
              <a:rPr lang="pt-PT" sz="1500" dirty="0"/>
              <a:t>: Apresentação de formulários falsos para roubo de dados</a:t>
            </a:r>
          </a:p>
          <a:p>
            <a:pPr lvl="1"/>
            <a:r>
              <a:rPr lang="pt-PT" sz="1500" b="1" dirty="0"/>
              <a:t>Redirecionamento Malicioso</a:t>
            </a:r>
            <a:r>
              <a:rPr lang="pt-PT" sz="1500" dirty="0"/>
              <a:t>: Envio de utilizadores para sites maliciosos</a:t>
            </a:r>
          </a:p>
          <a:p>
            <a:pPr lvl="1"/>
            <a:r>
              <a:rPr lang="pt-PT" sz="1500" b="1" dirty="0"/>
              <a:t>Manipulação de Conteúdo</a:t>
            </a:r>
            <a:r>
              <a:rPr lang="pt-PT" sz="1500" dirty="0"/>
              <a:t>: Alteração do conteúdo apresentado ao utilizador</a:t>
            </a:r>
          </a:p>
          <a:p>
            <a:pPr lvl="1"/>
            <a:r>
              <a:rPr lang="pt-PT" sz="1500" b="1" dirty="0"/>
              <a:t>Propagação de Malware</a:t>
            </a:r>
            <a:r>
              <a:rPr lang="pt-PT" sz="1500" dirty="0"/>
              <a:t>: Distribuição de código malicioso através de downloads automáticos</a:t>
            </a:r>
          </a:p>
          <a:p>
            <a:endParaRPr lang="pt-PT" sz="1500" dirty="0"/>
          </a:p>
        </p:txBody>
      </p:sp>
      <p:pic>
        <p:nvPicPr>
          <p:cNvPr id="4" name="Imagem 3" descr="Ícone&#10;&#10;O conteúdo gerado por IA pode estar incorreto.">
            <a:extLst>
              <a:ext uri="{FF2B5EF4-FFF2-40B4-BE49-F238E27FC236}">
                <a16:creationId xmlns:a16="http://schemas.microsoft.com/office/drawing/2014/main" id="{832FAF0D-2F8C-2CA5-9C10-06C15E3B361A}"/>
              </a:ext>
            </a:extLst>
          </p:cNvPr>
          <p:cNvPicPr>
            <a:picLocks noChangeAspect="1"/>
          </p:cNvPicPr>
          <p:nvPr/>
        </p:nvPicPr>
        <p:blipFill>
          <a:blip r:embed="rId2"/>
          <a:stretch>
            <a:fillRect/>
          </a:stretch>
        </p:blipFill>
        <p:spPr>
          <a:xfrm>
            <a:off x="6099048" y="699516"/>
            <a:ext cx="5458968" cy="5458968"/>
          </a:xfrm>
          <a:prstGeom prst="rect">
            <a:avLst/>
          </a:prstGeom>
        </p:spPr>
      </p:pic>
    </p:spTree>
    <p:extLst>
      <p:ext uri="{BB962C8B-B14F-4D97-AF65-F5344CB8AC3E}">
        <p14:creationId xmlns:p14="http://schemas.microsoft.com/office/powerpoint/2010/main" val="2990696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ço Reservado para Conteúdo 2">
            <a:extLst>
              <a:ext uri="{FF2B5EF4-FFF2-40B4-BE49-F238E27FC236}">
                <a16:creationId xmlns:a16="http://schemas.microsoft.com/office/drawing/2014/main" id="{9CA1908B-D9FF-A82B-E393-C16E135A90BA}"/>
              </a:ext>
            </a:extLst>
          </p:cNvPr>
          <p:cNvSpPr>
            <a:spLocks noGrp="1"/>
          </p:cNvSpPr>
          <p:nvPr>
            <p:ph idx="1"/>
          </p:nvPr>
        </p:nvSpPr>
        <p:spPr>
          <a:xfrm>
            <a:off x="572493" y="2071316"/>
            <a:ext cx="6713552" cy="4119172"/>
          </a:xfrm>
        </p:spPr>
        <p:txBody>
          <a:bodyPr anchor="t">
            <a:normAutofit/>
          </a:bodyPr>
          <a:lstStyle/>
          <a:p>
            <a:pPr marL="0" indent="0">
              <a:buNone/>
            </a:pPr>
            <a:r>
              <a:rPr lang="pt-PT" sz="2000" dirty="0"/>
              <a:t>Quando explorada com sucesso, esta vulnerabilidade permite:</a:t>
            </a:r>
          </a:p>
          <a:p>
            <a:pPr lvl="1"/>
            <a:r>
              <a:rPr lang="pt-PT" sz="2000" dirty="0"/>
              <a:t>Execução de código JavaScript arbitrário no contexto do site WordPress</a:t>
            </a:r>
          </a:p>
          <a:p>
            <a:pPr lvl="1"/>
            <a:r>
              <a:rPr lang="pt-PT" sz="2000" dirty="0"/>
              <a:t>Acesso a informações sensíveis do utilizador, incluindo cookies e dados de sessão</a:t>
            </a:r>
          </a:p>
          <a:p>
            <a:pPr lvl="1"/>
            <a:r>
              <a:rPr lang="pt-PT" sz="2000" dirty="0"/>
              <a:t>Realização de ações em nome do utilizador autenticado</a:t>
            </a:r>
          </a:p>
          <a:p>
            <a:pPr lvl="1"/>
            <a:r>
              <a:rPr lang="pt-PT" sz="2000" dirty="0"/>
              <a:t>Comprometimento da confiança dos utilizadores no site</a:t>
            </a:r>
          </a:p>
          <a:p>
            <a:pPr lvl="1"/>
            <a:r>
              <a:rPr lang="pt-PT" sz="2000" dirty="0"/>
              <a:t>Possível escalada para ataques mais sofisticados, como BeEF (Browser Exploitation Framework)</a:t>
            </a:r>
          </a:p>
          <a:p>
            <a:endParaRPr lang="pt-PT" sz="2000" dirty="0"/>
          </a:p>
        </p:txBody>
      </p:sp>
      <p:pic>
        <p:nvPicPr>
          <p:cNvPr id="4098" name="Picture 2" descr="Cyber security png Images - Free Download on Freepik">
            <a:extLst>
              <a:ext uri="{FF2B5EF4-FFF2-40B4-BE49-F238E27FC236}">
                <a16:creationId xmlns:a16="http://schemas.microsoft.com/office/drawing/2014/main" id="{E4E3613A-DE8D-A2B9-3D02-D3E0300161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42" r="3250" b="-3"/>
          <a:stretch>
            <a:fillRect/>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02628BC6-47BB-2D99-3043-6273930DC01A}"/>
              </a:ext>
            </a:extLst>
          </p:cNvPr>
          <p:cNvSpPr txBox="1"/>
          <p:nvPr/>
        </p:nvSpPr>
        <p:spPr>
          <a:xfrm>
            <a:off x="442452" y="1034472"/>
            <a:ext cx="6713552" cy="369332"/>
          </a:xfrm>
          <a:prstGeom prst="rect">
            <a:avLst/>
          </a:prstGeom>
          <a:noFill/>
        </p:spPr>
        <p:txBody>
          <a:bodyPr wrap="square" rtlCol="0">
            <a:spAutoFit/>
          </a:bodyPr>
          <a:lstStyle/>
          <a:p>
            <a:r>
              <a:rPr lang="pt-PT" b="1" dirty="0"/>
              <a:t>Resultados de Exploração:</a:t>
            </a:r>
            <a:endParaRPr lang="pt-PT" dirty="0"/>
          </a:p>
        </p:txBody>
      </p:sp>
    </p:spTree>
    <p:extLst>
      <p:ext uri="{BB962C8B-B14F-4D97-AF65-F5344CB8AC3E}">
        <p14:creationId xmlns:p14="http://schemas.microsoft.com/office/powerpoint/2010/main" val="3337419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AB697C9-E0F5-603F-0CBE-56FEA09F4AC8}"/>
              </a:ext>
            </a:extLst>
          </p:cNvPr>
          <p:cNvSpPr>
            <a:spLocks noGrp="1"/>
          </p:cNvSpPr>
          <p:nvPr>
            <p:ph type="title"/>
          </p:nvPr>
        </p:nvSpPr>
        <p:spPr>
          <a:xfrm>
            <a:off x="793662" y="386930"/>
            <a:ext cx="10066122" cy="1298448"/>
          </a:xfrm>
        </p:spPr>
        <p:txBody>
          <a:bodyPr anchor="b">
            <a:normAutofit/>
          </a:bodyPr>
          <a:lstStyle/>
          <a:p>
            <a:r>
              <a:rPr lang="pt-PT" sz="4100" b="1"/>
              <a:t>Exploração da Vulnerabilidade</a:t>
            </a:r>
            <a:br>
              <a:rPr lang="pt-PT" sz="4100" b="1"/>
            </a:br>
            <a:endParaRPr lang="pt-PT" sz="4100"/>
          </a:p>
        </p:txBody>
      </p:sp>
      <p:sp>
        <p:nvSpPr>
          <p:cNvPr id="5129" name="Rectangle 512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ço Reservado para Conteúdo 2">
            <a:extLst>
              <a:ext uri="{FF2B5EF4-FFF2-40B4-BE49-F238E27FC236}">
                <a16:creationId xmlns:a16="http://schemas.microsoft.com/office/drawing/2014/main" id="{073E45C4-11E3-9062-1C65-0C301179270B}"/>
              </a:ext>
            </a:extLst>
          </p:cNvPr>
          <p:cNvSpPr>
            <a:spLocks noGrp="1"/>
          </p:cNvSpPr>
          <p:nvPr>
            <p:ph idx="1"/>
          </p:nvPr>
        </p:nvSpPr>
        <p:spPr>
          <a:xfrm>
            <a:off x="793661" y="2599509"/>
            <a:ext cx="4530898" cy="3639450"/>
          </a:xfrm>
        </p:spPr>
        <p:txBody>
          <a:bodyPr anchor="ctr">
            <a:normAutofit/>
          </a:bodyPr>
          <a:lstStyle/>
          <a:p>
            <a:pPr marL="0" indent="0">
              <a:buNone/>
            </a:pPr>
            <a:r>
              <a:rPr lang="pt-PT" sz="2000" dirty="0"/>
              <a:t>Para explorar esta vulnerabilidade, temos duas máquinas virtuais diferentes a rodar no Oracle Virtual Box, de forma a replicar sistemas operativos:</a:t>
            </a:r>
          </a:p>
          <a:p>
            <a:pPr marL="0" indent="0">
              <a:buNone/>
            </a:pPr>
            <a:endParaRPr lang="pt-PT" sz="2000" dirty="0"/>
          </a:p>
          <a:p>
            <a:pPr lvl="1"/>
            <a:r>
              <a:rPr lang="pt-PT" sz="2000" dirty="0"/>
              <a:t>Kali Linux: - </a:t>
            </a:r>
            <a:r>
              <a:rPr lang="pt-PT" sz="2000" dirty="0">
                <a:solidFill>
                  <a:srgbClr val="FF0000"/>
                </a:solidFill>
              </a:rPr>
              <a:t>a máquina atacante.</a:t>
            </a:r>
          </a:p>
          <a:p>
            <a:pPr lvl="1"/>
            <a:r>
              <a:rPr lang="pt-PT" sz="2000" dirty="0"/>
              <a:t>Windows 11: - </a:t>
            </a:r>
            <a:r>
              <a:rPr lang="pt-PT" sz="2000" dirty="0">
                <a:solidFill>
                  <a:schemeClr val="tx2">
                    <a:lumMod val="50000"/>
                    <a:lumOff val="50000"/>
                  </a:schemeClr>
                </a:solidFill>
              </a:rPr>
              <a:t>a máquina vitima.</a:t>
            </a:r>
          </a:p>
          <a:p>
            <a:endParaRPr lang="pt-PT" sz="2000" dirty="0"/>
          </a:p>
        </p:txBody>
      </p:sp>
      <p:pic>
        <p:nvPicPr>
          <p:cNvPr id="5122" name="Picture 2" descr="Linux vs Windows in 2022 - Develux Inc.">
            <a:extLst>
              <a:ext uri="{FF2B5EF4-FFF2-40B4-BE49-F238E27FC236}">
                <a16:creationId xmlns:a16="http://schemas.microsoft.com/office/drawing/2014/main" id="{E7FF8756-A453-AF1B-C34A-8FC07D3BA50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11532" y="3053808"/>
            <a:ext cx="5150277" cy="2575138"/>
          </a:xfrm>
          <a:prstGeom prst="rect">
            <a:avLst/>
          </a:prstGeom>
          <a:noFill/>
          <a:extLst>
            <a:ext uri="{909E8E84-426E-40DD-AFC4-6F175D3DCCD1}">
              <a14:hiddenFill xmlns:a14="http://schemas.microsoft.com/office/drawing/2010/main">
                <a:solidFill>
                  <a:srgbClr val="FFFFFF"/>
                </a:solidFill>
              </a14:hiddenFill>
            </a:ext>
          </a:extLst>
        </p:spPr>
      </p:pic>
      <p:sp>
        <p:nvSpPr>
          <p:cNvPr id="5133" name="Rectangle 513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3675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EC329B3-F9BC-0F67-6CC5-995D018E5688}"/>
              </a:ext>
            </a:extLst>
          </p:cNvPr>
          <p:cNvSpPr>
            <a:spLocks noGrp="1"/>
          </p:cNvSpPr>
          <p:nvPr>
            <p:ph type="title"/>
          </p:nvPr>
        </p:nvSpPr>
        <p:spPr>
          <a:xfrm>
            <a:off x="630936" y="502920"/>
            <a:ext cx="3419856" cy="1463040"/>
          </a:xfrm>
        </p:spPr>
        <p:txBody>
          <a:bodyPr anchor="ctr">
            <a:noAutofit/>
          </a:bodyPr>
          <a:lstStyle/>
          <a:p>
            <a:r>
              <a:rPr lang="en-US" sz="3600" b="1" dirty="0"/>
              <a:t>1º </a:t>
            </a:r>
            <a:r>
              <a:rPr lang="en-US" sz="3600" b="1" dirty="0" err="1"/>
              <a:t>Cenário</a:t>
            </a:r>
            <a:r>
              <a:rPr lang="en-US" sz="3600" b="1" dirty="0"/>
              <a:t> (Simples) – Uso </a:t>
            </a:r>
            <a:r>
              <a:rPr lang="en-US" sz="3600" b="1" dirty="0" err="1"/>
              <a:t>rudimentar</a:t>
            </a:r>
            <a:r>
              <a:rPr lang="en-US" sz="3600" b="1" dirty="0"/>
              <a:t> de </a:t>
            </a:r>
            <a:r>
              <a:rPr lang="en-US" sz="3600" b="1" dirty="0" err="1"/>
              <a:t>Javascript</a:t>
            </a:r>
            <a:endParaRPr lang="pt-PT" sz="3600" dirty="0"/>
          </a:p>
        </p:txBody>
      </p:sp>
      <p:sp>
        <p:nvSpPr>
          <p:cNvPr id="11"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ço Reservado para Conteúdo 2">
            <a:extLst>
              <a:ext uri="{FF2B5EF4-FFF2-40B4-BE49-F238E27FC236}">
                <a16:creationId xmlns:a16="http://schemas.microsoft.com/office/drawing/2014/main" id="{1636D6D0-4D39-3F8F-3245-930571893F8B}"/>
              </a:ext>
            </a:extLst>
          </p:cNvPr>
          <p:cNvSpPr>
            <a:spLocks noGrp="1"/>
          </p:cNvSpPr>
          <p:nvPr>
            <p:ph idx="1"/>
          </p:nvPr>
        </p:nvSpPr>
        <p:spPr>
          <a:xfrm>
            <a:off x="4654295" y="502920"/>
            <a:ext cx="6894576" cy="1463040"/>
          </a:xfrm>
        </p:spPr>
        <p:txBody>
          <a:bodyPr anchor="ctr">
            <a:normAutofit/>
          </a:bodyPr>
          <a:lstStyle/>
          <a:p>
            <a:r>
              <a:rPr lang="pt-PT" sz="2200"/>
              <a:t>Neste, cenário temos a máquina Kali Linux a hospedar um website simples (share-one-drive.php) com uma caixa de texto, que neste caso permite executar código JavaScript. Ora vejamos:</a:t>
            </a:r>
          </a:p>
          <a:p>
            <a:endParaRPr lang="pt-PT" sz="2200"/>
          </a:p>
        </p:txBody>
      </p:sp>
      <p:pic>
        <p:nvPicPr>
          <p:cNvPr id="4" name="Espaço Reservado para Conteúdo 8" descr="Tela de computador com texto preto sobre fundo branco&#10;&#10;O conteúdo gerado por IA pode estar incorreto.">
            <a:extLst>
              <a:ext uri="{FF2B5EF4-FFF2-40B4-BE49-F238E27FC236}">
                <a16:creationId xmlns:a16="http://schemas.microsoft.com/office/drawing/2014/main" id="{91BC5707-10AC-8F55-27DC-EF213F711092}"/>
              </a:ext>
            </a:extLst>
          </p:cNvPr>
          <p:cNvPicPr>
            <a:picLocks noChangeAspect="1"/>
          </p:cNvPicPr>
          <p:nvPr/>
        </p:nvPicPr>
        <p:blipFill>
          <a:blip r:embed="rId2"/>
          <a:stretch>
            <a:fillRect/>
          </a:stretch>
        </p:blipFill>
        <p:spPr>
          <a:xfrm>
            <a:off x="1762742" y="2290936"/>
            <a:ext cx="8654323" cy="3959352"/>
          </a:xfrm>
          <a:prstGeom prst="rect">
            <a:avLst/>
          </a:prstGeom>
        </p:spPr>
      </p:pic>
      <p:sp>
        <p:nvSpPr>
          <p:cNvPr id="5" name="CaixaDeTexto 4">
            <a:extLst>
              <a:ext uri="{FF2B5EF4-FFF2-40B4-BE49-F238E27FC236}">
                <a16:creationId xmlns:a16="http://schemas.microsoft.com/office/drawing/2014/main" id="{65B62941-DB2B-BC81-3340-EACA7157DDE0}"/>
              </a:ext>
            </a:extLst>
          </p:cNvPr>
          <p:cNvSpPr txBox="1"/>
          <p:nvPr/>
        </p:nvSpPr>
        <p:spPr>
          <a:xfrm>
            <a:off x="1647006" y="6211669"/>
            <a:ext cx="3007289" cy="646331"/>
          </a:xfrm>
          <a:prstGeom prst="rect">
            <a:avLst/>
          </a:prstGeom>
          <a:noFill/>
        </p:spPr>
        <p:txBody>
          <a:bodyPr wrap="square" rtlCol="0">
            <a:spAutoFit/>
          </a:bodyPr>
          <a:lstStyle/>
          <a:p>
            <a:r>
              <a:rPr lang="it-IT" i="1" dirty="0"/>
              <a:t>IP  Kali Linux:  10.0.2.15</a:t>
            </a:r>
          </a:p>
          <a:p>
            <a:endParaRPr lang="pt-PT" dirty="0"/>
          </a:p>
        </p:txBody>
      </p:sp>
      <p:sp>
        <p:nvSpPr>
          <p:cNvPr id="6" name="CaixaDeTexto 5">
            <a:extLst>
              <a:ext uri="{FF2B5EF4-FFF2-40B4-BE49-F238E27FC236}">
                <a16:creationId xmlns:a16="http://schemas.microsoft.com/office/drawing/2014/main" id="{8B500DA4-681C-E982-0F2B-8C88F4531549}"/>
              </a:ext>
            </a:extLst>
          </p:cNvPr>
          <p:cNvSpPr txBox="1"/>
          <p:nvPr/>
        </p:nvSpPr>
        <p:spPr>
          <a:xfrm>
            <a:off x="6089903" y="6211669"/>
            <a:ext cx="3549445" cy="646331"/>
          </a:xfrm>
          <a:prstGeom prst="rect">
            <a:avLst/>
          </a:prstGeom>
          <a:noFill/>
        </p:spPr>
        <p:txBody>
          <a:bodyPr wrap="square" rtlCol="0">
            <a:spAutoFit/>
          </a:bodyPr>
          <a:lstStyle/>
          <a:p>
            <a:r>
              <a:rPr lang="en-US" i="1" dirty="0"/>
              <a:t>IP  Windows 11: 10.0.2.3</a:t>
            </a:r>
          </a:p>
          <a:p>
            <a:endParaRPr lang="pt-PT" dirty="0"/>
          </a:p>
        </p:txBody>
      </p:sp>
    </p:spTree>
    <p:extLst>
      <p:ext uri="{BB962C8B-B14F-4D97-AF65-F5344CB8AC3E}">
        <p14:creationId xmlns:p14="http://schemas.microsoft.com/office/powerpoint/2010/main" val="912286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Espaço Reservado para Conteúdo 4" descr="Texto&#10;&#10;O conteúdo gerado por IA pode estar incorreto.">
            <a:extLst>
              <a:ext uri="{FF2B5EF4-FFF2-40B4-BE49-F238E27FC236}">
                <a16:creationId xmlns:a16="http://schemas.microsoft.com/office/drawing/2014/main" id="{48C2663D-1800-C878-47B0-031B1E57B952}"/>
              </a:ext>
            </a:extLst>
          </p:cNvPr>
          <p:cNvPicPr>
            <a:picLocks noGrp="1" noChangeAspect="1"/>
          </p:cNvPicPr>
          <p:nvPr>
            <p:ph idx="1"/>
          </p:nvPr>
        </p:nvPicPr>
        <p:blipFill>
          <a:blip r:embed="rId2"/>
          <a:stretch>
            <a:fillRect/>
          </a:stretch>
        </p:blipFill>
        <p:spPr>
          <a:xfrm>
            <a:off x="1123435" y="805971"/>
            <a:ext cx="9945129" cy="5246057"/>
          </a:xfrm>
          <a:prstGeom prst="rect">
            <a:avLst/>
          </a:prstGeom>
        </p:spPr>
      </p:pic>
      <p:sp>
        <p:nvSpPr>
          <p:cNvPr id="6" name="CaixaDeTexto 5">
            <a:extLst>
              <a:ext uri="{FF2B5EF4-FFF2-40B4-BE49-F238E27FC236}">
                <a16:creationId xmlns:a16="http://schemas.microsoft.com/office/drawing/2014/main" id="{DDA04A33-06F1-63C5-29A4-0ADDE9A5F0BF}"/>
              </a:ext>
            </a:extLst>
          </p:cNvPr>
          <p:cNvSpPr txBox="1"/>
          <p:nvPr/>
        </p:nvSpPr>
        <p:spPr>
          <a:xfrm>
            <a:off x="1123435" y="6052028"/>
            <a:ext cx="5280631" cy="307777"/>
          </a:xfrm>
          <a:prstGeom prst="rect">
            <a:avLst/>
          </a:prstGeom>
          <a:noFill/>
        </p:spPr>
        <p:txBody>
          <a:bodyPr wrap="square" rtlCol="0">
            <a:spAutoFit/>
          </a:bodyPr>
          <a:lstStyle/>
          <a:p>
            <a:r>
              <a:rPr lang="pt-PT" sz="1400" i="1" dirty="0"/>
              <a:t>Composição do site "share-one-drive.php“.</a:t>
            </a:r>
          </a:p>
        </p:txBody>
      </p:sp>
    </p:spTree>
    <p:extLst>
      <p:ext uri="{BB962C8B-B14F-4D97-AF65-F5344CB8AC3E}">
        <p14:creationId xmlns:p14="http://schemas.microsoft.com/office/powerpoint/2010/main" val="2913421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Imagem 4" descr="Interface gráfica do usuário, Texto, Aplicativo&#10;&#10;O conteúdo gerado por IA pode estar incorreto.">
            <a:extLst>
              <a:ext uri="{FF2B5EF4-FFF2-40B4-BE49-F238E27FC236}">
                <a16:creationId xmlns:a16="http://schemas.microsoft.com/office/drawing/2014/main" id="{DE8F5BDC-1B7F-7934-9674-910181DC507A}"/>
              </a:ext>
            </a:extLst>
          </p:cNvPr>
          <p:cNvPicPr>
            <a:picLocks noChangeAspect="1"/>
          </p:cNvPicPr>
          <p:nvPr/>
        </p:nvPicPr>
        <p:blipFill>
          <a:blip r:embed="rId2"/>
          <a:stretch>
            <a:fillRect/>
          </a:stretch>
        </p:blipFill>
        <p:spPr>
          <a:xfrm>
            <a:off x="659914" y="1096023"/>
            <a:ext cx="10872172" cy="2174433"/>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Espaço Reservado para Conteúdo 2">
            <a:extLst>
              <a:ext uri="{FF2B5EF4-FFF2-40B4-BE49-F238E27FC236}">
                <a16:creationId xmlns:a16="http://schemas.microsoft.com/office/drawing/2014/main" id="{6B2D810B-9030-4F1E-C2C2-366BC98AB2DE}"/>
              </a:ext>
            </a:extLst>
          </p:cNvPr>
          <p:cNvSpPr>
            <a:spLocks noGrp="1"/>
          </p:cNvSpPr>
          <p:nvPr>
            <p:ph idx="1"/>
          </p:nvPr>
        </p:nvSpPr>
        <p:spPr>
          <a:xfrm>
            <a:off x="4970835" y="3998019"/>
            <a:ext cx="6382966" cy="2216512"/>
          </a:xfrm>
        </p:spPr>
        <p:txBody>
          <a:bodyPr>
            <a:normAutofit/>
          </a:bodyPr>
          <a:lstStyle/>
          <a:p>
            <a:r>
              <a:rPr lang="pt-PT" sz="2400" dirty="0"/>
              <a:t>Executando o servidor Apache na máquina Kali Linux, com o comando </a:t>
            </a:r>
            <a:r>
              <a:rPr lang="pt-PT" sz="2400" b="1" dirty="0"/>
              <a:t>"sudo service apache2 start"</a:t>
            </a:r>
            <a:r>
              <a:rPr lang="pt-PT" sz="2400" dirty="0"/>
              <a:t>, a máquina Windows consegue aceder ao tal website através do seu IP + /caminho_para_site.</a:t>
            </a:r>
          </a:p>
        </p:txBody>
      </p:sp>
    </p:spTree>
    <p:extLst>
      <p:ext uri="{BB962C8B-B14F-4D97-AF65-F5344CB8AC3E}">
        <p14:creationId xmlns:p14="http://schemas.microsoft.com/office/powerpoint/2010/main" val="3786922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ço Reservado para Conteúdo 2">
            <a:extLst>
              <a:ext uri="{FF2B5EF4-FFF2-40B4-BE49-F238E27FC236}">
                <a16:creationId xmlns:a16="http://schemas.microsoft.com/office/drawing/2014/main" id="{CC849DFC-2F36-5C56-B54B-76406AE0C6E1}"/>
              </a:ext>
            </a:extLst>
          </p:cNvPr>
          <p:cNvSpPr>
            <a:spLocks noGrp="1"/>
          </p:cNvSpPr>
          <p:nvPr>
            <p:ph idx="1"/>
          </p:nvPr>
        </p:nvSpPr>
        <p:spPr>
          <a:xfrm>
            <a:off x="4654295" y="502920"/>
            <a:ext cx="6894576" cy="1463040"/>
          </a:xfrm>
        </p:spPr>
        <p:txBody>
          <a:bodyPr anchor="ctr">
            <a:normAutofit/>
          </a:bodyPr>
          <a:lstStyle/>
          <a:p>
            <a:r>
              <a:rPr lang="pt-PT" sz="2200"/>
              <a:t>A vulnerabilidade reside na linha echo "Você procurou por: " . $_GET['s'];. Quando o utilizador insere um texto normal (e.g. "teste"), o output é seguro:</a:t>
            </a:r>
          </a:p>
        </p:txBody>
      </p:sp>
      <p:pic>
        <p:nvPicPr>
          <p:cNvPr id="5" name="Imagem 4" descr="Interface gráfica do usuário, Texto, Aplicativo&#10;&#10;O conteúdo gerado por IA pode estar incorreto.">
            <a:extLst>
              <a:ext uri="{FF2B5EF4-FFF2-40B4-BE49-F238E27FC236}">
                <a16:creationId xmlns:a16="http://schemas.microsoft.com/office/drawing/2014/main" id="{80FC94D3-7AD3-5B9B-6504-B3F13122F8F9}"/>
              </a:ext>
            </a:extLst>
          </p:cNvPr>
          <p:cNvPicPr>
            <a:picLocks noChangeAspect="1"/>
          </p:cNvPicPr>
          <p:nvPr/>
        </p:nvPicPr>
        <p:blipFill>
          <a:blip r:embed="rId2"/>
          <a:stretch>
            <a:fillRect/>
          </a:stretch>
        </p:blipFill>
        <p:spPr>
          <a:xfrm>
            <a:off x="630936" y="2375258"/>
            <a:ext cx="10917936" cy="3790707"/>
          </a:xfrm>
          <a:prstGeom prst="rect">
            <a:avLst/>
          </a:prstGeom>
        </p:spPr>
      </p:pic>
    </p:spTree>
    <p:extLst>
      <p:ext uri="{BB962C8B-B14F-4D97-AF65-F5344CB8AC3E}">
        <p14:creationId xmlns:p14="http://schemas.microsoft.com/office/powerpoint/2010/main" val="290321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ço Reservado para Conteúdo 2">
            <a:extLst>
              <a:ext uri="{FF2B5EF4-FFF2-40B4-BE49-F238E27FC236}">
                <a16:creationId xmlns:a16="http://schemas.microsoft.com/office/drawing/2014/main" id="{9322BC47-A184-CE9F-CC7B-1ED0384B511F}"/>
              </a:ext>
            </a:extLst>
          </p:cNvPr>
          <p:cNvSpPr>
            <a:spLocks noGrp="1"/>
          </p:cNvSpPr>
          <p:nvPr>
            <p:ph idx="1"/>
          </p:nvPr>
        </p:nvSpPr>
        <p:spPr>
          <a:xfrm>
            <a:off x="4654295" y="502920"/>
            <a:ext cx="6894576" cy="1463040"/>
          </a:xfrm>
        </p:spPr>
        <p:txBody>
          <a:bodyPr anchor="ctr">
            <a:normAutofit/>
          </a:bodyPr>
          <a:lstStyle/>
          <a:p>
            <a:r>
              <a:rPr lang="pt-PT" sz="2200" dirty="0"/>
              <a:t>Mas quando se insere um código, </a:t>
            </a:r>
            <a:r>
              <a:rPr lang="pt-PT" sz="2200" b="1" dirty="0"/>
              <a:t>(e.g. &lt;script&gt;alert(1)&lt;/script&gt;) </a:t>
            </a:r>
            <a:r>
              <a:rPr lang="pt-PT" sz="2200" dirty="0"/>
              <a:t>o output gerado é:</a:t>
            </a:r>
          </a:p>
        </p:txBody>
      </p:sp>
      <p:pic>
        <p:nvPicPr>
          <p:cNvPr id="5" name="Imagem 4" descr="Interface gráfica do usuário, Texto&#10;&#10;O conteúdo gerado por IA pode estar incorreto.">
            <a:extLst>
              <a:ext uri="{FF2B5EF4-FFF2-40B4-BE49-F238E27FC236}">
                <a16:creationId xmlns:a16="http://schemas.microsoft.com/office/drawing/2014/main" id="{B1BDF3C1-093E-7B45-6F45-D47923ED0C24}"/>
              </a:ext>
            </a:extLst>
          </p:cNvPr>
          <p:cNvPicPr>
            <a:picLocks noChangeAspect="1"/>
          </p:cNvPicPr>
          <p:nvPr/>
        </p:nvPicPr>
        <p:blipFill>
          <a:blip r:embed="rId2"/>
          <a:stretch>
            <a:fillRect/>
          </a:stretch>
        </p:blipFill>
        <p:spPr>
          <a:xfrm>
            <a:off x="630936" y="2714806"/>
            <a:ext cx="10917936" cy="3111612"/>
          </a:xfrm>
          <a:prstGeom prst="rect">
            <a:avLst/>
          </a:prstGeom>
        </p:spPr>
      </p:pic>
    </p:spTree>
    <p:extLst>
      <p:ext uri="{BB962C8B-B14F-4D97-AF65-F5344CB8AC3E}">
        <p14:creationId xmlns:p14="http://schemas.microsoft.com/office/powerpoint/2010/main" val="2048829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Graphic 6" descr="Devil Face Outline">
            <a:extLst>
              <a:ext uri="{FF2B5EF4-FFF2-40B4-BE49-F238E27FC236}">
                <a16:creationId xmlns:a16="http://schemas.microsoft.com/office/drawing/2014/main" id="{82317B9C-7D64-9F2E-8094-143F70E25B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Espaço Reservado para Conteúdo 2">
            <a:extLst>
              <a:ext uri="{FF2B5EF4-FFF2-40B4-BE49-F238E27FC236}">
                <a16:creationId xmlns:a16="http://schemas.microsoft.com/office/drawing/2014/main" id="{07EDFCD2-5F2D-3353-A3D8-A06F614EF23D}"/>
              </a:ext>
            </a:extLst>
          </p:cNvPr>
          <p:cNvSpPr>
            <a:spLocks noGrp="1"/>
          </p:cNvSpPr>
          <p:nvPr>
            <p:ph idx="1"/>
          </p:nvPr>
        </p:nvSpPr>
        <p:spPr>
          <a:xfrm>
            <a:off x="5894962" y="955437"/>
            <a:ext cx="5458838" cy="5221526"/>
          </a:xfrm>
        </p:spPr>
        <p:txBody>
          <a:bodyPr>
            <a:normAutofit/>
          </a:bodyPr>
          <a:lstStyle/>
          <a:p>
            <a:endParaRPr lang="pt-PT" sz="1800" dirty="0"/>
          </a:p>
          <a:p>
            <a:endParaRPr lang="pt-PT" sz="1800" dirty="0"/>
          </a:p>
          <a:p>
            <a:r>
              <a:rPr lang="pt-PT" sz="1900" dirty="0"/>
              <a:t>Esta é a essência do Reflected XSS; O facto de ter aberto uma janela pop up (alert em Javascript) a mostrar um texto é uma representação bastante simplificada de Reflected XSS - um script malicioso é injetado através de um request do utilizador e é "refletido" de volta na resposta do servidor, executando-se no navegador da vítima.</a:t>
            </a:r>
          </a:p>
          <a:p>
            <a:endParaRPr lang="pt-PT" sz="1900" dirty="0"/>
          </a:p>
          <a:p>
            <a:r>
              <a:rPr lang="pt-PT" sz="1900" dirty="0"/>
              <a:t>Para mitigar a vulnerabilidade neste cenário, alterávamos a linha de código indentificada para:</a:t>
            </a:r>
          </a:p>
          <a:p>
            <a:pPr marL="457200" lvl="1" indent="0">
              <a:buNone/>
            </a:pPr>
            <a:r>
              <a:rPr lang="pt-PT" sz="1500" dirty="0"/>
              <a:t>echo "Você procurou por: " </a:t>
            </a:r>
            <a:r>
              <a:rPr lang="pt-PT" sz="1500" b="1" dirty="0"/>
              <a:t>htmlspecialchars($_GET['s'])</a:t>
            </a:r>
            <a:r>
              <a:rPr lang="pt-PT" sz="1500" dirty="0"/>
              <a:t>;</a:t>
            </a:r>
          </a:p>
          <a:p>
            <a:pPr marL="0" indent="0">
              <a:buNone/>
            </a:pPr>
            <a:endParaRPr lang="pt-PT" sz="1800" dirty="0"/>
          </a:p>
        </p:txBody>
      </p:sp>
    </p:spTree>
    <p:extLst>
      <p:ext uri="{BB962C8B-B14F-4D97-AF65-F5344CB8AC3E}">
        <p14:creationId xmlns:p14="http://schemas.microsoft.com/office/powerpoint/2010/main" val="1400068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049ED30-0204-EB5D-E136-7ABE95618990}"/>
              </a:ext>
            </a:extLst>
          </p:cNvPr>
          <p:cNvSpPr>
            <a:spLocks noGrp="1"/>
          </p:cNvSpPr>
          <p:nvPr>
            <p:ph type="title"/>
          </p:nvPr>
        </p:nvSpPr>
        <p:spPr>
          <a:xfrm>
            <a:off x="793662" y="386930"/>
            <a:ext cx="10066122" cy="1298448"/>
          </a:xfrm>
        </p:spPr>
        <p:txBody>
          <a:bodyPr anchor="b">
            <a:normAutofit/>
          </a:bodyPr>
          <a:lstStyle/>
          <a:p>
            <a:r>
              <a:rPr lang="pt-PT" sz="3400" b="1" dirty="0"/>
              <a:t>2º Cenário - Roubo de Credenciais através de Cookies</a:t>
            </a:r>
            <a:br>
              <a:rPr lang="pt-PT" sz="3400" b="1" dirty="0"/>
            </a:br>
            <a:endParaRPr lang="pt-PT" sz="3400" dirty="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ço Reservado para Conteúdo 2">
            <a:extLst>
              <a:ext uri="{FF2B5EF4-FFF2-40B4-BE49-F238E27FC236}">
                <a16:creationId xmlns:a16="http://schemas.microsoft.com/office/drawing/2014/main" id="{7F571CD6-4850-31D0-282A-842F2FDFAA8F}"/>
              </a:ext>
            </a:extLst>
          </p:cNvPr>
          <p:cNvSpPr>
            <a:spLocks noGrp="1"/>
          </p:cNvSpPr>
          <p:nvPr>
            <p:ph idx="1"/>
          </p:nvPr>
        </p:nvSpPr>
        <p:spPr>
          <a:xfrm>
            <a:off x="793661" y="2599509"/>
            <a:ext cx="4530898" cy="3639450"/>
          </a:xfrm>
        </p:spPr>
        <p:txBody>
          <a:bodyPr anchor="ctr">
            <a:normAutofit/>
          </a:bodyPr>
          <a:lstStyle/>
          <a:p>
            <a:r>
              <a:rPr lang="pt-PT" sz="2000"/>
              <a:t>Neste cenário, a máquina Kali Linux hospeda um sistema de login vulnerável (login.html e dashboard.php) que armazena credenciais de forma insegura em forma de cookies. O objetivo é demonstrar como um atacante pode utilizar Reflected XSS para roubar sessões completas de utilizadores, incluindo usernames e passwords.</a:t>
            </a:r>
          </a:p>
        </p:txBody>
      </p:sp>
      <p:pic>
        <p:nvPicPr>
          <p:cNvPr id="5" name="Imagem 4" descr="Texto&#10;&#10;O conteúdo gerado por IA pode estar incorreto.">
            <a:extLst>
              <a:ext uri="{FF2B5EF4-FFF2-40B4-BE49-F238E27FC236}">
                <a16:creationId xmlns:a16="http://schemas.microsoft.com/office/drawing/2014/main" id="{858866FC-A536-6449-82F0-67384434FEF5}"/>
              </a:ext>
            </a:extLst>
          </p:cNvPr>
          <p:cNvPicPr>
            <a:picLocks noChangeAspect="1"/>
          </p:cNvPicPr>
          <p:nvPr/>
        </p:nvPicPr>
        <p:blipFill>
          <a:blip r:embed="rId2"/>
          <a:stretch>
            <a:fillRect/>
          </a:stretch>
        </p:blipFill>
        <p:spPr>
          <a:xfrm>
            <a:off x="5895504" y="2389218"/>
            <a:ext cx="5150277" cy="3263017"/>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aixaDeTexto 5">
            <a:extLst>
              <a:ext uri="{FF2B5EF4-FFF2-40B4-BE49-F238E27FC236}">
                <a16:creationId xmlns:a16="http://schemas.microsoft.com/office/drawing/2014/main" id="{71E58E34-2512-96DE-E8D2-FF923FB60C6C}"/>
              </a:ext>
            </a:extLst>
          </p:cNvPr>
          <p:cNvSpPr txBox="1"/>
          <p:nvPr/>
        </p:nvSpPr>
        <p:spPr>
          <a:xfrm>
            <a:off x="5826723" y="5702580"/>
            <a:ext cx="2379406" cy="307777"/>
          </a:xfrm>
          <a:prstGeom prst="rect">
            <a:avLst/>
          </a:prstGeom>
          <a:noFill/>
        </p:spPr>
        <p:txBody>
          <a:bodyPr wrap="square" rtlCol="0">
            <a:spAutoFit/>
          </a:bodyPr>
          <a:lstStyle/>
          <a:p>
            <a:r>
              <a:rPr lang="pt-PT" sz="1400" i="1" dirty="0"/>
              <a:t>Ficheiro login.html</a:t>
            </a:r>
          </a:p>
        </p:txBody>
      </p:sp>
    </p:spTree>
    <p:extLst>
      <p:ext uri="{BB962C8B-B14F-4D97-AF65-F5344CB8AC3E}">
        <p14:creationId xmlns:p14="http://schemas.microsoft.com/office/powerpoint/2010/main" val="529057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m 6" descr="Interface gráfica do usuário, Texto, Aplicativo&#10;&#10;O conteúdo gerado por IA pode estar incorreto.">
            <a:extLst>
              <a:ext uri="{FF2B5EF4-FFF2-40B4-BE49-F238E27FC236}">
                <a16:creationId xmlns:a16="http://schemas.microsoft.com/office/drawing/2014/main" id="{D12FB7FD-8C16-9E55-647F-8236ED7E471C}"/>
              </a:ext>
            </a:extLst>
          </p:cNvPr>
          <p:cNvPicPr>
            <a:picLocks noChangeAspect="1"/>
          </p:cNvPicPr>
          <p:nvPr/>
        </p:nvPicPr>
        <p:blipFill>
          <a:blip r:embed="rId2"/>
          <a:stretch>
            <a:fillRect/>
          </a:stretch>
        </p:blipFill>
        <p:spPr>
          <a:xfrm>
            <a:off x="6250115" y="1979570"/>
            <a:ext cx="5294716" cy="2898856"/>
          </a:xfrm>
          <a:prstGeom prst="rect">
            <a:avLst/>
          </a:prstGeom>
        </p:spPr>
      </p:pic>
      <p:cxnSp>
        <p:nvCxnSpPr>
          <p:cNvPr id="16" name="Straight Connector 15">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5" name="Espaço Reservado para Conteúdo 4" descr="Interface gráfica do usuário, Aplicativo&#10;&#10;O conteúdo gerado por IA pode estar incorreto.">
            <a:extLst>
              <a:ext uri="{FF2B5EF4-FFF2-40B4-BE49-F238E27FC236}">
                <a16:creationId xmlns:a16="http://schemas.microsoft.com/office/drawing/2014/main" id="{38E01056-DC27-E6C1-EDF2-D38A8418495C}"/>
              </a:ext>
            </a:extLst>
          </p:cNvPr>
          <p:cNvPicPr>
            <a:picLocks noGrp="1" noChangeAspect="1"/>
          </p:cNvPicPr>
          <p:nvPr>
            <p:ph idx="1"/>
          </p:nvPr>
        </p:nvPicPr>
        <p:blipFill>
          <a:blip r:embed="rId3"/>
          <a:stretch>
            <a:fillRect/>
          </a:stretch>
        </p:blipFill>
        <p:spPr>
          <a:xfrm>
            <a:off x="647169" y="966955"/>
            <a:ext cx="5294715" cy="4924085"/>
          </a:xfrm>
          <a:prstGeom prst="rect">
            <a:avLst/>
          </a:prstGeom>
        </p:spPr>
      </p:pic>
    </p:spTree>
    <p:extLst>
      <p:ext uri="{BB962C8B-B14F-4D97-AF65-F5344CB8AC3E}">
        <p14:creationId xmlns:p14="http://schemas.microsoft.com/office/powerpoint/2010/main" val="39040352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A0DFA-300D-7D1C-8E2B-E9E67881D071}"/>
            </a:ext>
          </a:extLst>
        </p:cNvPr>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F3E85BAB-5361-CFDA-75D5-D6DBA974EC72}"/>
              </a:ext>
            </a:extLst>
          </p:cNvPr>
          <p:cNvSpPr>
            <a:spLocks noGrp="1"/>
          </p:cNvSpPr>
          <p:nvPr>
            <p:ph idx="1"/>
          </p:nvPr>
        </p:nvSpPr>
        <p:spPr>
          <a:xfrm>
            <a:off x="4970835" y="3998019"/>
            <a:ext cx="6382966" cy="2216512"/>
          </a:xfrm>
        </p:spPr>
        <p:txBody>
          <a:bodyPr>
            <a:normAutofit/>
          </a:bodyPr>
          <a:lstStyle/>
          <a:p>
            <a:r>
              <a:rPr lang="pt-PT" sz="2400" dirty="0"/>
              <a:t>O problema é o facto de os dados serem guardados em forma de cookies - ficheiros de texto usados pela Internet para guardar info qualquer tipo de informação.</a:t>
            </a:r>
          </a:p>
        </p:txBody>
      </p:sp>
      <p:pic>
        <p:nvPicPr>
          <p:cNvPr id="2" name="Imagem 1" descr="Interface gráfica do usuário, Texto, Aplicativo&#10;&#10;O conteúdo gerado por IA pode estar incorreto.">
            <a:extLst>
              <a:ext uri="{FF2B5EF4-FFF2-40B4-BE49-F238E27FC236}">
                <a16:creationId xmlns:a16="http://schemas.microsoft.com/office/drawing/2014/main" id="{66CA6D8F-24A6-6F47-F5A4-297130847CD8}"/>
              </a:ext>
            </a:extLst>
          </p:cNvPr>
          <p:cNvPicPr>
            <a:picLocks noChangeAspect="1"/>
          </p:cNvPicPr>
          <p:nvPr/>
        </p:nvPicPr>
        <p:blipFill>
          <a:blip r:embed="rId2"/>
          <a:stretch>
            <a:fillRect/>
          </a:stretch>
        </p:blipFill>
        <p:spPr>
          <a:xfrm>
            <a:off x="556592" y="541745"/>
            <a:ext cx="11139778" cy="3286234"/>
          </a:xfrm>
          <a:prstGeom prst="rect">
            <a:avLst/>
          </a:prstGeom>
        </p:spPr>
      </p:pic>
    </p:spTree>
    <p:extLst>
      <p:ext uri="{BB962C8B-B14F-4D97-AF65-F5344CB8AC3E}">
        <p14:creationId xmlns:p14="http://schemas.microsoft.com/office/powerpoint/2010/main" val="42293076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ço Reservado para Conteúdo 2">
            <a:extLst>
              <a:ext uri="{FF2B5EF4-FFF2-40B4-BE49-F238E27FC236}">
                <a16:creationId xmlns:a16="http://schemas.microsoft.com/office/drawing/2014/main" id="{18AF7703-FCF3-7A19-A9DE-7F8976924233}"/>
              </a:ext>
            </a:extLst>
          </p:cNvPr>
          <p:cNvSpPr>
            <a:spLocks noGrp="1"/>
          </p:cNvSpPr>
          <p:nvPr>
            <p:ph idx="1"/>
          </p:nvPr>
        </p:nvSpPr>
        <p:spPr>
          <a:xfrm>
            <a:off x="630936" y="2807208"/>
            <a:ext cx="3429000" cy="3410712"/>
          </a:xfrm>
        </p:spPr>
        <p:txBody>
          <a:bodyPr anchor="t">
            <a:normAutofit/>
          </a:bodyPr>
          <a:lstStyle/>
          <a:p>
            <a:r>
              <a:rPr lang="pt-PT" sz="2200"/>
              <a:t>Vejamos a implicação de guardar informação em forma de cookie no contexto de Reflected XSS.</a:t>
            </a:r>
          </a:p>
        </p:txBody>
      </p:sp>
      <p:pic>
        <p:nvPicPr>
          <p:cNvPr id="5" name="Imagem 4" descr="Texto&#10;&#10;O conteúdo gerado por IA pode estar incorreto.">
            <a:extLst>
              <a:ext uri="{FF2B5EF4-FFF2-40B4-BE49-F238E27FC236}">
                <a16:creationId xmlns:a16="http://schemas.microsoft.com/office/drawing/2014/main" id="{C065B1E4-6564-820B-FD1F-E848B2E702E8}"/>
              </a:ext>
            </a:extLst>
          </p:cNvPr>
          <p:cNvPicPr>
            <a:picLocks noChangeAspect="1"/>
          </p:cNvPicPr>
          <p:nvPr/>
        </p:nvPicPr>
        <p:blipFill>
          <a:blip r:embed="rId2"/>
          <a:stretch>
            <a:fillRect/>
          </a:stretch>
        </p:blipFill>
        <p:spPr>
          <a:xfrm>
            <a:off x="4654296" y="1047217"/>
            <a:ext cx="6903720" cy="4763566"/>
          </a:xfrm>
          <a:prstGeom prst="rect">
            <a:avLst/>
          </a:prstGeom>
        </p:spPr>
      </p:pic>
      <p:sp>
        <p:nvSpPr>
          <p:cNvPr id="6" name="CaixaDeTexto 5">
            <a:extLst>
              <a:ext uri="{FF2B5EF4-FFF2-40B4-BE49-F238E27FC236}">
                <a16:creationId xmlns:a16="http://schemas.microsoft.com/office/drawing/2014/main" id="{3AF439FE-40ED-8780-FB65-E15E466E0214}"/>
              </a:ext>
            </a:extLst>
          </p:cNvPr>
          <p:cNvSpPr txBox="1"/>
          <p:nvPr/>
        </p:nvSpPr>
        <p:spPr>
          <a:xfrm>
            <a:off x="4654296" y="5928852"/>
            <a:ext cx="3752285" cy="307777"/>
          </a:xfrm>
          <a:prstGeom prst="rect">
            <a:avLst/>
          </a:prstGeom>
          <a:noFill/>
        </p:spPr>
        <p:txBody>
          <a:bodyPr wrap="square" rtlCol="0">
            <a:spAutoFit/>
          </a:bodyPr>
          <a:lstStyle/>
          <a:p>
            <a:r>
              <a:rPr lang="pt-PT" sz="1400" i="1" dirty="0"/>
              <a:t>Estrutura HTML do ficheiro dahsboard.php</a:t>
            </a:r>
          </a:p>
        </p:txBody>
      </p:sp>
    </p:spTree>
    <p:extLst>
      <p:ext uri="{BB962C8B-B14F-4D97-AF65-F5344CB8AC3E}">
        <p14:creationId xmlns:p14="http://schemas.microsoft.com/office/powerpoint/2010/main" val="1099161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Espaço Reservado para Conteúdo 6" descr="Texto&#10;&#10;O conteúdo gerado por IA pode estar incorreto.">
            <a:extLst>
              <a:ext uri="{FF2B5EF4-FFF2-40B4-BE49-F238E27FC236}">
                <a16:creationId xmlns:a16="http://schemas.microsoft.com/office/drawing/2014/main" id="{26D77F13-C77F-C059-32DA-61519E2F6016}"/>
              </a:ext>
            </a:extLst>
          </p:cNvPr>
          <p:cNvPicPr>
            <a:picLocks noGrp="1" noChangeAspect="1"/>
          </p:cNvPicPr>
          <p:nvPr>
            <p:ph idx="1"/>
          </p:nvPr>
        </p:nvPicPr>
        <p:blipFill>
          <a:blip r:embed="rId2"/>
          <a:stretch>
            <a:fillRect/>
          </a:stretch>
        </p:blipFill>
        <p:spPr>
          <a:xfrm>
            <a:off x="1483993" y="1111467"/>
            <a:ext cx="9224013" cy="4635065"/>
          </a:xfrm>
          <a:prstGeom prst="rect">
            <a:avLst/>
          </a:prstGeom>
        </p:spPr>
      </p:pic>
      <p:sp>
        <p:nvSpPr>
          <p:cNvPr id="8" name="CaixaDeTexto 7">
            <a:extLst>
              <a:ext uri="{FF2B5EF4-FFF2-40B4-BE49-F238E27FC236}">
                <a16:creationId xmlns:a16="http://schemas.microsoft.com/office/drawing/2014/main" id="{C5CA36AD-4B8F-0E1F-BA2E-10750345317A}"/>
              </a:ext>
            </a:extLst>
          </p:cNvPr>
          <p:cNvSpPr txBox="1"/>
          <p:nvPr/>
        </p:nvSpPr>
        <p:spPr>
          <a:xfrm>
            <a:off x="1483993" y="5820697"/>
            <a:ext cx="5300265" cy="307777"/>
          </a:xfrm>
          <a:prstGeom prst="rect">
            <a:avLst/>
          </a:prstGeom>
          <a:noFill/>
        </p:spPr>
        <p:txBody>
          <a:bodyPr wrap="square" rtlCol="0">
            <a:spAutoFit/>
          </a:bodyPr>
          <a:lstStyle/>
          <a:p>
            <a:r>
              <a:rPr lang="pt-PT" sz="1400" i="1" dirty="0"/>
              <a:t>Estrutura PHP do ficheiro dahsboard.php (secção crítica)</a:t>
            </a:r>
          </a:p>
        </p:txBody>
      </p:sp>
    </p:spTree>
    <p:extLst>
      <p:ext uri="{BB962C8B-B14F-4D97-AF65-F5344CB8AC3E}">
        <p14:creationId xmlns:p14="http://schemas.microsoft.com/office/powerpoint/2010/main" val="2976881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762986-A81D-73BF-7EAA-25AB8EC095B5}"/>
            </a:ext>
          </a:extLst>
        </p:cNvPr>
        <p:cNvGrpSpPr/>
        <p:nvPr/>
      </p:nvGrpSpPr>
      <p:grpSpPr>
        <a:xfrm>
          <a:off x="0" y="0"/>
          <a:ext cx="0" cy="0"/>
          <a:chOff x="0" y="0"/>
          <a:chExt cx="0" cy="0"/>
        </a:xfrm>
      </p:grpSpPr>
      <p:pic>
        <p:nvPicPr>
          <p:cNvPr id="6" name="Imagem 5">
            <a:extLst>
              <a:ext uri="{FF2B5EF4-FFF2-40B4-BE49-F238E27FC236}">
                <a16:creationId xmlns:a16="http://schemas.microsoft.com/office/drawing/2014/main" id="{1F88398F-1CD9-EDE4-7056-A6CE09F33149}"/>
              </a:ext>
            </a:extLst>
          </p:cNvPr>
          <p:cNvPicPr>
            <a:picLocks noChangeAspect="1"/>
          </p:cNvPicPr>
          <p:nvPr/>
        </p:nvPicPr>
        <p:blipFill>
          <a:blip r:embed="rId2"/>
          <a:stretch>
            <a:fillRect/>
          </a:stretch>
        </p:blipFill>
        <p:spPr>
          <a:xfrm>
            <a:off x="1254769" y="4367180"/>
            <a:ext cx="10459156" cy="1045915"/>
          </a:xfrm>
          <a:prstGeom prst="rect">
            <a:avLst/>
          </a:prstGeom>
        </p:spPr>
      </p:pic>
      <p:cxnSp>
        <p:nvCxnSpPr>
          <p:cNvPr id="11" name="Straight Connector 10">
            <a:extLst>
              <a:ext uri="{FF2B5EF4-FFF2-40B4-BE49-F238E27FC236}">
                <a16:creationId xmlns:a16="http://schemas.microsoft.com/office/drawing/2014/main" id="{B7952C56-EE0E-C94A-9A44-E17DD73E84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6300" y="394327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Espaço Reservado para Conteúdo 2">
            <a:extLst>
              <a:ext uri="{FF2B5EF4-FFF2-40B4-BE49-F238E27FC236}">
                <a16:creationId xmlns:a16="http://schemas.microsoft.com/office/drawing/2014/main" id="{7993226D-DAC4-021D-07F0-3C96DD392BC8}"/>
              </a:ext>
            </a:extLst>
          </p:cNvPr>
          <p:cNvSpPr>
            <a:spLocks noGrp="1"/>
          </p:cNvSpPr>
          <p:nvPr>
            <p:ph idx="1"/>
          </p:nvPr>
        </p:nvSpPr>
        <p:spPr>
          <a:xfrm>
            <a:off x="730045" y="3028543"/>
            <a:ext cx="5365955" cy="2384552"/>
          </a:xfrm>
        </p:spPr>
        <p:txBody>
          <a:bodyPr>
            <a:normAutofit/>
          </a:bodyPr>
          <a:lstStyle/>
          <a:p>
            <a:pPr marL="0" indent="0">
              <a:buNone/>
            </a:pPr>
            <a:r>
              <a:rPr lang="pt-PT" sz="2000" dirty="0"/>
              <a:t>A vulnerabilidade crítica reside na prática extremamente insegura:</a:t>
            </a:r>
          </a:p>
        </p:txBody>
      </p:sp>
      <p:sp>
        <p:nvSpPr>
          <p:cNvPr id="7" name="CaixaDeTexto 6">
            <a:extLst>
              <a:ext uri="{FF2B5EF4-FFF2-40B4-BE49-F238E27FC236}">
                <a16:creationId xmlns:a16="http://schemas.microsoft.com/office/drawing/2014/main" id="{58786AEF-4604-C251-324C-FBEDEAF55B33}"/>
              </a:ext>
            </a:extLst>
          </p:cNvPr>
          <p:cNvSpPr txBox="1"/>
          <p:nvPr/>
        </p:nvSpPr>
        <p:spPr>
          <a:xfrm>
            <a:off x="1254768" y="5413095"/>
            <a:ext cx="8135037" cy="307777"/>
          </a:xfrm>
          <a:prstGeom prst="rect">
            <a:avLst/>
          </a:prstGeom>
          <a:noFill/>
        </p:spPr>
        <p:txBody>
          <a:bodyPr wrap="square" rtlCol="0">
            <a:spAutoFit/>
          </a:bodyPr>
          <a:lstStyle/>
          <a:p>
            <a:pPr lvl="1"/>
            <a:r>
              <a:rPr lang="pt-PT" sz="1400" i="1" dirty="0"/>
              <a:t>Armazenamento de passwords em cookies (linhas onde se cria o cookie user_password)</a:t>
            </a:r>
          </a:p>
        </p:txBody>
      </p:sp>
      <p:pic>
        <p:nvPicPr>
          <p:cNvPr id="7174" name="Picture 6" descr="Security Denied icon">
            <a:extLst>
              <a:ext uri="{FF2B5EF4-FFF2-40B4-BE49-F238E27FC236}">
                <a16:creationId xmlns:a16="http://schemas.microsoft.com/office/drawing/2014/main" id="{37C79D56-7049-2EEC-C075-F4D1B21A72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4465" y="892277"/>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304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DFD4746-FAE2-8D74-1ECA-8C736A458BCA}"/>
              </a:ext>
            </a:extLst>
          </p:cNvPr>
          <p:cNvSpPr>
            <a:spLocks noGrp="1"/>
          </p:cNvSpPr>
          <p:nvPr>
            <p:ph type="title"/>
          </p:nvPr>
        </p:nvSpPr>
        <p:spPr>
          <a:xfrm>
            <a:off x="640080" y="329184"/>
            <a:ext cx="6894576" cy="1783080"/>
          </a:xfrm>
        </p:spPr>
        <p:txBody>
          <a:bodyPr anchor="b">
            <a:normAutofit/>
          </a:bodyPr>
          <a:lstStyle/>
          <a:p>
            <a:r>
              <a:rPr lang="en-US" sz="5400" b="1"/>
              <a:t>Execução do ataque:</a:t>
            </a:r>
            <a:endParaRPr lang="pt-PT" sz="5400" b="1"/>
          </a:p>
        </p:txBody>
      </p:sp>
      <p:sp>
        <p:nvSpPr>
          <p:cNvPr id="9225"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ço Reservado para Conteúdo 2">
            <a:extLst>
              <a:ext uri="{FF2B5EF4-FFF2-40B4-BE49-F238E27FC236}">
                <a16:creationId xmlns:a16="http://schemas.microsoft.com/office/drawing/2014/main" id="{FF715B34-BBF8-25D0-09B5-31130BEA1AA9}"/>
              </a:ext>
            </a:extLst>
          </p:cNvPr>
          <p:cNvSpPr>
            <a:spLocks noGrp="1"/>
          </p:cNvSpPr>
          <p:nvPr>
            <p:ph idx="1"/>
          </p:nvPr>
        </p:nvSpPr>
        <p:spPr>
          <a:xfrm>
            <a:off x="640080" y="2706624"/>
            <a:ext cx="6894576" cy="3483864"/>
          </a:xfrm>
        </p:spPr>
        <p:txBody>
          <a:bodyPr>
            <a:normAutofit/>
          </a:bodyPr>
          <a:lstStyle/>
          <a:p>
            <a:pPr marL="0" indent="0">
              <a:buNone/>
            </a:pPr>
            <a:r>
              <a:rPr lang="pt-PT" sz="2000" b="1"/>
              <a:t>Passo 1: Iniciar o Servidor Apache e o Servidor de Captura</a:t>
            </a:r>
            <a:endParaRPr lang="pt-PT" sz="2000"/>
          </a:p>
          <a:p>
            <a:pPr lvl="1"/>
            <a:endParaRPr lang="pt-PT" sz="2000"/>
          </a:p>
          <a:p>
            <a:pPr lvl="1"/>
            <a:r>
              <a:rPr lang="pt-PT" sz="2000"/>
              <a:t>Na máquina Kali Linux, executamos o seguinte comando:</a:t>
            </a:r>
          </a:p>
          <a:p>
            <a:pPr lvl="1"/>
            <a:endParaRPr lang="pt-PT" sz="2000"/>
          </a:p>
          <a:p>
            <a:pPr lvl="1"/>
            <a:endParaRPr lang="pt-PT" sz="2000"/>
          </a:p>
          <a:p>
            <a:pPr lvl="1"/>
            <a:endParaRPr lang="pt-PT" sz="2000"/>
          </a:p>
          <a:p>
            <a:pPr lvl="1"/>
            <a:endParaRPr lang="pt-PT" sz="2000"/>
          </a:p>
          <a:p>
            <a:pPr lvl="1"/>
            <a:r>
              <a:rPr lang="pt-PT" sz="2000"/>
              <a:t>O servidor Python (porta 8000) será usado para capturar os cookies roubados.</a:t>
            </a:r>
          </a:p>
        </p:txBody>
      </p:sp>
      <p:pic>
        <p:nvPicPr>
          <p:cNvPr id="9218" name="Picture 2" descr="Attack - Free gaming icons">
            <a:extLst>
              <a:ext uri="{FF2B5EF4-FFF2-40B4-BE49-F238E27FC236}">
                <a16:creationId xmlns:a16="http://schemas.microsoft.com/office/drawing/2014/main" id="{AD9BC768-D6E2-1886-6463-0917C73D33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174736" y="2760519"/>
            <a:ext cx="3429969" cy="342996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m 4" descr="Interface gráfica do usuário, Texto, Site&#10;&#10;O conteúdo gerado por IA pode estar incorreto.">
            <a:extLst>
              <a:ext uri="{FF2B5EF4-FFF2-40B4-BE49-F238E27FC236}">
                <a16:creationId xmlns:a16="http://schemas.microsoft.com/office/drawing/2014/main" id="{E1523062-710F-1E25-092D-319F1EF882FB}"/>
              </a:ext>
            </a:extLst>
          </p:cNvPr>
          <p:cNvPicPr>
            <a:picLocks noChangeAspect="1"/>
          </p:cNvPicPr>
          <p:nvPr/>
        </p:nvPicPr>
        <p:blipFill>
          <a:blip r:embed="rId3"/>
          <a:stretch>
            <a:fillRect/>
          </a:stretch>
        </p:blipFill>
        <p:spPr>
          <a:xfrm>
            <a:off x="1851418" y="4257060"/>
            <a:ext cx="3995928" cy="679995"/>
          </a:xfrm>
          <a:prstGeom prst="rect">
            <a:avLst/>
          </a:prstGeom>
        </p:spPr>
      </p:pic>
    </p:spTree>
    <p:extLst>
      <p:ext uri="{BB962C8B-B14F-4D97-AF65-F5344CB8AC3E}">
        <p14:creationId xmlns:p14="http://schemas.microsoft.com/office/powerpoint/2010/main" val="2137132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CaixaDeTexto 5">
            <a:extLst>
              <a:ext uri="{FF2B5EF4-FFF2-40B4-BE49-F238E27FC236}">
                <a16:creationId xmlns:a16="http://schemas.microsoft.com/office/drawing/2014/main" id="{6DDEDF90-5AF0-2A82-09D1-C463EDBED7D6}"/>
              </a:ext>
            </a:extLst>
          </p:cNvPr>
          <p:cNvSpPr txBox="1"/>
          <p:nvPr/>
        </p:nvSpPr>
        <p:spPr>
          <a:xfrm>
            <a:off x="762000" y="1143486"/>
            <a:ext cx="4267200" cy="1437406"/>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200" b="1" kern="1200">
                <a:solidFill>
                  <a:schemeClr val="tx1"/>
                </a:solidFill>
                <a:latin typeface="+mj-lt"/>
                <a:ea typeface="+mj-ea"/>
                <a:cs typeface="+mj-cs"/>
              </a:rPr>
              <a:t>Passo 2: Construção do Payload Malicioso</a:t>
            </a:r>
          </a:p>
        </p:txBody>
      </p:sp>
      <p:cxnSp>
        <p:nvCxnSpPr>
          <p:cNvPr id="49" name="Straight Connector 48">
            <a:extLst>
              <a:ext uri="{FF2B5EF4-FFF2-40B4-BE49-F238E27FC236}">
                <a16:creationId xmlns:a16="http://schemas.microsoft.com/office/drawing/2014/main" id="{37C77032-C865-6057-7D7A-E2743CFA20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Espaço Reservado para Conteúdo 2">
            <a:extLst>
              <a:ext uri="{FF2B5EF4-FFF2-40B4-BE49-F238E27FC236}">
                <a16:creationId xmlns:a16="http://schemas.microsoft.com/office/drawing/2014/main" id="{870CB4E9-C906-7682-C158-DA3A7060F8C4}"/>
              </a:ext>
            </a:extLst>
          </p:cNvPr>
          <p:cNvSpPr>
            <a:spLocks noGrp="1"/>
          </p:cNvSpPr>
          <p:nvPr>
            <p:ph idx="1"/>
          </p:nvPr>
        </p:nvSpPr>
        <p:spPr>
          <a:xfrm>
            <a:off x="5825613" y="838200"/>
            <a:ext cx="5501247" cy="1866358"/>
          </a:xfrm>
        </p:spPr>
        <p:txBody>
          <a:bodyPr vert="horz" lIns="91440" tIns="45720" rIns="91440" bIns="45720" rtlCol="0">
            <a:normAutofit lnSpcReduction="10000"/>
          </a:bodyPr>
          <a:lstStyle/>
          <a:p>
            <a:pPr marL="0"/>
            <a:endParaRPr lang="en-US" sz="1400" b="1" dirty="0"/>
          </a:p>
          <a:p>
            <a:pPr marL="0" indent="0">
              <a:buNone/>
            </a:pPr>
            <a:r>
              <a:rPr lang="en-US" sz="1800" dirty="0"/>
              <a:t>Este payload </a:t>
            </a:r>
            <a:r>
              <a:rPr lang="en-US" sz="1800" dirty="0" err="1"/>
              <a:t>faz</a:t>
            </a:r>
            <a:r>
              <a:rPr lang="en-US" sz="1800" dirty="0"/>
              <a:t> com </a:t>
            </a:r>
            <a:r>
              <a:rPr lang="en-US" sz="1800" dirty="0" err="1"/>
              <a:t>que</a:t>
            </a:r>
            <a:r>
              <a:rPr lang="en-US" sz="1800" dirty="0"/>
              <a:t> o </a:t>
            </a:r>
            <a:r>
              <a:rPr lang="en-US" sz="1800" dirty="0" err="1"/>
              <a:t>navegador</a:t>
            </a:r>
            <a:r>
              <a:rPr lang="en-US" sz="1800" dirty="0"/>
              <a:t> da </a:t>
            </a:r>
            <a:r>
              <a:rPr lang="en-US" sz="1800" dirty="0" err="1"/>
              <a:t>vítima</a:t>
            </a:r>
            <a:r>
              <a:rPr lang="en-US" sz="1800" dirty="0"/>
              <a:t> execute JavaScript </a:t>
            </a:r>
            <a:r>
              <a:rPr lang="en-US" sz="1800" dirty="0" err="1"/>
              <a:t>que</a:t>
            </a:r>
            <a:r>
              <a:rPr lang="en-US" sz="1800" dirty="0"/>
              <a:t>:</a:t>
            </a:r>
          </a:p>
          <a:p>
            <a:pPr marL="914400" lvl="1"/>
            <a:r>
              <a:rPr lang="en-US" sz="1800" dirty="0" err="1"/>
              <a:t>Captura</a:t>
            </a:r>
            <a:r>
              <a:rPr lang="en-US" sz="1800" dirty="0"/>
              <a:t> </a:t>
            </a:r>
            <a:r>
              <a:rPr lang="en-US" sz="1800" dirty="0" err="1"/>
              <a:t>todos</a:t>
            </a:r>
            <a:r>
              <a:rPr lang="en-US" sz="1800" dirty="0"/>
              <a:t> </a:t>
            </a:r>
            <a:r>
              <a:rPr lang="en-US" sz="1800" dirty="0" err="1"/>
              <a:t>os</a:t>
            </a:r>
            <a:r>
              <a:rPr lang="en-US" sz="1800" dirty="0"/>
              <a:t> cookies da </a:t>
            </a:r>
            <a:r>
              <a:rPr lang="en-US" sz="1800" dirty="0" err="1"/>
              <a:t>sessão</a:t>
            </a:r>
            <a:r>
              <a:rPr lang="en-US" sz="1800" dirty="0"/>
              <a:t> (</a:t>
            </a:r>
            <a:r>
              <a:rPr lang="en-US" sz="1800" dirty="0" err="1"/>
              <a:t>document.cookie</a:t>
            </a:r>
            <a:r>
              <a:rPr lang="en-US" sz="1800" dirty="0"/>
              <a:t>)</a:t>
            </a:r>
          </a:p>
          <a:p>
            <a:pPr marL="914400" lvl="1"/>
            <a:r>
              <a:rPr lang="en-US" sz="1800" dirty="0" err="1"/>
              <a:t>Redireciona</a:t>
            </a:r>
            <a:r>
              <a:rPr lang="en-US" sz="1800" dirty="0"/>
              <a:t> para o </a:t>
            </a:r>
            <a:r>
              <a:rPr lang="en-US" sz="1800" dirty="0" err="1"/>
              <a:t>servidor</a:t>
            </a:r>
            <a:r>
              <a:rPr lang="en-US" sz="1800" dirty="0"/>
              <a:t> do </a:t>
            </a:r>
            <a:r>
              <a:rPr lang="en-US" sz="1800" dirty="0" err="1"/>
              <a:t>atacante</a:t>
            </a:r>
            <a:r>
              <a:rPr lang="en-US" sz="1800" dirty="0"/>
              <a:t> </a:t>
            </a:r>
            <a:r>
              <a:rPr lang="en-US" sz="1800" dirty="0" err="1"/>
              <a:t>enviando</a:t>
            </a:r>
            <a:r>
              <a:rPr lang="en-US" sz="1800" dirty="0"/>
              <a:t> </a:t>
            </a:r>
            <a:r>
              <a:rPr lang="en-US" sz="1800" dirty="0" err="1"/>
              <a:t>os</a:t>
            </a:r>
            <a:r>
              <a:rPr lang="en-US" sz="1800" dirty="0"/>
              <a:t> cookies </a:t>
            </a:r>
            <a:r>
              <a:rPr lang="en-US" sz="1800" dirty="0" err="1"/>
              <a:t>como</a:t>
            </a:r>
            <a:r>
              <a:rPr lang="en-US" sz="1800" dirty="0"/>
              <a:t> </a:t>
            </a:r>
            <a:r>
              <a:rPr lang="en-US" sz="1800" dirty="0" err="1"/>
              <a:t>parâmetro</a:t>
            </a:r>
            <a:endParaRPr lang="en-US" sz="1800" dirty="0"/>
          </a:p>
          <a:p>
            <a:pPr marL="0"/>
            <a:endParaRPr lang="en-US" sz="1400" dirty="0"/>
          </a:p>
        </p:txBody>
      </p:sp>
      <p:pic>
        <p:nvPicPr>
          <p:cNvPr id="5" name="Imagem 4">
            <a:extLst>
              <a:ext uri="{FF2B5EF4-FFF2-40B4-BE49-F238E27FC236}">
                <a16:creationId xmlns:a16="http://schemas.microsoft.com/office/drawing/2014/main" id="{D6E33E71-98A4-2ED1-81EC-C5E467E8F24B}"/>
              </a:ext>
            </a:extLst>
          </p:cNvPr>
          <p:cNvPicPr>
            <a:picLocks noChangeAspect="1"/>
          </p:cNvPicPr>
          <p:nvPr/>
        </p:nvPicPr>
        <p:blipFill>
          <a:blip r:embed="rId2"/>
          <a:stretch>
            <a:fillRect/>
          </a:stretch>
        </p:blipFill>
        <p:spPr>
          <a:xfrm>
            <a:off x="801757" y="4278367"/>
            <a:ext cx="10591800" cy="794385"/>
          </a:xfrm>
          <a:prstGeom prst="rect">
            <a:avLst/>
          </a:prstGeom>
        </p:spPr>
      </p:pic>
    </p:spTree>
    <p:extLst>
      <p:ext uri="{BB962C8B-B14F-4D97-AF65-F5344CB8AC3E}">
        <p14:creationId xmlns:p14="http://schemas.microsoft.com/office/powerpoint/2010/main" val="3613708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6F72B7-8CA1-8E4D-C5F5-0C9023AAF389}"/>
              </a:ext>
            </a:extLst>
          </p:cNvPr>
          <p:cNvSpPr>
            <a:spLocks noGrp="1"/>
          </p:cNvSpPr>
          <p:nvPr>
            <p:ph type="title"/>
          </p:nvPr>
        </p:nvSpPr>
        <p:spPr>
          <a:xfrm>
            <a:off x="800100" y="4167167"/>
            <a:ext cx="4229100" cy="2255461"/>
          </a:xfrm>
        </p:spPr>
        <p:txBody>
          <a:bodyPr anchor="t">
            <a:normAutofit/>
          </a:bodyPr>
          <a:lstStyle/>
          <a:p>
            <a:r>
              <a:rPr lang="pt-PT" sz="3200" b="1"/>
              <a:t>Passo 3: Envio do Link Malicioso</a:t>
            </a:r>
            <a:endParaRPr lang="pt-PT" sz="3200"/>
          </a:p>
        </p:txBody>
      </p:sp>
      <p:pic>
        <p:nvPicPr>
          <p:cNvPr id="5" name="Imagem 4" descr="Interface gráfica do usuário, Aplicativo&#10;&#10;O conteúdo gerado por IA pode estar incorreto.">
            <a:extLst>
              <a:ext uri="{FF2B5EF4-FFF2-40B4-BE49-F238E27FC236}">
                <a16:creationId xmlns:a16="http://schemas.microsoft.com/office/drawing/2014/main" id="{2AAB7FB1-D4ED-2910-B692-A61A5F2619A4}"/>
              </a:ext>
            </a:extLst>
          </p:cNvPr>
          <p:cNvPicPr>
            <a:picLocks noChangeAspect="1"/>
          </p:cNvPicPr>
          <p:nvPr/>
        </p:nvPicPr>
        <p:blipFill>
          <a:blip r:embed="rId2"/>
          <a:stretch>
            <a:fillRect/>
          </a:stretch>
        </p:blipFill>
        <p:spPr>
          <a:xfrm>
            <a:off x="866422" y="708589"/>
            <a:ext cx="10459156" cy="2719379"/>
          </a:xfrm>
          <a:prstGeom prst="rect">
            <a:avLst/>
          </a:prstGeom>
        </p:spPr>
      </p:pic>
      <p:cxnSp>
        <p:nvCxnSpPr>
          <p:cNvPr id="50" name="Straight Connector 49">
            <a:extLst>
              <a:ext uri="{FF2B5EF4-FFF2-40B4-BE49-F238E27FC236}">
                <a16:creationId xmlns:a16="http://schemas.microsoft.com/office/drawing/2014/main" id="{B7952C56-EE0E-C94A-9A44-E17DD73E84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6300" y="394327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Espaço Reservado para Conteúdo 2">
            <a:extLst>
              <a:ext uri="{FF2B5EF4-FFF2-40B4-BE49-F238E27FC236}">
                <a16:creationId xmlns:a16="http://schemas.microsoft.com/office/drawing/2014/main" id="{B6A832D5-7C57-ADD4-25DB-8B3B9C59B4F1}"/>
              </a:ext>
            </a:extLst>
          </p:cNvPr>
          <p:cNvSpPr>
            <a:spLocks noGrp="1"/>
          </p:cNvSpPr>
          <p:nvPr>
            <p:ph idx="1"/>
          </p:nvPr>
        </p:nvSpPr>
        <p:spPr>
          <a:xfrm>
            <a:off x="5987844" y="3854885"/>
            <a:ext cx="5365955" cy="2384552"/>
          </a:xfrm>
        </p:spPr>
        <p:txBody>
          <a:bodyPr>
            <a:normAutofit/>
          </a:bodyPr>
          <a:lstStyle/>
          <a:p>
            <a:r>
              <a:rPr lang="pt-PT" sz="1400"/>
              <a:t>O atacante envia este link para a vítima através de engenharia social (email, mensagem, etc.). Quando a vítima clica no link, o servidor Python na máquina Kali Linux recebe um pedido GET contendo TODOS os cookies</a:t>
            </a:r>
          </a:p>
          <a:p>
            <a:r>
              <a:rPr lang="pt-PT" sz="1400"/>
              <a:t>O atacante agora possui:</a:t>
            </a:r>
          </a:p>
          <a:p>
            <a:pPr lvl="1"/>
            <a:r>
              <a:rPr lang="pt-PT" sz="1400" b="1"/>
              <a:t>Username</a:t>
            </a:r>
            <a:r>
              <a:rPr lang="pt-PT" sz="1400"/>
              <a:t>: NOVO-UTILIZADOR (cookie usuario_logado)</a:t>
            </a:r>
          </a:p>
          <a:p>
            <a:pPr lvl="1"/>
            <a:r>
              <a:rPr lang="pt-PT" sz="1400" b="1"/>
              <a:t>Password</a:t>
            </a:r>
            <a:r>
              <a:rPr lang="pt-PT" sz="1400"/>
              <a:t>: NOVA-PASSWORD (cookie user_password)</a:t>
            </a:r>
          </a:p>
          <a:p>
            <a:pPr lvl="1"/>
            <a:r>
              <a:rPr lang="pt-PT" sz="1400" b="1"/>
              <a:t>Token de sessão</a:t>
            </a:r>
            <a:r>
              <a:rPr lang="pt-PT" sz="1400"/>
              <a:t>: (cookie session_token)</a:t>
            </a:r>
          </a:p>
          <a:p>
            <a:pPr lvl="1"/>
            <a:r>
              <a:rPr lang="pt-PT" sz="1400" b="1"/>
              <a:t>Session ID</a:t>
            </a:r>
            <a:r>
              <a:rPr lang="pt-PT" sz="1400"/>
              <a:t>: (cookie PHPSESSID)</a:t>
            </a:r>
          </a:p>
          <a:p>
            <a:endParaRPr lang="pt-PT" sz="1400"/>
          </a:p>
          <a:p>
            <a:endParaRPr lang="pt-PT" sz="1400"/>
          </a:p>
        </p:txBody>
      </p:sp>
    </p:spTree>
    <p:extLst>
      <p:ext uri="{BB962C8B-B14F-4D97-AF65-F5344CB8AC3E}">
        <p14:creationId xmlns:p14="http://schemas.microsoft.com/office/powerpoint/2010/main" val="33178186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A356C96-E7BB-1B09-091A-0655CFA7BA68}"/>
              </a:ext>
            </a:extLst>
          </p:cNvPr>
          <p:cNvSpPr>
            <a:spLocks noGrp="1"/>
          </p:cNvSpPr>
          <p:nvPr>
            <p:ph type="title"/>
          </p:nvPr>
        </p:nvSpPr>
        <p:spPr>
          <a:xfrm>
            <a:off x="6547771" y="381001"/>
            <a:ext cx="4156512" cy="1327243"/>
          </a:xfrm>
        </p:spPr>
        <p:txBody>
          <a:bodyPr anchor="ctr">
            <a:normAutofit fontScale="90000"/>
          </a:bodyPr>
          <a:lstStyle/>
          <a:p>
            <a:r>
              <a:rPr lang="pt-PT" sz="3700" b="1" dirty="0"/>
              <a:t>Gravidade da Vulnerabilidade:</a:t>
            </a:r>
            <a:br>
              <a:rPr lang="pt-PT" sz="3700" b="1" dirty="0"/>
            </a:br>
            <a:endParaRPr lang="pt-PT" sz="3700" dirty="0"/>
          </a:p>
        </p:txBody>
      </p:sp>
      <p:pic>
        <p:nvPicPr>
          <p:cNvPr id="5" name="Picture 4" descr="Script de computador em uma tela">
            <a:extLst>
              <a:ext uri="{FF2B5EF4-FFF2-40B4-BE49-F238E27FC236}">
                <a16:creationId xmlns:a16="http://schemas.microsoft.com/office/drawing/2014/main" id="{F9F9E290-1983-DECB-31B2-526B737E5F16}"/>
              </a:ext>
            </a:extLst>
          </p:cNvPr>
          <p:cNvPicPr>
            <a:picLocks noChangeAspect="1"/>
          </p:cNvPicPr>
          <p:nvPr/>
        </p:nvPicPr>
        <p:blipFill>
          <a:blip r:embed="rId2"/>
          <a:srcRect l="121" r="40545" b="-2"/>
          <a:stretch>
            <a:fillRect/>
          </a:stretch>
        </p:blipFill>
        <p:spPr>
          <a:xfrm>
            <a:off x="-1" y="-2"/>
            <a:ext cx="6096001" cy="6858002"/>
          </a:xfrm>
          <a:prstGeom prst="rect">
            <a:avLst/>
          </a:prstGeom>
        </p:spPr>
      </p:pic>
      <p:sp>
        <p:nvSpPr>
          <p:cNvPr id="3" name="Espaço Reservado para Conteúdo 2">
            <a:extLst>
              <a:ext uri="{FF2B5EF4-FFF2-40B4-BE49-F238E27FC236}">
                <a16:creationId xmlns:a16="http://schemas.microsoft.com/office/drawing/2014/main" id="{91E6CEB4-6243-AC12-7C6E-AA783D569581}"/>
              </a:ext>
            </a:extLst>
          </p:cNvPr>
          <p:cNvSpPr>
            <a:spLocks noGrp="1"/>
          </p:cNvSpPr>
          <p:nvPr>
            <p:ph idx="1"/>
          </p:nvPr>
        </p:nvSpPr>
        <p:spPr>
          <a:xfrm>
            <a:off x="6677950" y="1524000"/>
            <a:ext cx="4478103" cy="4952999"/>
          </a:xfrm>
        </p:spPr>
        <p:txBody>
          <a:bodyPr anchor="ctr">
            <a:normAutofit fontScale="85000" lnSpcReduction="20000"/>
          </a:bodyPr>
          <a:lstStyle/>
          <a:p>
            <a:pPr marL="0" indent="0">
              <a:buNone/>
            </a:pPr>
            <a:r>
              <a:rPr lang="pt-PT" sz="1900" dirty="0"/>
              <a:t>Este cenário demonstra uma vulnerabilidade de severidade crítica que combina:</a:t>
            </a:r>
          </a:p>
          <a:p>
            <a:pPr marL="0" indent="0">
              <a:buNone/>
            </a:pPr>
            <a:endParaRPr lang="pt-PT" sz="1900" dirty="0"/>
          </a:p>
          <a:p>
            <a:pPr lvl="1"/>
            <a:r>
              <a:rPr lang="pt-PT" sz="1900" b="1" dirty="0"/>
              <a:t>Reflected XSS</a:t>
            </a:r>
            <a:r>
              <a:rPr lang="pt-PT" sz="1900" dirty="0"/>
              <a:t>: Permite execução de código JavaScript arbitrário</a:t>
            </a:r>
          </a:p>
          <a:p>
            <a:pPr lvl="1"/>
            <a:r>
              <a:rPr lang="pt-PT" sz="1900" b="1" dirty="0"/>
              <a:t>Armazenamento inseguro de credenciais</a:t>
            </a:r>
            <a:r>
              <a:rPr lang="pt-PT" sz="1900" dirty="0"/>
              <a:t>: Passwords guardadas em texto plano em cookies</a:t>
            </a:r>
          </a:p>
          <a:p>
            <a:pPr lvl="1"/>
            <a:r>
              <a:rPr lang="pt-PT" sz="1900" b="1" dirty="0"/>
              <a:t>Falta de proteção HTTPOnly</a:t>
            </a:r>
            <a:r>
              <a:rPr lang="pt-PT" sz="1900" dirty="0"/>
              <a:t>: Cookies acessíveis via JavaScript</a:t>
            </a:r>
          </a:p>
          <a:p>
            <a:pPr lvl="1"/>
            <a:r>
              <a:rPr lang="pt-PT" sz="1900" b="1" dirty="0"/>
              <a:t>Falta de proteção Secure</a:t>
            </a:r>
            <a:r>
              <a:rPr lang="pt-PT" sz="1900" dirty="0"/>
              <a:t>: Cookies transmitidos sem HTTPS</a:t>
            </a:r>
          </a:p>
          <a:p>
            <a:pPr marL="0" indent="0">
              <a:buNone/>
            </a:pPr>
            <a:endParaRPr lang="pt-PT" sz="1100" dirty="0"/>
          </a:p>
          <a:p>
            <a:pPr marL="0" indent="0">
              <a:buNone/>
            </a:pPr>
            <a:r>
              <a:rPr lang="pt-PT" sz="1900" dirty="0"/>
              <a:t>Com estas informações, o atacante pode:</a:t>
            </a:r>
          </a:p>
          <a:p>
            <a:pPr marL="0" indent="0">
              <a:buNone/>
            </a:pPr>
            <a:endParaRPr lang="pt-PT" sz="1900" dirty="0"/>
          </a:p>
          <a:p>
            <a:pPr lvl="1"/>
            <a:r>
              <a:rPr lang="pt-PT" sz="1900" dirty="0"/>
              <a:t>Fazer login como a vítima em qualquer momento</a:t>
            </a:r>
          </a:p>
          <a:p>
            <a:pPr lvl="1"/>
            <a:r>
              <a:rPr lang="pt-PT" sz="1900" dirty="0"/>
              <a:t>Aceder a todas as funcionalidades da conta</a:t>
            </a:r>
          </a:p>
          <a:p>
            <a:pPr lvl="1"/>
            <a:r>
              <a:rPr lang="pt-PT" sz="1900" dirty="0"/>
              <a:t>Modificar dados do utilizador</a:t>
            </a:r>
          </a:p>
          <a:p>
            <a:pPr lvl="1"/>
            <a:r>
              <a:rPr lang="pt-PT" sz="1900" dirty="0"/>
              <a:t>Realizar ações em nome da vítima</a:t>
            </a:r>
          </a:p>
          <a:p>
            <a:endParaRPr lang="pt-PT" sz="1100" dirty="0"/>
          </a:p>
        </p:txBody>
      </p:sp>
    </p:spTree>
    <p:extLst>
      <p:ext uri="{BB962C8B-B14F-4D97-AF65-F5344CB8AC3E}">
        <p14:creationId xmlns:p14="http://schemas.microsoft.com/office/powerpoint/2010/main" val="22778104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4D94D20-0EF1-4E8B-A0E1-117A9E413A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58B3569-73B2-4D05-8E95-886A6EE1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ítulo 1">
            <a:extLst>
              <a:ext uri="{FF2B5EF4-FFF2-40B4-BE49-F238E27FC236}">
                <a16:creationId xmlns:a16="http://schemas.microsoft.com/office/drawing/2014/main" id="{9DAA1E73-1171-9C7E-53BB-51E70AE03150}"/>
              </a:ext>
            </a:extLst>
          </p:cNvPr>
          <p:cNvSpPr>
            <a:spLocks noGrp="1"/>
          </p:cNvSpPr>
          <p:nvPr>
            <p:ph type="title"/>
          </p:nvPr>
        </p:nvSpPr>
        <p:spPr>
          <a:xfrm>
            <a:off x="457200" y="1598246"/>
            <a:ext cx="4412419" cy="3626217"/>
          </a:xfrm>
        </p:spPr>
        <p:txBody>
          <a:bodyPr vert="horz" lIns="91440" tIns="45720" rIns="91440" bIns="45720" rtlCol="0" anchor="t">
            <a:normAutofit/>
          </a:bodyPr>
          <a:lstStyle/>
          <a:p>
            <a:pPr algn="r"/>
            <a:r>
              <a:rPr lang="en-US" b="1">
                <a:solidFill>
                  <a:srgbClr val="FFFFFF"/>
                </a:solidFill>
              </a:rPr>
              <a:t>Mitigação das Vulnerabilidades</a:t>
            </a:r>
            <a:br>
              <a:rPr lang="en-US" b="1">
                <a:solidFill>
                  <a:srgbClr val="FFFFFF"/>
                </a:solidFill>
              </a:rPr>
            </a:br>
            <a:endParaRPr lang="en-US">
              <a:solidFill>
                <a:srgbClr val="FFFFFF"/>
              </a:solidFill>
            </a:endParaRPr>
          </a:p>
        </p:txBody>
      </p:sp>
      <p:cxnSp>
        <p:nvCxnSpPr>
          <p:cNvPr id="29" name="Straight Connector 28">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9" name="Espaço Reservado para Conteúdo 8" descr="Interface gráfica do usuário, Aplicativo, Site&#10;&#10;O conteúdo gerado por IA pode estar incorreto.">
            <a:extLst>
              <a:ext uri="{FF2B5EF4-FFF2-40B4-BE49-F238E27FC236}">
                <a16:creationId xmlns:a16="http://schemas.microsoft.com/office/drawing/2014/main" id="{3CCCB8BE-51B2-C4C8-0565-C71894977D8D}"/>
              </a:ext>
            </a:extLst>
          </p:cNvPr>
          <p:cNvPicPr>
            <a:picLocks noGrp="1" noChangeAspect="1"/>
          </p:cNvPicPr>
          <p:nvPr>
            <p:ph idx="1"/>
          </p:nvPr>
        </p:nvPicPr>
        <p:blipFill>
          <a:blip r:embed="rId2"/>
          <a:stretch>
            <a:fillRect/>
          </a:stretch>
        </p:blipFill>
        <p:spPr>
          <a:xfrm>
            <a:off x="5986915" y="2000501"/>
            <a:ext cx="5747883" cy="991509"/>
          </a:xfrm>
          <a:prstGeom prst="rect">
            <a:avLst/>
          </a:prstGeom>
        </p:spPr>
      </p:pic>
      <p:grpSp>
        <p:nvGrpSpPr>
          <p:cNvPr id="31" name="Group 30">
            <a:extLst>
              <a:ext uri="{FF2B5EF4-FFF2-40B4-BE49-F238E27FC236}">
                <a16:creationId xmlns:a16="http://schemas.microsoft.com/office/drawing/2014/main" id="{78B3681E-1C1D-4D0E-A1DE-AE2E3D03C2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12034" y="1267063"/>
            <a:ext cx="368480" cy="519967"/>
            <a:chOff x="11512034" y="1267063"/>
            <a:chExt cx="368480" cy="519967"/>
          </a:xfrm>
          <a:solidFill>
            <a:srgbClr val="FFFFFF"/>
          </a:solidFill>
        </p:grpSpPr>
        <p:sp>
          <p:nvSpPr>
            <p:cNvPr id="32" name="Graphic 17">
              <a:extLst>
                <a:ext uri="{FF2B5EF4-FFF2-40B4-BE49-F238E27FC236}">
                  <a16:creationId xmlns:a16="http://schemas.microsoft.com/office/drawing/2014/main" id="{B71758F4-3F46-45DA-8AC5-4E508DA080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12034" y="1267063"/>
              <a:ext cx="139037" cy="139039"/>
            </a:xfrm>
            <a:custGeom>
              <a:avLst/>
              <a:gdLst>
                <a:gd name="connsiteX0" fmla="*/ 129600 w 139037"/>
                <a:gd name="connsiteY0" fmla="*/ 60082 h 139039"/>
                <a:gd name="connsiteX1" fmla="*/ 78955 w 139037"/>
                <a:gd name="connsiteY1" fmla="*/ 60082 h 139039"/>
                <a:gd name="connsiteX2" fmla="*/ 78955 w 139037"/>
                <a:gd name="connsiteY2" fmla="*/ 9437 h 139039"/>
                <a:gd name="connsiteX3" fmla="*/ 69519 w 139037"/>
                <a:gd name="connsiteY3" fmla="*/ 0 h 139039"/>
                <a:gd name="connsiteX4" fmla="*/ 60082 w 139037"/>
                <a:gd name="connsiteY4" fmla="*/ 9437 h 139039"/>
                <a:gd name="connsiteX5" fmla="*/ 60082 w 139037"/>
                <a:gd name="connsiteY5" fmla="*/ 60082 h 139039"/>
                <a:gd name="connsiteX6" fmla="*/ 9437 w 139037"/>
                <a:gd name="connsiteY6" fmla="*/ 60082 h 139039"/>
                <a:gd name="connsiteX7" fmla="*/ 0 w 139037"/>
                <a:gd name="connsiteY7" fmla="*/ 69520 h 139039"/>
                <a:gd name="connsiteX8" fmla="*/ 9437 w 139037"/>
                <a:gd name="connsiteY8" fmla="*/ 78957 h 139039"/>
                <a:gd name="connsiteX9" fmla="*/ 60082 w 139037"/>
                <a:gd name="connsiteY9" fmla="*/ 78957 h 139039"/>
                <a:gd name="connsiteX10" fmla="*/ 60082 w 139037"/>
                <a:gd name="connsiteY10" fmla="*/ 129602 h 139039"/>
                <a:gd name="connsiteX11" fmla="*/ 69519 w 139037"/>
                <a:gd name="connsiteY11" fmla="*/ 139039 h 139039"/>
                <a:gd name="connsiteX12" fmla="*/ 78955 w 139037"/>
                <a:gd name="connsiteY12" fmla="*/ 129602 h 139039"/>
                <a:gd name="connsiteX13" fmla="*/ 78955 w 139037"/>
                <a:gd name="connsiteY13" fmla="*/ 78957 h 139039"/>
                <a:gd name="connsiteX14" fmla="*/ 129600 w 139037"/>
                <a:gd name="connsiteY14" fmla="*/ 78957 h 139039"/>
                <a:gd name="connsiteX15" fmla="*/ 139037 w 139037"/>
                <a:gd name="connsiteY15" fmla="*/ 69520 h 139039"/>
                <a:gd name="connsiteX16" fmla="*/ 129600 w 139037"/>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7" h="139039">
                  <a:moveTo>
                    <a:pt x="129600" y="60082"/>
                  </a:moveTo>
                  <a:lnTo>
                    <a:pt x="78955" y="60082"/>
                  </a:lnTo>
                  <a:lnTo>
                    <a:pt x="78955" y="9437"/>
                  </a:lnTo>
                  <a:cubicBezTo>
                    <a:pt x="78955" y="4225"/>
                    <a:pt x="74730" y="0"/>
                    <a:pt x="69519" y="0"/>
                  </a:cubicBezTo>
                  <a:cubicBezTo>
                    <a:pt x="64307"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7" y="139039"/>
                    <a:pt x="69519" y="139039"/>
                  </a:cubicBezTo>
                  <a:cubicBezTo>
                    <a:pt x="74730" y="139039"/>
                    <a:pt x="78955" y="134814"/>
                    <a:pt x="78955" y="129602"/>
                  </a:cubicBezTo>
                  <a:lnTo>
                    <a:pt x="78955" y="78957"/>
                  </a:lnTo>
                  <a:lnTo>
                    <a:pt x="129600" y="78957"/>
                  </a:lnTo>
                  <a:cubicBezTo>
                    <a:pt x="134812" y="78957"/>
                    <a:pt x="139037" y="74731"/>
                    <a:pt x="139037" y="69520"/>
                  </a:cubicBezTo>
                  <a:cubicBezTo>
                    <a:pt x="139037" y="64308"/>
                    <a:pt x="134812" y="60082"/>
                    <a:pt x="129600" y="60082"/>
                  </a:cubicBezTo>
                  <a:close/>
                </a:path>
              </a:pathLst>
            </a:custGeom>
            <a:grpFill/>
            <a:ln w="603" cap="flat">
              <a:noFill/>
              <a:prstDash val="solid"/>
              <a:miter/>
            </a:ln>
          </p:spPr>
          <p:txBody>
            <a:bodyPr rtlCol="0" anchor="ctr"/>
            <a:lstStyle/>
            <a:p>
              <a:endParaRPr lang="en-US">
                <a:solidFill>
                  <a:srgbClr val="FFFFFF"/>
                </a:solidFill>
              </a:endParaRPr>
            </a:p>
          </p:txBody>
        </p:sp>
        <p:sp>
          <p:nvSpPr>
            <p:cNvPr id="33" name="Graphic 21">
              <a:extLst>
                <a:ext uri="{FF2B5EF4-FFF2-40B4-BE49-F238E27FC236}">
                  <a16:creationId xmlns:a16="http://schemas.microsoft.com/office/drawing/2014/main" id="{8D61482F-F3C5-4D66-8C5D-C6BBE3E12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52801" y="1659316"/>
              <a:ext cx="127713" cy="127714"/>
            </a:xfrm>
            <a:custGeom>
              <a:avLst/>
              <a:gdLst>
                <a:gd name="connsiteX0" fmla="*/ 63857 w 127713"/>
                <a:gd name="connsiteY0" fmla="*/ 18874 h 127714"/>
                <a:gd name="connsiteX1" fmla="*/ 108839 w 127713"/>
                <a:gd name="connsiteY1" fmla="*/ 63857 h 127714"/>
                <a:gd name="connsiteX2" fmla="*/ 63857 w 127713"/>
                <a:gd name="connsiteY2" fmla="*/ 108840 h 127714"/>
                <a:gd name="connsiteX3" fmla="*/ 18874 w 127713"/>
                <a:gd name="connsiteY3" fmla="*/ 63857 h 127714"/>
                <a:gd name="connsiteX4" fmla="*/ 63857 w 127713"/>
                <a:gd name="connsiteY4" fmla="*/ 18874 h 127714"/>
                <a:gd name="connsiteX5" fmla="*/ 63857 w 127713"/>
                <a:gd name="connsiteY5" fmla="*/ 0 h 127714"/>
                <a:gd name="connsiteX6" fmla="*/ 0 w 127713"/>
                <a:gd name="connsiteY6" fmla="*/ 63857 h 127714"/>
                <a:gd name="connsiteX7" fmla="*/ 63857 w 127713"/>
                <a:gd name="connsiteY7" fmla="*/ 127714 h 127714"/>
                <a:gd name="connsiteX8" fmla="*/ 127713 w 127713"/>
                <a:gd name="connsiteY8" fmla="*/ 63857 h 127714"/>
                <a:gd name="connsiteX9" fmla="*/ 63857 w 127713"/>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4">
                  <a:moveTo>
                    <a:pt x="63857" y="18874"/>
                  </a:moveTo>
                  <a:cubicBezTo>
                    <a:pt x="88700" y="18874"/>
                    <a:pt x="108839" y="39014"/>
                    <a:pt x="108839" y="63857"/>
                  </a:cubicBezTo>
                  <a:cubicBezTo>
                    <a:pt x="108839" y="88700"/>
                    <a:pt x="88700" y="108840"/>
                    <a:pt x="63857" y="108840"/>
                  </a:cubicBezTo>
                  <a:cubicBezTo>
                    <a:pt x="39013" y="108840"/>
                    <a:pt x="18874" y="88700"/>
                    <a:pt x="18874" y="63857"/>
                  </a:cubicBezTo>
                  <a:cubicBezTo>
                    <a:pt x="18898" y="39024"/>
                    <a:pt x="39023" y="18898"/>
                    <a:pt x="63857" y="18874"/>
                  </a:cubicBezTo>
                  <a:moveTo>
                    <a:pt x="63857" y="0"/>
                  </a:moveTo>
                  <a:cubicBezTo>
                    <a:pt x="28590" y="0"/>
                    <a:pt x="0" y="28590"/>
                    <a:pt x="0" y="63857"/>
                  </a:cubicBezTo>
                  <a:cubicBezTo>
                    <a:pt x="0" y="99124"/>
                    <a:pt x="28590" y="127714"/>
                    <a:pt x="63857" y="127714"/>
                  </a:cubicBezTo>
                  <a:cubicBezTo>
                    <a:pt x="99124" y="127714"/>
                    <a:pt x="127713" y="99124"/>
                    <a:pt x="127713" y="63857"/>
                  </a:cubicBezTo>
                  <a:cubicBezTo>
                    <a:pt x="127713" y="28590"/>
                    <a:pt x="99124" y="0"/>
                    <a:pt x="63857" y="0"/>
                  </a:cubicBezTo>
                  <a:close/>
                </a:path>
              </a:pathLst>
            </a:custGeom>
            <a:grpFill/>
            <a:ln w="610" cap="flat">
              <a:noFill/>
              <a:prstDash val="solid"/>
              <a:miter/>
            </a:ln>
          </p:spPr>
          <p:txBody>
            <a:bodyPr rtlCol="0" anchor="ctr"/>
            <a:lstStyle/>
            <a:p>
              <a:endParaRPr lang="en-US">
                <a:solidFill>
                  <a:srgbClr val="FFFFFF"/>
                </a:solidFill>
              </a:endParaRPr>
            </a:p>
          </p:txBody>
        </p:sp>
      </p:grpSp>
      <p:pic>
        <p:nvPicPr>
          <p:cNvPr id="13" name="Imagem 12" descr="Interface gráfica do usuário, Texto&#10;&#10;O conteúdo gerado por IA pode estar incorreto.">
            <a:extLst>
              <a:ext uri="{FF2B5EF4-FFF2-40B4-BE49-F238E27FC236}">
                <a16:creationId xmlns:a16="http://schemas.microsoft.com/office/drawing/2014/main" id="{159E5EA0-9ED6-0FFE-F138-FC5D46AE405B}"/>
              </a:ext>
            </a:extLst>
          </p:cNvPr>
          <p:cNvPicPr>
            <a:picLocks noChangeAspect="1"/>
          </p:cNvPicPr>
          <p:nvPr/>
        </p:nvPicPr>
        <p:blipFill>
          <a:blip r:embed="rId3"/>
          <a:stretch>
            <a:fillRect/>
          </a:stretch>
        </p:blipFill>
        <p:spPr>
          <a:xfrm>
            <a:off x="5986925" y="3572781"/>
            <a:ext cx="5747872" cy="1077877"/>
          </a:xfrm>
          <a:prstGeom prst="rect">
            <a:avLst/>
          </a:prstGeom>
        </p:spPr>
      </p:pic>
      <p:pic>
        <p:nvPicPr>
          <p:cNvPr id="15" name="Imagem 14" descr="Interface gráfica do usuário, Aplicativo, Site&#10;&#10;O conteúdo gerado por IA pode estar incorreto.">
            <a:extLst>
              <a:ext uri="{FF2B5EF4-FFF2-40B4-BE49-F238E27FC236}">
                <a16:creationId xmlns:a16="http://schemas.microsoft.com/office/drawing/2014/main" id="{EB7F9976-87B3-6BAD-48AD-0FE0F302A5D4}"/>
              </a:ext>
            </a:extLst>
          </p:cNvPr>
          <p:cNvPicPr>
            <a:picLocks noChangeAspect="1"/>
          </p:cNvPicPr>
          <p:nvPr/>
        </p:nvPicPr>
        <p:blipFill>
          <a:blip r:embed="rId4"/>
          <a:stretch>
            <a:fillRect/>
          </a:stretch>
        </p:blipFill>
        <p:spPr>
          <a:xfrm>
            <a:off x="5986925" y="5172910"/>
            <a:ext cx="5747871" cy="1077876"/>
          </a:xfrm>
          <a:prstGeom prst="rect">
            <a:avLst/>
          </a:prstGeom>
        </p:spPr>
      </p:pic>
    </p:spTree>
    <p:extLst>
      <p:ext uri="{BB962C8B-B14F-4D97-AF65-F5344CB8AC3E}">
        <p14:creationId xmlns:p14="http://schemas.microsoft.com/office/powerpoint/2010/main" val="1377848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5EA0AD-EF53-0BC3-7895-302598F18BD0}"/>
            </a:ext>
          </a:extLst>
        </p:cNvPr>
        <p:cNvGrpSpPr/>
        <p:nvPr/>
      </p:nvGrpSpPr>
      <p:grpSpPr>
        <a:xfrm>
          <a:off x="0" y="0"/>
          <a:ext cx="0" cy="0"/>
          <a:chOff x="0" y="0"/>
          <a:chExt cx="0" cy="0"/>
        </a:xfrm>
      </p:grpSpPr>
      <p:pic>
        <p:nvPicPr>
          <p:cNvPr id="2" name="Picture 1" descr="What are the different types of XSS? - Blog Detectify">
            <a:extLst>
              <a:ext uri="{FF2B5EF4-FFF2-40B4-BE49-F238E27FC236}">
                <a16:creationId xmlns:a16="http://schemas.microsoft.com/office/drawing/2014/main" id="{A0D62429-5454-1D2A-EF6E-7C8BFC5DAE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88" y="0"/>
            <a:ext cx="11215625" cy="685799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p:spPr>
      </p:pic>
      <p:sp useBgFill="1">
        <p:nvSpPr>
          <p:cNvPr id="20" name="Rectangle 19">
            <a:extLst>
              <a:ext uri="{FF2B5EF4-FFF2-40B4-BE49-F238E27FC236}">
                <a16:creationId xmlns:a16="http://schemas.microsoft.com/office/drawing/2014/main" id="{A4D94D20-0EF1-4E8B-A0E1-117A9E413A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58B3569-73B2-4D05-8E95-886A6EE1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cxnSp>
        <p:nvCxnSpPr>
          <p:cNvPr id="24" name="Straight Connector 2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78B3681E-1C1D-4D0E-A1DE-AE2E3D03C2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12034" y="1267063"/>
            <a:ext cx="368480" cy="519967"/>
            <a:chOff x="11512034" y="1267063"/>
            <a:chExt cx="368480" cy="519967"/>
          </a:xfrm>
          <a:solidFill>
            <a:srgbClr val="FFFFFF"/>
          </a:solidFill>
        </p:grpSpPr>
        <p:sp>
          <p:nvSpPr>
            <p:cNvPr id="27" name="Graphic 17">
              <a:extLst>
                <a:ext uri="{FF2B5EF4-FFF2-40B4-BE49-F238E27FC236}">
                  <a16:creationId xmlns:a16="http://schemas.microsoft.com/office/drawing/2014/main" id="{B71758F4-3F46-45DA-8AC5-4E508DA080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12034" y="1267063"/>
              <a:ext cx="139037" cy="139039"/>
            </a:xfrm>
            <a:custGeom>
              <a:avLst/>
              <a:gdLst>
                <a:gd name="connsiteX0" fmla="*/ 129600 w 139037"/>
                <a:gd name="connsiteY0" fmla="*/ 60082 h 139039"/>
                <a:gd name="connsiteX1" fmla="*/ 78955 w 139037"/>
                <a:gd name="connsiteY1" fmla="*/ 60082 h 139039"/>
                <a:gd name="connsiteX2" fmla="*/ 78955 w 139037"/>
                <a:gd name="connsiteY2" fmla="*/ 9437 h 139039"/>
                <a:gd name="connsiteX3" fmla="*/ 69519 w 139037"/>
                <a:gd name="connsiteY3" fmla="*/ 0 h 139039"/>
                <a:gd name="connsiteX4" fmla="*/ 60082 w 139037"/>
                <a:gd name="connsiteY4" fmla="*/ 9437 h 139039"/>
                <a:gd name="connsiteX5" fmla="*/ 60082 w 139037"/>
                <a:gd name="connsiteY5" fmla="*/ 60082 h 139039"/>
                <a:gd name="connsiteX6" fmla="*/ 9437 w 139037"/>
                <a:gd name="connsiteY6" fmla="*/ 60082 h 139039"/>
                <a:gd name="connsiteX7" fmla="*/ 0 w 139037"/>
                <a:gd name="connsiteY7" fmla="*/ 69520 h 139039"/>
                <a:gd name="connsiteX8" fmla="*/ 9437 w 139037"/>
                <a:gd name="connsiteY8" fmla="*/ 78957 h 139039"/>
                <a:gd name="connsiteX9" fmla="*/ 60082 w 139037"/>
                <a:gd name="connsiteY9" fmla="*/ 78957 h 139039"/>
                <a:gd name="connsiteX10" fmla="*/ 60082 w 139037"/>
                <a:gd name="connsiteY10" fmla="*/ 129602 h 139039"/>
                <a:gd name="connsiteX11" fmla="*/ 69519 w 139037"/>
                <a:gd name="connsiteY11" fmla="*/ 139039 h 139039"/>
                <a:gd name="connsiteX12" fmla="*/ 78955 w 139037"/>
                <a:gd name="connsiteY12" fmla="*/ 129602 h 139039"/>
                <a:gd name="connsiteX13" fmla="*/ 78955 w 139037"/>
                <a:gd name="connsiteY13" fmla="*/ 78957 h 139039"/>
                <a:gd name="connsiteX14" fmla="*/ 129600 w 139037"/>
                <a:gd name="connsiteY14" fmla="*/ 78957 h 139039"/>
                <a:gd name="connsiteX15" fmla="*/ 139037 w 139037"/>
                <a:gd name="connsiteY15" fmla="*/ 69520 h 139039"/>
                <a:gd name="connsiteX16" fmla="*/ 129600 w 139037"/>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7" h="139039">
                  <a:moveTo>
                    <a:pt x="129600" y="60082"/>
                  </a:moveTo>
                  <a:lnTo>
                    <a:pt x="78955" y="60082"/>
                  </a:lnTo>
                  <a:lnTo>
                    <a:pt x="78955" y="9437"/>
                  </a:lnTo>
                  <a:cubicBezTo>
                    <a:pt x="78955" y="4225"/>
                    <a:pt x="74730" y="0"/>
                    <a:pt x="69519" y="0"/>
                  </a:cubicBezTo>
                  <a:cubicBezTo>
                    <a:pt x="64307"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7" y="139039"/>
                    <a:pt x="69519" y="139039"/>
                  </a:cubicBezTo>
                  <a:cubicBezTo>
                    <a:pt x="74730" y="139039"/>
                    <a:pt x="78955" y="134814"/>
                    <a:pt x="78955" y="129602"/>
                  </a:cubicBezTo>
                  <a:lnTo>
                    <a:pt x="78955" y="78957"/>
                  </a:lnTo>
                  <a:lnTo>
                    <a:pt x="129600" y="78957"/>
                  </a:lnTo>
                  <a:cubicBezTo>
                    <a:pt x="134812" y="78957"/>
                    <a:pt x="139037" y="74731"/>
                    <a:pt x="139037" y="69520"/>
                  </a:cubicBezTo>
                  <a:cubicBezTo>
                    <a:pt x="139037" y="64308"/>
                    <a:pt x="134812" y="60082"/>
                    <a:pt x="129600" y="60082"/>
                  </a:cubicBezTo>
                  <a:close/>
                </a:path>
              </a:pathLst>
            </a:custGeom>
            <a:grpFill/>
            <a:ln w="603" cap="flat">
              <a:noFill/>
              <a:prstDash val="solid"/>
              <a:miter/>
            </a:ln>
          </p:spPr>
          <p:txBody>
            <a:bodyPr rtlCol="0" anchor="ctr"/>
            <a:lstStyle/>
            <a:p>
              <a:endParaRPr lang="en-US">
                <a:solidFill>
                  <a:srgbClr val="FFFFFF"/>
                </a:solidFill>
              </a:endParaRPr>
            </a:p>
          </p:txBody>
        </p:sp>
        <p:sp>
          <p:nvSpPr>
            <p:cNvPr id="28" name="Graphic 21">
              <a:extLst>
                <a:ext uri="{FF2B5EF4-FFF2-40B4-BE49-F238E27FC236}">
                  <a16:creationId xmlns:a16="http://schemas.microsoft.com/office/drawing/2014/main" id="{8D61482F-F3C5-4D66-8C5D-C6BBE3E12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52801" y="1659316"/>
              <a:ext cx="127713" cy="127714"/>
            </a:xfrm>
            <a:custGeom>
              <a:avLst/>
              <a:gdLst>
                <a:gd name="connsiteX0" fmla="*/ 63857 w 127713"/>
                <a:gd name="connsiteY0" fmla="*/ 18874 h 127714"/>
                <a:gd name="connsiteX1" fmla="*/ 108839 w 127713"/>
                <a:gd name="connsiteY1" fmla="*/ 63857 h 127714"/>
                <a:gd name="connsiteX2" fmla="*/ 63857 w 127713"/>
                <a:gd name="connsiteY2" fmla="*/ 108840 h 127714"/>
                <a:gd name="connsiteX3" fmla="*/ 18874 w 127713"/>
                <a:gd name="connsiteY3" fmla="*/ 63857 h 127714"/>
                <a:gd name="connsiteX4" fmla="*/ 63857 w 127713"/>
                <a:gd name="connsiteY4" fmla="*/ 18874 h 127714"/>
                <a:gd name="connsiteX5" fmla="*/ 63857 w 127713"/>
                <a:gd name="connsiteY5" fmla="*/ 0 h 127714"/>
                <a:gd name="connsiteX6" fmla="*/ 0 w 127713"/>
                <a:gd name="connsiteY6" fmla="*/ 63857 h 127714"/>
                <a:gd name="connsiteX7" fmla="*/ 63857 w 127713"/>
                <a:gd name="connsiteY7" fmla="*/ 127714 h 127714"/>
                <a:gd name="connsiteX8" fmla="*/ 127713 w 127713"/>
                <a:gd name="connsiteY8" fmla="*/ 63857 h 127714"/>
                <a:gd name="connsiteX9" fmla="*/ 63857 w 127713"/>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4">
                  <a:moveTo>
                    <a:pt x="63857" y="18874"/>
                  </a:moveTo>
                  <a:cubicBezTo>
                    <a:pt x="88700" y="18874"/>
                    <a:pt x="108839" y="39014"/>
                    <a:pt x="108839" y="63857"/>
                  </a:cubicBezTo>
                  <a:cubicBezTo>
                    <a:pt x="108839" y="88700"/>
                    <a:pt x="88700" y="108840"/>
                    <a:pt x="63857" y="108840"/>
                  </a:cubicBezTo>
                  <a:cubicBezTo>
                    <a:pt x="39013" y="108840"/>
                    <a:pt x="18874" y="88700"/>
                    <a:pt x="18874" y="63857"/>
                  </a:cubicBezTo>
                  <a:cubicBezTo>
                    <a:pt x="18898" y="39024"/>
                    <a:pt x="39023" y="18898"/>
                    <a:pt x="63857" y="18874"/>
                  </a:cubicBezTo>
                  <a:moveTo>
                    <a:pt x="63857" y="0"/>
                  </a:moveTo>
                  <a:cubicBezTo>
                    <a:pt x="28590" y="0"/>
                    <a:pt x="0" y="28590"/>
                    <a:pt x="0" y="63857"/>
                  </a:cubicBezTo>
                  <a:cubicBezTo>
                    <a:pt x="0" y="99124"/>
                    <a:pt x="28590" y="127714"/>
                    <a:pt x="63857" y="127714"/>
                  </a:cubicBezTo>
                  <a:cubicBezTo>
                    <a:pt x="99124" y="127714"/>
                    <a:pt x="127713" y="99124"/>
                    <a:pt x="127713" y="63857"/>
                  </a:cubicBezTo>
                  <a:cubicBezTo>
                    <a:pt x="127713" y="28590"/>
                    <a:pt x="99124" y="0"/>
                    <a:pt x="63857" y="0"/>
                  </a:cubicBezTo>
                  <a:close/>
                </a:path>
              </a:pathLst>
            </a:custGeom>
            <a:grpFill/>
            <a:ln w="610" cap="flat">
              <a:noFill/>
              <a:prstDash val="solid"/>
              <a:miter/>
            </a:ln>
          </p:spPr>
          <p:txBody>
            <a:bodyPr rtlCol="0" anchor="ctr"/>
            <a:lstStyle/>
            <a:p>
              <a:endParaRPr lang="en-US">
                <a:solidFill>
                  <a:srgbClr val="FFFFFF"/>
                </a:solidFill>
              </a:endParaRPr>
            </a:p>
          </p:txBody>
        </p:sp>
      </p:grpSp>
      <p:pic>
        <p:nvPicPr>
          <p:cNvPr id="8" name="Imagem 7" descr="Tela de celular com texto preto sobre fundo azul&#10;&#10;O conteúdo gerado por IA pode estar incorreto.">
            <a:extLst>
              <a:ext uri="{FF2B5EF4-FFF2-40B4-BE49-F238E27FC236}">
                <a16:creationId xmlns:a16="http://schemas.microsoft.com/office/drawing/2014/main" id="{86055D37-6CBF-5CF5-A0B6-C1136A62F54F}"/>
              </a:ext>
            </a:extLst>
          </p:cNvPr>
          <p:cNvPicPr>
            <a:picLocks noChangeAspect="1"/>
          </p:cNvPicPr>
          <p:nvPr/>
        </p:nvPicPr>
        <p:blipFill>
          <a:blip r:embed="rId3"/>
          <a:stretch>
            <a:fillRect/>
          </a:stretch>
        </p:blipFill>
        <p:spPr>
          <a:xfrm>
            <a:off x="540929" y="282464"/>
            <a:ext cx="6848162" cy="2116200"/>
          </a:xfrm>
          <a:prstGeom prst="rect">
            <a:avLst/>
          </a:prstGeom>
        </p:spPr>
      </p:pic>
      <p:pic>
        <p:nvPicPr>
          <p:cNvPr id="11" name="Imagem 10" descr="Interface gráfica do usuário, Texto&#10;&#10;O conteúdo gerado por IA pode estar incorreto.">
            <a:extLst>
              <a:ext uri="{FF2B5EF4-FFF2-40B4-BE49-F238E27FC236}">
                <a16:creationId xmlns:a16="http://schemas.microsoft.com/office/drawing/2014/main" id="{FF68798E-B05E-8DE1-05B8-C5C9C88FF621}"/>
              </a:ext>
            </a:extLst>
          </p:cNvPr>
          <p:cNvPicPr>
            <a:picLocks noChangeAspect="1"/>
          </p:cNvPicPr>
          <p:nvPr/>
        </p:nvPicPr>
        <p:blipFill>
          <a:blip r:embed="rId4"/>
          <a:stretch>
            <a:fillRect/>
          </a:stretch>
        </p:blipFill>
        <p:spPr>
          <a:xfrm>
            <a:off x="5128928" y="2596279"/>
            <a:ext cx="6623873" cy="2138896"/>
          </a:xfrm>
          <a:prstGeom prst="rect">
            <a:avLst/>
          </a:prstGeom>
        </p:spPr>
      </p:pic>
      <p:sp>
        <p:nvSpPr>
          <p:cNvPr id="6" name="TextBox 5">
            <a:extLst>
              <a:ext uri="{FF2B5EF4-FFF2-40B4-BE49-F238E27FC236}">
                <a16:creationId xmlns:a16="http://schemas.microsoft.com/office/drawing/2014/main" id="{4BD28522-DDE5-3207-B88D-067AE702CF82}"/>
              </a:ext>
            </a:extLst>
          </p:cNvPr>
          <p:cNvSpPr txBox="1"/>
          <p:nvPr/>
        </p:nvSpPr>
        <p:spPr>
          <a:xfrm>
            <a:off x="771588" y="5602186"/>
            <a:ext cx="10879483" cy="646331"/>
          </a:xfrm>
          <a:prstGeom prst="rect">
            <a:avLst/>
          </a:prstGeom>
          <a:solidFill>
            <a:schemeClr val="tx2"/>
          </a:solidFill>
        </p:spPr>
        <p:txBody>
          <a:bodyPr wrap="square" rtlCol="0">
            <a:spAutoFit/>
          </a:bodyPr>
          <a:lstStyle/>
          <a:p>
            <a:r>
              <a:rPr lang="pt-PT" b="1" dirty="0">
                <a:solidFill>
                  <a:schemeClr val="bg1"/>
                </a:solidFill>
              </a:rPr>
              <a:t>7. Consultar Cheat Sheet de Prevenção de XSS - </a:t>
            </a:r>
            <a:r>
              <a:rPr lang="pt-PT" dirty="0">
                <a:solidFill>
                  <a:schemeClr val="bg1"/>
                </a:solidFill>
              </a:rPr>
              <a:t>https://cheatsheetseries.owasp.org/cheatsheets/Cross_Site_Scripting_Prevention_Cheat_Sheet.html</a:t>
            </a:r>
          </a:p>
        </p:txBody>
      </p:sp>
    </p:spTree>
    <p:extLst>
      <p:ext uri="{BB962C8B-B14F-4D97-AF65-F5344CB8AC3E}">
        <p14:creationId xmlns:p14="http://schemas.microsoft.com/office/powerpoint/2010/main" val="4096024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4FCA2-DD1B-CB6B-F034-81FD147A735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660EBE0-8976-8A52-C01E-9293D76C8E87}"/>
              </a:ext>
            </a:extLst>
          </p:cNvPr>
          <p:cNvSpPr>
            <a:spLocks noGrp="1"/>
          </p:cNvSpPr>
          <p:nvPr>
            <p:ph type="title"/>
          </p:nvPr>
        </p:nvSpPr>
        <p:spPr>
          <a:xfrm>
            <a:off x="630936" y="640080"/>
            <a:ext cx="4818888" cy="1481328"/>
          </a:xfrm>
        </p:spPr>
        <p:txBody>
          <a:bodyPr anchor="b">
            <a:normAutofit/>
          </a:bodyPr>
          <a:lstStyle/>
          <a:p>
            <a:r>
              <a:rPr lang="en-US" sz="5400"/>
              <a:t>Vulnerabilidades</a:t>
            </a:r>
            <a:endParaRPr lang="pt-PT" sz="5400"/>
          </a:p>
        </p:txBody>
      </p:sp>
      <p:sp>
        <p:nvSpPr>
          <p:cNvPr id="3" name="Espaço Reservado para Conteúdo 2">
            <a:extLst>
              <a:ext uri="{FF2B5EF4-FFF2-40B4-BE49-F238E27FC236}">
                <a16:creationId xmlns:a16="http://schemas.microsoft.com/office/drawing/2014/main" id="{9794A164-22EB-4FC7-E659-3ADFFFBFA1E6}"/>
              </a:ext>
            </a:extLst>
          </p:cNvPr>
          <p:cNvSpPr>
            <a:spLocks noGrp="1"/>
          </p:cNvSpPr>
          <p:nvPr>
            <p:ph idx="1"/>
          </p:nvPr>
        </p:nvSpPr>
        <p:spPr>
          <a:xfrm>
            <a:off x="320835" y="2580894"/>
            <a:ext cx="4818888" cy="3547872"/>
          </a:xfrm>
        </p:spPr>
        <p:txBody>
          <a:bodyPr anchor="t">
            <a:normAutofit/>
          </a:bodyPr>
          <a:lstStyle/>
          <a:p>
            <a:endParaRPr lang="pt-PT" sz="1900" dirty="0"/>
          </a:p>
          <a:p>
            <a:pPr marL="457200" lvl="1" indent="0">
              <a:buNone/>
            </a:pPr>
            <a:r>
              <a:rPr lang="en-US" sz="1900" b="1" dirty="0"/>
              <a:t>(CVE-2021-42548) - </a:t>
            </a:r>
            <a:r>
              <a:rPr lang="en-US" sz="1900" b="1" dirty="0">
                <a:solidFill>
                  <a:schemeClr val="bg1">
                    <a:lumMod val="50000"/>
                  </a:schemeClr>
                </a:solidFill>
              </a:rPr>
              <a:t>Reflected XSS in search the functionality of </a:t>
            </a:r>
            <a:r>
              <a:rPr lang="en-US" sz="1900" b="1" dirty="0" err="1">
                <a:solidFill>
                  <a:schemeClr val="bg1">
                    <a:lumMod val="50000"/>
                  </a:schemeClr>
                </a:solidFill>
              </a:rPr>
              <a:t>Wordpress</a:t>
            </a:r>
            <a:r>
              <a:rPr lang="en-US" sz="1900" b="1" dirty="0">
                <a:solidFill>
                  <a:schemeClr val="bg1">
                    <a:lumMod val="50000"/>
                  </a:schemeClr>
                </a:solidFill>
              </a:rPr>
              <a:t>, WP Cloud Plugins Share-</a:t>
            </a:r>
            <a:r>
              <a:rPr lang="en-US" sz="1900" b="1" dirty="0" err="1">
                <a:solidFill>
                  <a:schemeClr val="bg1">
                    <a:lumMod val="50000"/>
                  </a:schemeClr>
                </a:solidFill>
              </a:rPr>
              <a:t>oneDrive</a:t>
            </a:r>
            <a:endParaRPr lang="en-US" sz="1900" b="1" dirty="0">
              <a:solidFill>
                <a:schemeClr val="bg1">
                  <a:lumMod val="50000"/>
                </a:schemeClr>
              </a:solidFill>
            </a:endParaRPr>
          </a:p>
          <a:p>
            <a:pPr marL="914400" lvl="1" indent="-457200">
              <a:buFont typeface="+mj-lt"/>
              <a:buAutoNum type="arabicPeriod"/>
            </a:pPr>
            <a:endParaRPr lang="pt-PT" sz="1900" b="1" dirty="0"/>
          </a:p>
        </p:txBody>
      </p:sp>
      <p:sp>
        <p:nvSpPr>
          <p:cNvPr id="5" name="TextBox 4">
            <a:extLst>
              <a:ext uri="{FF2B5EF4-FFF2-40B4-BE49-F238E27FC236}">
                <a16:creationId xmlns:a16="http://schemas.microsoft.com/office/drawing/2014/main" id="{001D7F5A-C3C1-604F-E00F-B09D9E31DF8B}"/>
              </a:ext>
            </a:extLst>
          </p:cNvPr>
          <p:cNvSpPr txBox="1"/>
          <p:nvPr/>
        </p:nvSpPr>
        <p:spPr>
          <a:xfrm>
            <a:off x="5591756" y="1380744"/>
            <a:ext cx="6094674" cy="646331"/>
          </a:xfrm>
          <a:prstGeom prst="rect">
            <a:avLst/>
          </a:prstGeom>
          <a:noFill/>
        </p:spPr>
        <p:txBody>
          <a:bodyPr wrap="square">
            <a:spAutoFit/>
          </a:bodyPr>
          <a:lstStyle/>
          <a:p>
            <a:r>
              <a:rPr lang="pt-PT" sz="1800" dirty="0"/>
              <a:t>Para este trabalho, foram selecionadas duas vulnerabilidades críticas para análise aprofundada:</a:t>
            </a:r>
          </a:p>
        </p:txBody>
      </p:sp>
      <p:sp>
        <p:nvSpPr>
          <p:cNvPr id="7" name="TextBox 6">
            <a:extLst>
              <a:ext uri="{FF2B5EF4-FFF2-40B4-BE49-F238E27FC236}">
                <a16:creationId xmlns:a16="http://schemas.microsoft.com/office/drawing/2014/main" id="{6D550D6A-F80C-A830-D774-BC5342A6E7D6}"/>
              </a:ext>
            </a:extLst>
          </p:cNvPr>
          <p:cNvSpPr txBox="1"/>
          <p:nvPr/>
        </p:nvSpPr>
        <p:spPr>
          <a:xfrm>
            <a:off x="5460558" y="2916649"/>
            <a:ext cx="6094674" cy="646331"/>
          </a:xfrm>
          <a:prstGeom prst="rect">
            <a:avLst/>
          </a:prstGeom>
          <a:noFill/>
        </p:spPr>
        <p:txBody>
          <a:bodyPr wrap="square">
            <a:spAutoFit/>
          </a:bodyPr>
          <a:lstStyle/>
          <a:p>
            <a:pPr lvl="1"/>
            <a:r>
              <a:rPr lang="en-US" b="1" dirty="0"/>
              <a:t>(CVE-2014-6278) - </a:t>
            </a:r>
            <a:r>
              <a:rPr lang="en-US" sz="1800" b="1" dirty="0">
                <a:solidFill>
                  <a:schemeClr val="bg1">
                    <a:lumMod val="50000"/>
                  </a:schemeClr>
                </a:solidFill>
              </a:rPr>
              <a:t>GNU Bash OS Command Injection Vulnerability</a:t>
            </a:r>
          </a:p>
        </p:txBody>
      </p:sp>
      <p:cxnSp>
        <p:nvCxnSpPr>
          <p:cNvPr id="9" name="Straight Connector 8">
            <a:extLst>
              <a:ext uri="{FF2B5EF4-FFF2-40B4-BE49-F238E27FC236}">
                <a16:creationId xmlns:a16="http://schemas.microsoft.com/office/drawing/2014/main" id="{DC19C356-A917-009B-1F40-5C1740F0F55D}"/>
              </a:ext>
            </a:extLst>
          </p:cNvPr>
          <p:cNvCxnSpPr/>
          <p:nvPr/>
        </p:nvCxnSpPr>
        <p:spPr>
          <a:xfrm>
            <a:off x="5390984" y="2916649"/>
            <a:ext cx="0" cy="3492102"/>
          </a:xfrm>
          <a:prstGeom prst="line">
            <a:avLst/>
          </a:prstGeom>
        </p:spPr>
        <p:style>
          <a:lnRef idx="2">
            <a:schemeClr val="accent1"/>
          </a:lnRef>
          <a:fillRef idx="0">
            <a:schemeClr val="accent1"/>
          </a:fillRef>
          <a:effectRef idx="1">
            <a:schemeClr val="accent1"/>
          </a:effectRef>
          <a:fontRef idx="minor">
            <a:schemeClr val="tx1"/>
          </a:fontRef>
        </p:style>
      </p:cxnSp>
      <p:pic>
        <p:nvPicPr>
          <p:cNvPr id="1026" name="Picture 2" descr="What are the different types of XSS? - Blog Detectify">
            <a:extLst>
              <a:ext uri="{FF2B5EF4-FFF2-40B4-BE49-F238E27FC236}">
                <a16:creationId xmlns:a16="http://schemas.microsoft.com/office/drawing/2014/main" id="{5ABA1E29-4FBF-E000-4D5C-AF1A28C514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6552" y="4354830"/>
            <a:ext cx="2321821" cy="145113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1028" name="Picture 4">
            <a:extLst>
              <a:ext uri="{FF2B5EF4-FFF2-40B4-BE49-F238E27FC236}">
                <a16:creationId xmlns:a16="http://schemas.microsoft.com/office/drawing/2014/main" id="{64330C56-0329-D9E0-4723-F094F86CF7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4194" y="3996674"/>
            <a:ext cx="1894099" cy="189409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73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8E0526-4921-94C8-DEEF-F466389FFD4A}"/>
            </a:ext>
          </a:extLst>
        </p:cNvPr>
        <p:cNvGrpSpPr/>
        <p:nvPr/>
      </p:nvGrpSpPr>
      <p:grpSpPr>
        <a:xfrm>
          <a:off x="0" y="0"/>
          <a:ext cx="0" cy="0"/>
          <a:chOff x="0" y="0"/>
          <a:chExt cx="0" cy="0"/>
        </a:xfrm>
      </p:grpSpPr>
      <p:pic>
        <p:nvPicPr>
          <p:cNvPr id="2" name="Picture 4">
            <a:extLst>
              <a:ext uri="{FF2B5EF4-FFF2-40B4-BE49-F238E27FC236}">
                <a16:creationId xmlns:a16="http://schemas.microsoft.com/office/drawing/2014/main" id="{9C4A2675-A619-CA2E-5DB2-0B6FD8A803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452" y="-1518755"/>
            <a:ext cx="10639462" cy="1063946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0257" name="Rectangle 10256">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descr="25+ Linux Commands Wallpapers - Download at WallpaperBro">
            <a:extLst>
              <a:ext uri="{FF2B5EF4-FFF2-40B4-BE49-F238E27FC236}">
                <a16:creationId xmlns:a16="http://schemas.microsoft.com/office/drawing/2014/main" id="{1E4732F7-2E97-27AE-4E20-1F73883916D2}"/>
              </a:ext>
            </a:extLst>
          </p:cNvPr>
          <p:cNvPicPr>
            <a:picLocks noChangeAspect="1" noChangeArrowheads="1"/>
          </p:cNvPicPr>
          <p:nvPr/>
        </p:nvPicPr>
        <p:blipFill>
          <a:blip r:embed="rId4">
            <a:alphaModFix amt="50000"/>
            <a:extLst>
              <a:ext uri="{28A0092B-C50C-407E-A947-70E740481C1C}">
                <a14:useLocalDpi xmlns:a14="http://schemas.microsoft.com/office/drawing/2010/main" val="0"/>
              </a:ext>
            </a:extLst>
          </a:blip>
          <a:srcRect r="25"/>
          <a:stretch>
            <a:fillRect/>
          </a:stretch>
        </p:blipFill>
        <p:spPr bwMode="auto">
          <a:xfrm>
            <a:off x="20" y="10"/>
            <a:ext cx="12188930" cy="6857990"/>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0B45D18B-3383-8405-07CC-8B4D7CBC879C}"/>
              </a:ext>
            </a:extLst>
          </p:cNvPr>
          <p:cNvSpPr txBox="1"/>
          <p:nvPr/>
        </p:nvSpPr>
        <p:spPr>
          <a:xfrm>
            <a:off x="1524000" y="1122363"/>
            <a:ext cx="9144000" cy="3063240"/>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5100" b="1" dirty="0" err="1">
                <a:solidFill>
                  <a:schemeClr val="bg1"/>
                </a:solidFill>
                <a:latin typeface="+mj-lt"/>
                <a:ea typeface="+mj-ea"/>
                <a:cs typeface="+mj-cs"/>
              </a:rPr>
              <a:t>Vulnerabilidade</a:t>
            </a:r>
            <a:r>
              <a:rPr lang="en-US" sz="5100" b="1" dirty="0">
                <a:solidFill>
                  <a:schemeClr val="bg1"/>
                </a:solidFill>
                <a:latin typeface="+mj-lt"/>
                <a:ea typeface="+mj-ea"/>
                <a:cs typeface="+mj-cs"/>
              </a:rPr>
              <a:t> 2: </a:t>
            </a:r>
          </a:p>
          <a:p>
            <a:pPr algn="ctr">
              <a:lnSpc>
                <a:spcPct val="90000"/>
              </a:lnSpc>
              <a:spcBef>
                <a:spcPct val="0"/>
              </a:spcBef>
              <a:spcAft>
                <a:spcPts val="600"/>
              </a:spcAft>
            </a:pPr>
            <a:r>
              <a:rPr lang="en-US" sz="5100" b="1" dirty="0">
                <a:solidFill>
                  <a:schemeClr val="bg1"/>
                </a:solidFill>
                <a:latin typeface="+mj-lt"/>
                <a:ea typeface="+mj-ea"/>
                <a:cs typeface="+mj-cs"/>
              </a:rPr>
              <a:t>GNU Bash OS Command Injection Vulnerability - CVE-2014-6278</a:t>
            </a:r>
          </a:p>
        </p:txBody>
      </p:sp>
      <p:sp>
        <p:nvSpPr>
          <p:cNvPr id="10259"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9328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BA4C36-A89F-9A6D-9314-636665B84C3E}"/>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ítulo 1">
            <a:extLst>
              <a:ext uri="{FF2B5EF4-FFF2-40B4-BE49-F238E27FC236}">
                <a16:creationId xmlns:a16="http://schemas.microsoft.com/office/drawing/2014/main" id="{83CB8AAE-277F-FED1-B3F1-B5DC13F914B6}"/>
              </a:ext>
            </a:extLst>
          </p:cNvPr>
          <p:cNvSpPr>
            <a:spLocks noGrp="1"/>
          </p:cNvSpPr>
          <p:nvPr>
            <p:ph type="title"/>
          </p:nvPr>
        </p:nvSpPr>
        <p:spPr>
          <a:xfrm>
            <a:off x="838200" y="365125"/>
            <a:ext cx="5393361" cy="1325563"/>
          </a:xfrm>
        </p:spPr>
        <p:txBody>
          <a:bodyPr>
            <a:normAutofit/>
          </a:bodyPr>
          <a:lstStyle/>
          <a:p>
            <a:r>
              <a:rPr lang="pt-PT"/>
              <a:t>Metodologias de Deteção Utilizadas</a:t>
            </a:r>
          </a:p>
        </p:txBody>
      </p:sp>
      <p:sp>
        <p:nvSpPr>
          <p:cNvPr id="14" name="Freeform: Shape 13">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Espaço Reservado para Conteúdo 2">
            <a:extLst>
              <a:ext uri="{FF2B5EF4-FFF2-40B4-BE49-F238E27FC236}">
                <a16:creationId xmlns:a16="http://schemas.microsoft.com/office/drawing/2014/main" id="{B23463D7-914E-961B-CABD-0BBA932098CC}"/>
              </a:ext>
            </a:extLst>
          </p:cNvPr>
          <p:cNvSpPr>
            <a:spLocks noGrp="1"/>
          </p:cNvSpPr>
          <p:nvPr>
            <p:ph idx="1"/>
          </p:nvPr>
        </p:nvSpPr>
        <p:spPr>
          <a:xfrm>
            <a:off x="838200" y="1825625"/>
            <a:ext cx="5393361" cy="4351338"/>
          </a:xfrm>
        </p:spPr>
        <p:txBody>
          <a:bodyPr>
            <a:normAutofit/>
          </a:bodyPr>
          <a:lstStyle/>
          <a:p>
            <a:endParaRPr lang="pt-PT" sz="1300" b="1"/>
          </a:p>
          <a:p>
            <a:r>
              <a:rPr lang="pt-PT" sz="1300" b="1"/>
              <a:t>Varrimento de Rede</a:t>
            </a:r>
            <a:r>
              <a:rPr lang="pt-PT" sz="1300"/>
              <a:t>: Utilização do nmap em modo ping scan para identificar o endereço IP ativo da máquina vítima na rede local.</a:t>
            </a:r>
          </a:p>
          <a:p>
            <a:r>
              <a:rPr lang="pt-PT" sz="1300" b="1"/>
              <a:t>Enumeração de Serviço Web e CGI</a:t>
            </a:r>
            <a:r>
              <a:rPr lang="pt-PT" sz="1300"/>
              <a:t>: Uso do curl com pedidos HTTP do tipo HEAD para confirmar a acessibilidade do servidor web Apache e a existência do script CGI vulnerável.</a:t>
            </a:r>
          </a:p>
          <a:p>
            <a:r>
              <a:rPr lang="pt-PT" sz="1300" b="1"/>
              <a:t>Testes de Penetração Direcionados</a:t>
            </a:r>
            <a:r>
              <a:rPr lang="pt-PT" sz="1300"/>
              <a:t>: Injeção manual de payloads maliciosos no cabeçalho HTTP User-Agent através do curl.</a:t>
            </a:r>
          </a:p>
          <a:p>
            <a:r>
              <a:rPr lang="pt-PT" sz="1300" b="1"/>
              <a:t>Estabelecimento de Reverse Shell</a:t>
            </a:r>
            <a:r>
              <a:rPr lang="pt-PT" sz="1300"/>
              <a:t>: Configuração de um listener em nc (Netcat) no sistema atacante e envio de um payload que forçava a máquina vítima a iniciar uma ligação reversa, permitindo obter uma shell interativa remota.</a:t>
            </a:r>
          </a:p>
          <a:p>
            <a:r>
              <a:rPr lang="pt-PT" sz="1300" b="1"/>
              <a:t>Validação Pós-Exploração e Escalada de Privilégios</a:t>
            </a:r>
            <a:r>
              <a:rPr lang="pt-PT" sz="1300"/>
              <a:t>: Execução de comandos no sistema comprometido para confirmar o sucesso da exploração, seguida da estabilização da shell e tentativa de escalada de privilégios para utilizador root utilizando sudo.</a:t>
            </a:r>
          </a:p>
          <a:p>
            <a:endParaRPr lang="pt-PT" sz="1300"/>
          </a:p>
        </p:txBody>
      </p:sp>
      <p:sp>
        <p:nvSpPr>
          <p:cNvPr id="16" name="Oval 15">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Laptop seguro">
            <a:extLst>
              <a:ext uri="{FF2B5EF4-FFF2-40B4-BE49-F238E27FC236}">
                <a16:creationId xmlns:a16="http://schemas.microsoft.com/office/drawing/2014/main" id="{DB45CA6A-2327-4A05-6FB4-8EF83AB12D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18" name="Freeform: Shape 17">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20" name="Straight Connector 19">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2" name="Freeform: Shape 21">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Shape 25">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4227303008"/>
      </p:ext>
    </p:extLst>
  </p:cSld>
  <p:clrMapOvr>
    <a:masterClrMapping/>
  </p:clrMapOvr>
  <p:transition spd="med">
    <p:pull/>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E531D2-2257-E251-F05B-A6F5313D6127}"/>
            </a:ext>
          </a:extLst>
        </p:cNvPr>
        <p:cNvGrpSpPr/>
        <p:nvPr/>
      </p:nvGrpSpPr>
      <p:grpSpPr>
        <a:xfrm>
          <a:off x="0" y="0"/>
          <a:ext cx="0" cy="0"/>
          <a:chOff x="0" y="0"/>
          <a:chExt cx="0" cy="0"/>
        </a:xfrm>
      </p:grpSpPr>
      <p:sp useBgFill="1">
        <p:nvSpPr>
          <p:cNvPr id="21" name="Rectangle 11">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3">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DC83769-2C38-2235-80DD-E72DCCFC9110}"/>
              </a:ext>
            </a:extLst>
          </p:cNvPr>
          <p:cNvSpPr>
            <a:spLocks noGrp="1"/>
          </p:cNvSpPr>
          <p:nvPr>
            <p:ph type="title"/>
          </p:nvPr>
        </p:nvSpPr>
        <p:spPr>
          <a:xfrm>
            <a:off x="313058" y="369054"/>
            <a:ext cx="4977976" cy="1454051"/>
          </a:xfrm>
        </p:spPr>
        <p:txBody>
          <a:bodyPr>
            <a:normAutofit/>
          </a:bodyPr>
          <a:lstStyle/>
          <a:p>
            <a:br>
              <a:rPr lang="pt-PT" sz="1700" b="1" dirty="0">
                <a:solidFill>
                  <a:schemeClr val="tx2"/>
                </a:solidFill>
              </a:rPr>
            </a:br>
            <a:br>
              <a:rPr lang="pt-PT" sz="1700" b="1" dirty="0">
                <a:solidFill>
                  <a:schemeClr val="tx2"/>
                </a:solidFill>
              </a:rPr>
            </a:br>
            <a:r>
              <a:rPr lang="pt-PT" sz="2600" b="1" dirty="0"/>
              <a:t>Apresentação da Vulnerabilidade</a:t>
            </a:r>
            <a:br>
              <a:rPr lang="pt-PT" sz="1700" b="1" dirty="0">
                <a:solidFill>
                  <a:schemeClr val="tx2"/>
                </a:solidFill>
              </a:rPr>
            </a:br>
            <a:br>
              <a:rPr lang="pt-PT" sz="1700" b="1" dirty="0">
                <a:solidFill>
                  <a:schemeClr val="tx2"/>
                </a:solidFill>
              </a:rPr>
            </a:br>
            <a:endParaRPr lang="pt-PT" sz="1700" dirty="0">
              <a:solidFill>
                <a:schemeClr val="tx2"/>
              </a:solidFill>
            </a:endParaRPr>
          </a:p>
        </p:txBody>
      </p:sp>
      <p:sp>
        <p:nvSpPr>
          <p:cNvPr id="3" name="Espaço Reservado para Conteúdo 2">
            <a:extLst>
              <a:ext uri="{FF2B5EF4-FFF2-40B4-BE49-F238E27FC236}">
                <a16:creationId xmlns:a16="http://schemas.microsoft.com/office/drawing/2014/main" id="{ACC2B011-0A0D-9FA7-677A-F620209ABA0E}"/>
              </a:ext>
            </a:extLst>
          </p:cNvPr>
          <p:cNvSpPr>
            <a:spLocks noGrp="1"/>
          </p:cNvSpPr>
          <p:nvPr>
            <p:ph idx="1"/>
          </p:nvPr>
        </p:nvSpPr>
        <p:spPr>
          <a:xfrm>
            <a:off x="313059" y="1823105"/>
            <a:ext cx="7031638" cy="4697040"/>
          </a:xfrm>
        </p:spPr>
        <p:txBody>
          <a:bodyPr anchor="ctr">
            <a:normAutofit fontScale="32500" lnSpcReduction="20000"/>
          </a:bodyPr>
          <a:lstStyle/>
          <a:p>
            <a:pPr marL="0" indent="0">
              <a:buNone/>
            </a:pPr>
            <a:endParaRPr lang="pt-PT" sz="1100" b="1" dirty="0">
              <a:solidFill>
                <a:schemeClr val="tx2"/>
              </a:solidFill>
            </a:endParaRPr>
          </a:p>
          <a:p>
            <a:pPr marL="0" indent="0">
              <a:buNone/>
            </a:pPr>
            <a:endParaRPr lang="pt-PT" sz="1100" b="1" dirty="0"/>
          </a:p>
          <a:p>
            <a:pPr marL="0" indent="0">
              <a:buNone/>
            </a:pPr>
            <a:endParaRPr lang="pt-PT" sz="1100" b="1" dirty="0"/>
          </a:p>
          <a:p>
            <a:pPr marL="0" indent="0">
              <a:buNone/>
            </a:pPr>
            <a:r>
              <a:rPr lang="pt-PT" sz="4600" b="1" dirty="0"/>
              <a:t>Identificação: </a:t>
            </a:r>
          </a:p>
          <a:p>
            <a:endParaRPr lang="pt-PT" sz="4600" b="1" dirty="0"/>
          </a:p>
          <a:p>
            <a:pPr lvl="1"/>
            <a:r>
              <a:rPr lang="pt-PT" sz="4600" b="1" dirty="0"/>
              <a:t>CVE ID</a:t>
            </a:r>
            <a:r>
              <a:rPr lang="pt-PT" sz="4600" dirty="0"/>
              <a:t>: CVE-2014-6278</a:t>
            </a:r>
          </a:p>
          <a:p>
            <a:pPr lvl="1"/>
            <a:endParaRPr lang="pt-PT" sz="4600" dirty="0"/>
          </a:p>
          <a:p>
            <a:pPr lvl="1"/>
            <a:r>
              <a:rPr lang="pt-PT" sz="4600" b="1" dirty="0"/>
              <a:t>Sistema/Aplicação Afetada</a:t>
            </a:r>
            <a:r>
              <a:rPr lang="pt-PT" sz="4600" dirty="0"/>
              <a:t>: GNU Bash (Bourne Again Shell)</a:t>
            </a:r>
          </a:p>
          <a:p>
            <a:pPr lvl="1"/>
            <a:endParaRPr lang="pt-PT" sz="4600" dirty="0"/>
          </a:p>
          <a:p>
            <a:pPr lvl="1"/>
            <a:r>
              <a:rPr lang="pt-PT" sz="4600" b="1" dirty="0"/>
              <a:t>Versões Vulneráveis</a:t>
            </a:r>
            <a:r>
              <a:rPr lang="pt-PT" sz="4600" dirty="0"/>
              <a:t>: Versões do Bash até à 4.3</a:t>
            </a:r>
          </a:p>
          <a:p>
            <a:pPr lvl="1"/>
            <a:endParaRPr lang="pt-PT" sz="4600" dirty="0"/>
          </a:p>
          <a:p>
            <a:pPr lvl="1"/>
            <a:r>
              <a:rPr lang="pt-PT" sz="4600" b="1" dirty="0"/>
              <a:t>Plataforma</a:t>
            </a:r>
            <a:r>
              <a:rPr lang="pt-PT" sz="4600" dirty="0"/>
              <a:t>: Sistemas operativos que utilizem GNU Bash como shell</a:t>
            </a:r>
          </a:p>
          <a:p>
            <a:pPr lvl="1"/>
            <a:endParaRPr lang="pt-PT" sz="4600" dirty="0"/>
          </a:p>
          <a:p>
            <a:pPr lvl="1"/>
            <a:r>
              <a:rPr lang="pt-PT" sz="4600" b="1" dirty="0"/>
              <a:t>Tipo de Vulnerabilidade</a:t>
            </a:r>
            <a:r>
              <a:rPr lang="pt-PT" sz="4600" dirty="0"/>
              <a:t>: Injeção de Comandos / Execução Remota de Código (RCE)</a:t>
            </a:r>
          </a:p>
          <a:p>
            <a:pPr lvl="1"/>
            <a:endParaRPr lang="pt-PT" sz="4600" dirty="0"/>
          </a:p>
          <a:p>
            <a:pPr lvl="1"/>
            <a:r>
              <a:rPr lang="pt-PT" sz="4600" b="1" dirty="0"/>
              <a:t>Severidade</a:t>
            </a:r>
            <a:r>
              <a:rPr lang="pt-PT" sz="4600" dirty="0"/>
              <a:t>: Crítica (CVSS v2: 10.0 / CVSS v3: 9.8)</a:t>
            </a:r>
          </a:p>
          <a:p>
            <a:pPr lvl="1"/>
            <a:endParaRPr lang="pt-PT" sz="4600" dirty="0"/>
          </a:p>
          <a:p>
            <a:pPr lvl="1"/>
            <a:r>
              <a:rPr lang="pt-PT" sz="4600" b="1" dirty="0"/>
              <a:t>Sistemas afetados</a:t>
            </a:r>
            <a:r>
              <a:rPr lang="pt-PT" sz="4600" dirty="0"/>
              <a:t>: A vulnerabilidade afeta sistemas operativos baseados em Unix/Linux (como Debian, Ubuntu, CentOS, RedHat) e macOS que utilizam o Bash como interpretador de comandos padrão</a:t>
            </a:r>
          </a:p>
          <a:p>
            <a:pPr lvl="1"/>
            <a:endParaRPr lang="pt-PT" sz="4600" dirty="0">
              <a:solidFill>
                <a:schemeClr val="tx2"/>
              </a:solidFill>
            </a:endParaRPr>
          </a:p>
          <a:p>
            <a:pPr marL="0" indent="0">
              <a:buNone/>
            </a:pPr>
            <a:endParaRPr lang="pt-PT" sz="1100" b="1" dirty="0">
              <a:solidFill>
                <a:schemeClr val="tx2"/>
              </a:solidFill>
            </a:endParaRPr>
          </a:p>
          <a:p>
            <a:pPr marL="0" indent="0">
              <a:buNone/>
            </a:pPr>
            <a:endParaRPr lang="pt-PT" sz="1100" b="1" dirty="0">
              <a:solidFill>
                <a:schemeClr val="tx2"/>
              </a:solidFill>
            </a:endParaRPr>
          </a:p>
          <a:p>
            <a:endParaRPr lang="pt-PT" sz="1100" b="1" dirty="0">
              <a:solidFill>
                <a:schemeClr val="tx2"/>
              </a:solidFill>
            </a:endParaRPr>
          </a:p>
          <a:p>
            <a:pPr marL="457200" lvl="1" indent="0">
              <a:buNone/>
            </a:pPr>
            <a:endParaRPr lang="pt-PT" sz="1100" dirty="0">
              <a:solidFill>
                <a:schemeClr val="tx2"/>
              </a:solidFill>
            </a:endParaRPr>
          </a:p>
        </p:txBody>
      </p:sp>
      <p:grpSp>
        <p:nvGrpSpPr>
          <p:cNvPr id="23" name="Group 15">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7" name="Freeform: Shape 16">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Employee Badge">
            <a:extLst>
              <a:ext uri="{FF2B5EF4-FFF2-40B4-BE49-F238E27FC236}">
                <a16:creationId xmlns:a16="http://schemas.microsoft.com/office/drawing/2014/main" id="{518F0B56-B0FC-3828-94D1-6A54D558773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2787930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476A30-0945-0686-D76A-E6D977970A56}"/>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ço Reservado para Conteúdo 2">
            <a:extLst>
              <a:ext uri="{FF2B5EF4-FFF2-40B4-BE49-F238E27FC236}">
                <a16:creationId xmlns:a16="http://schemas.microsoft.com/office/drawing/2014/main" id="{6EE417B0-D337-A8AB-93E4-7015F27B4A40}"/>
              </a:ext>
            </a:extLst>
          </p:cNvPr>
          <p:cNvSpPr>
            <a:spLocks noGrp="1"/>
          </p:cNvSpPr>
          <p:nvPr>
            <p:ph idx="1"/>
          </p:nvPr>
        </p:nvSpPr>
        <p:spPr>
          <a:xfrm>
            <a:off x="804672" y="344130"/>
            <a:ext cx="4977578" cy="5716842"/>
          </a:xfrm>
        </p:spPr>
        <p:txBody>
          <a:bodyPr anchor="ctr">
            <a:noAutofit/>
          </a:bodyPr>
          <a:lstStyle/>
          <a:p>
            <a:pPr marL="0" indent="0">
              <a:buNone/>
            </a:pPr>
            <a:endParaRPr lang="en-US" sz="1800" b="1" dirty="0"/>
          </a:p>
          <a:p>
            <a:pPr marL="0" indent="0">
              <a:buNone/>
            </a:pPr>
            <a:r>
              <a:rPr lang="en-US" sz="1800" b="1" dirty="0" err="1"/>
              <a:t>Deteção</a:t>
            </a:r>
            <a:r>
              <a:rPr lang="en-US" sz="1800" b="1" dirty="0"/>
              <a:t> :</a:t>
            </a:r>
          </a:p>
          <a:p>
            <a:pPr marL="0" indent="0">
              <a:buNone/>
            </a:pPr>
            <a:endParaRPr lang="en-US" sz="1800" b="1" dirty="0"/>
          </a:p>
          <a:p>
            <a:pPr lvl="1">
              <a:buFont typeface="Aptos" panose="020B0004020202020204" pitchFamily="34" charset="0"/>
              <a:buChar char="-"/>
            </a:pPr>
            <a:r>
              <a:rPr lang="pt-PT" sz="1500" b="1" dirty="0"/>
              <a:t>Onde:</a:t>
            </a:r>
          </a:p>
          <a:p>
            <a:pPr marL="457200" lvl="1" indent="0">
              <a:buNone/>
            </a:pPr>
            <a:endParaRPr lang="pt-PT" sz="1500" dirty="0"/>
          </a:p>
          <a:p>
            <a:pPr lvl="2"/>
            <a:r>
              <a:rPr lang="pt-PT" sz="1500" dirty="0"/>
              <a:t>Na implementação do </a:t>
            </a:r>
            <a:r>
              <a:rPr lang="pt-PT" sz="1500" b="1" dirty="0"/>
              <a:t>interpretador de comandos GNU Bash</a:t>
            </a:r>
            <a:r>
              <a:rPr lang="pt-PT" sz="1500" dirty="0"/>
              <a:t>, mais concretamente na forma como o Bash trata funções definidas em variáveis de ambiente. Esta vulnerabilidade é uma variante da falha conhecida como </a:t>
            </a:r>
            <a:r>
              <a:rPr lang="pt-PT" sz="1500" b="1" dirty="0"/>
              <a:t>Shellshock</a:t>
            </a:r>
            <a:r>
              <a:rPr lang="pt-PT" sz="1500" dirty="0"/>
              <a:t>, permitindo </a:t>
            </a:r>
            <a:r>
              <a:rPr lang="pt-PT" sz="1500" b="1" dirty="0"/>
              <a:t>injeção de comandos no sistema operativo</a:t>
            </a:r>
            <a:r>
              <a:rPr lang="pt-PT" sz="1500" dirty="0"/>
              <a:t> quando Bash é chamado por serviços que recebem dados externos.</a:t>
            </a:r>
          </a:p>
          <a:p>
            <a:pPr lvl="2"/>
            <a:endParaRPr lang="pt-PT" sz="1500" dirty="0"/>
          </a:p>
          <a:p>
            <a:pPr lvl="1">
              <a:buFont typeface="Aptos" panose="020B0004020202020204" pitchFamily="34" charset="0"/>
              <a:buChar char="-"/>
            </a:pPr>
            <a:r>
              <a:rPr lang="pt-PT" sz="1500" b="1" dirty="0"/>
              <a:t>Quando:</a:t>
            </a:r>
          </a:p>
          <a:p>
            <a:pPr marL="457200" lvl="1" indent="0">
              <a:buNone/>
            </a:pPr>
            <a:endParaRPr lang="pt-PT" sz="1500" dirty="0"/>
          </a:p>
          <a:p>
            <a:pPr lvl="2"/>
            <a:r>
              <a:rPr lang="pt-PT" sz="1500" dirty="0"/>
              <a:t>Foi identificada e documentada em </a:t>
            </a:r>
            <a:r>
              <a:rPr lang="pt-PT" sz="1500" b="1" dirty="0"/>
              <a:t>setembro de 2014</a:t>
            </a:r>
            <a:r>
              <a:rPr lang="pt-PT" sz="1500" dirty="0"/>
              <a:t>, pouco depois da divulgação inicial do Shellshock (CVE-2014-6271).</a:t>
            </a:r>
            <a:br>
              <a:rPr lang="pt-PT" sz="1800" dirty="0"/>
            </a:br>
            <a:endParaRPr lang="pt-PT" sz="1800" b="1" dirty="0"/>
          </a:p>
        </p:txBody>
      </p:sp>
      <p:grpSp>
        <p:nvGrpSpPr>
          <p:cNvPr id="16" name="Group 15">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7" name="Freeform: Shape 16">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Bug under Magnifying Glass">
            <a:extLst>
              <a:ext uri="{FF2B5EF4-FFF2-40B4-BE49-F238E27FC236}">
                <a16:creationId xmlns:a16="http://schemas.microsoft.com/office/drawing/2014/main" id="{54D4A3E1-7CB6-E21C-83E4-EA18BB8E853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7503488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3BAEBD-286C-A5D0-19CB-1EDEC2DA20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A23E87-5794-8020-9EDD-E71854F8F141}"/>
              </a:ext>
            </a:extLst>
          </p:cNvPr>
          <p:cNvSpPr>
            <a:spLocks noGrp="1"/>
          </p:cNvSpPr>
          <p:nvPr>
            <p:ph type="title"/>
          </p:nvPr>
        </p:nvSpPr>
        <p:spPr>
          <a:xfrm>
            <a:off x="761840" y="1138265"/>
            <a:ext cx="4544762" cy="1401183"/>
          </a:xfrm>
        </p:spPr>
        <p:txBody>
          <a:bodyPr anchor="t">
            <a:normAutofit/>
          </a:bodyPr>
          <a:lstStyle/>
          <a:p>
            <a:r>
              <a:rPr lang="pt-PT" sz="3000" b="1"/>
              <a:t>Ações, Objetivos e Resultados de Exploração:</a:t>
            </a:r>
            <a:endParaRPr lang="pt-PT" sz="3000"/>
          </a:p>
        </p:txBody>
      </p:sp>
      <p:cxnSp>
        <p:nvCxnSpPr>
          <p:cNvPr id="11282" name="Straight Connector 11281">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Espaço Reservado para Conteúdo 2">
            <a:extLst>
              <a:ext uri="{FF2B5EF4-FFF2-40B4-BE49-F238E27FC236}">
                <a16:creationId xmlns:a16="http://schemas.microsoft.com/office/drawing/2014/main" id="{8F30B39A-5E90-7ACE-EB72-A8EFE7026911}"/>
              </a:ext>
            </a:extLst>
          </p:cNvPr>
          <p:cNvSpPr>
            <a:spLocks noGrp="1"/>
          </p:cNvSpPr>
          <p:nvPr>
            <p:ph idx="1"/>
          </p:nvPr>
        </p:nvSpPr>
        <p:spPr>
          <a:xfrm>
            <a:off x="761840" y="2551176"/>
            <a:ext cx="4544762" cy="3602935"/>
          </a:xfrm>
        </p:spPr>
        <p:txBody>
          <a:bodyPr>
            <a:normAutofit/>
          </a:bodyPr>
          <a:lstStyle/>
          <a:p>
            <a:pPr marL="0" indent="0">
              <a:buNone/>
            </a:pPr>
            <a:r>
              <a:rPr lang="pt-PT" sz="1700"/>
              <a:t>O objetivo do atacante é explorar o processamento incorreto de variáveis de ambiente pelo Bash. Ao injetar código malicioso, o atacante pretende:</a:t>
            </a:r>
          </a:p>
          <a:p>
            <a:pPr marL="0" indent="0">
              <a:buNone/>
            </a:pPr>
            <a:endParaRPr lang="pt-PT" sz="1700"/>
          </a:p>
          <a:p>
            <a:pPr marL="914400" lvl="1" indent="-457200">
              <a:buFont typeface="+mj-lt"/>
              <a:buAutoNum type="arabicPeriod"/>
            </a:pPr>
            <a:r>
              <a:rPr lang="pt-PT" sz="1700"/>
              <a:t>Executar comandos arbitrários no servidor remoto sem autenticação.</a:t>
            </a:r>
          </a:p>
          <a:p>
            <a:pPr marL="914400" lvl="1" indent="-457200">
              <a:buFont typeface="+mj-lt"/>
              <a:buAutoNum type="arabicPeriod"/>
            </a:pPr>
            <a:r>
              <a:rPr lang="pt-PT" sz="1700"/>
              <a:t>Obter acesso inicial ao sistema (Shell).</a:t>
            </a:r>
          </a:p>
          <a:p>
            <a:pPr marL="914400" lvl="1" indent="-457200">
              <a:buFont typeface="+mj-lt"/>
              <a:buAutoNum type="arabicPeriod"/>
            </a:pPr>
            <a:r>
              <a:rPr lang="pt-PT" sz="1700"/>
              <a:t>Estabelecer uma conexão reversa (Reverse Shell).</a:t>
            </a:r>
          </a:p>
          <a:p>
            <a:pPr marL="914400" lvl="1" indent="-457200">
              <a:buFont typeface="+mj-lt"/>
              <a:buAutoNum type="arabicPeriod"/>
            </a:pPr>
            <a:r>
              <a:rPr lang="pt-PT" sz="1700"/>
              <a:t>Escalar privilégios para obter controlo total (Root).</a:t>
            </a:r>
          </a:p>
          <a:p>
            <a:endParaRPr lang="pt-PT" sz="1700"/>
          </a:p>
        </p:txBody>
      </p:sp>
      <p:pic>
        <p:nvPicPr>
          <p:cNvPr id="11268" name="Picture 4" descr="computer and phone alert icon design for digital cyber security 14466506 PNG">
            <a:extLst>
              <a:ext uri="{FF2B5EF4-FFF2-40B4-BE49-F238E27FC236}">
                <a16:creationId xmlns:a16="http://schemas.microsoft.com/office/drawing/2014/main" id="{70570BEF-3CE0-CDCF-3BB0-3F92AC7974C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1780" y="771753"/>
            <a:ext cx="5316095" cy="5316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643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7E5BDF-043C-BFEF-F4C3-A14743B4F3A8}"/>
              </a:ext>
            </a:extLst>
          </p:cNvPr>
          <p:cNvSpPr>
            <a:spLocks noGrp="1"/>
          </p:cNvSpPr>
          <p:nvPr>
            <p:ph type="title"/>
          </p:nvPr>
        </p:nvSpPr>
        <p:spPr>
          <a:xfrm>
            <a:off x="761840" y="1138265"/>
            <a:ext cx="4544762" cy="1401183"/>
          </a:xfrm>
        </p:spPr>
        <p:txBody>
          <a:bodyPr anchor="t">
            <a:normAutofit/>
          </a:bodyPr>
          <a:lstStyle/>
          <a:p>
            <a:r>
              <a:rPr lang="pt-PT" sz="3200" b="1"/>
              <a:t>Resultados de Exploração:</a:t>
            </a:r>
            <a:endParaRPr lang="pt-PT" sz="3200"/>
          </a:p>
        </p:txBody>
      </p:sp>
      <p:cxnSp>
        <p:nvCxnSpPr>
          <p:cNvPr id="12299" name="Straight Connector 12298">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Espaço Reservado para Conteúdo 2">
            <a:extLst>
              <a:ext uri="{FF2B5EF4-FFF2-40B4-BE49-F238E27FC236}">
                <a16:creationId xmlns:a16="http://schemas.microsoft.com/office/drawing/2014/main" id="{12C74F27-62C3-DF51-50B9-050215FA1B5D}"/>
              </a:ext>
            </a:extLst>
          </p:cNvPr>
          <p:cNvSpPr>
            <a:spLocks noGrp="1"/>
          </p:cNvSpPr>
          <p:nvPr>
            <p:ph idx="1"/>
          </p:nvPr>
        </p:nvSpPr>
        <p:spPr>
          <a:xfrm>
            <a:off x="761840" y="2551176"/>
            <a:ext cx="4544762" cy="3602935"/>
          </a:xfrm>
        </p:spPr>
        <p:txBody>
          <a:bodyPr>
            <a:normAutofit/>
          </a:bodyPr>
          <a:lstStyle/>
          <a:p>
            <a:r>
              <a:rPr lang="pt-PT" sz="2000"/>
              <a:t>Quando explorada com sucesso, a vulnerabilidade permite ao atacante executar qualquer comando com os privilégios do utilizador que corre o serviço (neste caso pentesterlab). Isto resulta no compromisso total da confidencialidade, integridade e disponibilidade do sistema, permitindo a leitura de ficheiros sensíveis (/etc/shadow), modificação de dados ou instalação de backdoors.</a:t>
            </a:r>
          </a:p>
        </p:txBody>
      </p:sp>
      <p:pic>
        <p:nvPicPr>
          <p:cNvPr id="12294" name="Picture 6" descr="Hacker Outline, Cyber Security, Digital Stealth Transparent PNG">
            <a:extLst>
              <a:ext uri="{FF2B5EF4-FFF2-40B4-BE49-F238E27FC236}">
                <a16:creationId xmlns:a16="http://schemas.microsoft.com/office/drawing/2014/main" id="{E61C1070-C1E9-EBBF-17E6-5B75133DDB8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91780" y="771753"/>
            <a:ext cx="5316095" cy="5316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09231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FB255E-91F9-31FF-D42D-FCCB57913F07}"/>
              </a:ext>
            </a:extLst>
          </p:cNvPr>
          <p:cNvSpPr>
            <a:spLocks noGrp="1"/>
          </p:cNvSpPr>
          <p:nvPr>
            <p:ph type="title"/>
          </p:nvPr>
        </p:nvSpPr>
        <p:spPr>
          <a:xfrm>
            <a:off x="5755598" y="1138036"/>
            <a:ext cx="5598202" cy="1402470"/>
          </a:xfrm>
        </p:spPr>
        <p:txBody>
          <a:bodyPr anchor="t">
            <a:normAutofit fontScale="90000"/>
          </a:bodyPr>
          <a:lstStyle/>
          <a:p>
            <a:r>
              <a:rPr lang="pt-PT" sz="3200" b="1" dirty="0"/>
              <a:t>Exploração da Vulnerabilidade</a:t>
            </a:r>
            <a:br>
              <a:rPr lang="pt-PT" sz="3200" b="1" dirty="0"/>
            </a:br>
            <a:br>
              <a:rPr lang="pt-PT" sz="3200" b="1" dirty="0"/>
            </a:br>
            <a:r>
              <a:rPr lang="pt-PT" sz="2200" b="1" dirty="0"/>
              <a:t>Como atua a Vulnerabilidade:</a:t>
            </a:r>
            <a:br>
              <a:rPr lang="pt-PT" sz="2200" b="1" dirty="0"/>
            </a:br>
            <a:endParaRPr lang="pt-PT" sz="2200" dirty="0"/>
          </a:p>
        </p:txBody>
      </p:sp>
      <p:pic>
        <p:nvPicPr>
          <p:cNvPr id="13316" name="Picture 4">
            <a:extLst>
              <a:ext uri="{FF2B5EF4-FFF2-40B4-BE49-F238E27FC236}">
                <a16:creationId xmlns:a16="http://schemas.microsoft.com/office/drawing/2014/main" id="{00586E56-ACCA-CE7C-8F1C-5768F70D9B1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84573" y="1756211"/>
            <a:ext cx="3132563" cy="3345577"/>
          </a:xfrm>
          <a:prstGeom prst="rect">
            <a:avLst/>
          </a:prstGeom>
          <a:noFill/>
          <a:extLst>
            <a:ext uri="{909E8E84-426E-40DD-AFC4-6F175D3DCCD1}">
              <a14:hiddenFill xmlns:a14="http://schemas.microsoft.com/office/drawing/2010/main">
                <a:solidFill>
                  <a:srgbClr val="FFFFFF"/>
                </a:solidFill>
              </a14:hiddenFill>
            </a:ext>
          </a:extLst>
        </p:spPr>
      </p:pic>
      <p:cxnSp>
        <p:nvCxnSpPr>
          <p:cNvPr id="13326" name="Straight Connector 13325">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58738"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Espaço Reservado para Conteúdo 2">
            <a:extLst>
              <a:ext uri="{FF2B5EF4-FFF2-40B4-BE49-F238E27FC236}">
                <a16:creationId xmlns:a16="http://schemas.microsoft.com/office/drawing/2014/main" id="{98CD90EE-AF5A-A22D-F96A-DBF882CA1430}"/>
              </a:ext>
            </a:extLst>
          </p:cNvPr>
          <p:cNvSpPr>
            <a:spLocks noGrp="1"/>
          </p:cNvSpPr>
          <p:nvPr>
            <p:ph idx="1"/>
          </p:nvPr>
        </p:nvSpPr>
        <p:spPr>
          <a:xfrm>
            <a:off x="5755598" y="2551176"/>
            <a:ext cx="5444382" cy="3591207"/>
          </a:xfrm>
        </p:spPr>
        <p:txBody>
          <a:bodyPr>
            <a:normAutofit/>
          </a:bodyPr>
          <a:lstStyle/>
          <a:p>
            <a:r>
              <a:rPr lang="pt-PT" sz="1800" dirty="0"/>
              <a:t>O </a:t>
            </a:r>
            <a:r>
              <a:rPr lang="pt-PT" sz="1800" i="1" dirty="0"/>
              <a:t>Shellshock</a:t>
            </a:r>
            <a:r>
              <a:rPr lang="pt-PT" sz="1800" dirty="0"/>
              <a:t> explora uma falha no </a:t>
            </a:r>
            <a:r>
              <a:rPr lang="pt-PT" sz="1800" b="1" dirty="0"/>
              <a:t>Bash</a:t>
            </a:r>
            <a:r>
              <a:rPr lang="pt-PT" sz="1800" dirty="0"/>
              <a:t> ao processar funções enviadas em </a:t>
            </a:r>
            <a:r>
              <a:rPr lang="pt-PT" sz="1800" b="1" dirty="0"/>
              <a:t>variáveis de ambiente</a:t>
            </a:r>
            <a:r>
              <a:rPr lang="pt-PT" sz="1800" dirty="0"/>
              <a:t>. Nas versões vulneráveis, o Bash executa também o que vem a seguir à definição da função, usando a assinatura do ataque () { :; };, seguida do comando malicioso. Em servidores web com </a:t>
            </a:r>
            <a:r>
              <a:rPr lang="pt-PT" sz="1800" b="1" dirty="0"/>
              <a:t>CGI</a:t>
            </a:r>
            <a:r>
              <a:rPr lang="pt-PT" sz="1800" dirty="0"/>
              <a:t>, cabeçalhos HTTP (como o </a:t>
            </a:r>
            <a:r>
              <a:rPr lang="pt-PT" sz="1800" i="1" dirty="0"/>
              <a:t>User-Agent</a:t>
            </a:r>
            <a:r>
              <a:rPr lang="pt-PT" sz="1800" dirty="0"/>
              <a:t>) são convertidos em variáveis de ambiente, permitindo injetar e executar comandos no servidor.</a:t>
            </a:r>
          </a:p>
        </p:txBody>
      </p:sp>
    </p:spTree>
    <p:extLst>
      <p:ext uri="{BB962C8B-B14F-4D97-AF65-F5344CB8AC3E}">
        <p14:creationId xmlns:p14="http://schemas.microsoft.com/office/powerpoint/2010/main" val="27947889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9BF8DC-C01E-B91E-A741-28AA49CEED2F}"/>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ítulo 1">
            <a:extLst>
              <a:ext uri="{FF2B5EF4-FFF2-40B4-BE49-F238E27FC236}">
                <a16:creationId xmlns:a16="http://schemas.microsoft.com/office/drawing/2014/main" id="{D6217E46-1C3A-BA45-16F4-E83D8179F751}"/>
              </a:ext>
            </a:extLst>
          </p:cNvPr>
          <p:cNvSpPr>
            <a:spLocks noGrp="1"/>
          </p:cNvSpPr>
          <p:nvPr>
            <p:ph type="title"/>
          </p:nvPr>
        </p:nvSpPr>
        <p:spPr>
          <a:xfrm>
            <a:off x="1020467" y="1397120"/>
            <a:ext cx="4707671" cy="1225650"/>
          </a:xfrm>
        </p:spPr>
        <p:txBody>
          <a:bodyPr anchor="b">
            <a:normAutofit/>
          </a:bodyPr>
          <a:lstStyle/>
          <a:p>
            <a:r>
              <a:rPr lang="pt-PT" sz="3800" b="1" dirty="0">
                <a:solidFill>
                  <a:schemeClr val="bg1"/>
                </a:solidFill>
              </a:rPr>
              <a:t>Como Explorar a Vulnerabilidade:</a:t>
            </a:r>
            <a:endParaRPr lang="pt-PT" sz="3800" dirty="0">
              <a:solidFill>
                <a:schemeClr val="bg1"/>
              </a:solidFill>
            </a:endParaRPr>
          </a:p>
        </p:txBody>
      </p:sp>
      <p:sp>
        <p:nvSpPr>
          <p:cNvPr id="3" name="Espaço Reservado para Conteúdo 2">
            <a:extLst>
              <a:ext uri="{FF2B5EF4-FFF2-40B4-BE49-F238E27FC236}">
                <a16:creationId xmlns:a16="http://schemas.microsoft.com/office/drawing/2014/main" id="{0F0389F9-317E-4BBA-0F64-CFA078CCB48D}"/>
              </a:ext>
            </a:extLst>
          </p:cNvPr>
          <p:cNvSpPr>
            <a:spLocks noGrp="1"/>
          </p:cNvSpPr>
          <p:nvPr>
            <p:ph idx="1"/>
          </p:nvPr>
        </p:nvSpPr>
        <p:spPr>
          <a:xfrm>
            <a:off x="1020467" y="2891752"/>
            <a:ext cx="4707671" cy="2334517"/>
          </a:xfrm>
        </p:spPr>
        <p:txBody>
          <a:bodyPr>
            <a:normAutofit/>
          </a:bodyPr>
          <a:lstStyle/>
          <a:p>
            <a:pPr marL="0" indent="0">
              <a:buNone/>
            </a:pPr>
            <a:r>
              <a:rPr lang="pt-PT" sz="2000" dirty="0">
                <a:solidFill>
                  <a:schemeClr val="bg1"/>
                </a:solidFill>
              </a:rPr>
              <a:t>1. 	Reconhecimento (Descoberta 	do Alvo): Identificação do IP da 	vítima na rede local utilizando 	varrimento de rede.</a:t>
            </a:r>
          </a:p>
          <a:p>
            <a:pPr marL="457200" indent="-457200">
              <a:buFont typeface="+mj-lt"/>
              <a:buAutoNum type="arabicPeriod"/>
            </a:pPr>
            <a:endParaRPr lang="pt-PT" sz="2000" dirty="0">
              <a:solidFill>
                <a:schemeClr val="bg1"/>
              </a:solidFill>
            </a:endParaRPr>
          </a:p>
        </p:txBody>
      </p:sp>
      <p:pic>
        <p:nvPicPr>
          <p:cNvPr id="8" name="Imagem 7" descr="Texto, Logotipo&#10;&#10;O conteúdo gerado por IA pode estar incorreto.">
            <a:extLst>
              <a:ext uri="{FF2B5EF4-FFF2-40B4-BE49-F238E27FC236}">
                <a16:creationId xmlns:a16="http://schemas.microsoft.com/office/drawing/2014/main" id="{9AE3CC9F-1275-1114-317A-DBC7E849C326}"/>
              </a:ext>
            </a:extLst>
          </p:cNvPr>
          <p:cNvPicPr>
            <a:picLocks noChangeAspect="1"/>
          </p:cNvPicPr>
          <p:nvPr/>
        </p:nvPicPr>
        <p:blipFill>
          <a:blip r:embed="rId2"/>
          <a:stretch>
            <a:fillRect/>
          </a:stretch>
        </p:blipFill>
        <p:spPr>
          <a:xfrm>
            <a:off x="6992455" y="1338355"/>
            <a:ext cx="3332766" cy="671590"/>
          </a:xfrm>
          <a:prstGeom prst="rect">
            <a:avLst/>
          </a:prstGeom>
        </p:spPr>
      </p:pic>
      <p:sp>
        <p:nvSpPr>
          <p:cNvPr id="19" name="Rectangle 18">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Imagem 11" descr="Texto&#10;&#10;O conteúdo gerado por IA pode estar incorreto.">
            <a:extLst>
              <a:ext uri="{FF2B5EF4-FFF2-40B4-BE49-F238E27FC236}">
                <a16:creationId xmlns:a16="http://schemas.microsoft.com/office/drawing/2014/main" id="{127EACF8-1CCD-AE26-88C9-74894305AE5F}"/>
              </a:ext>
            </a:extLst>
          </p:cNvPr>
          <p:cNvPicPr>
            <a:picLocks noChangeAspect="1"/>
          </p:cNvPicPr>
          <p:nvPr/>
        </p:nvPicPr>
        <p:blipFill>
          <a:blip r:embed="rId3"/>
          <a:stretch>
            <a:fillRect/>
          </a:stretch>
        </p:blipFill>
        <p:spPr>
          <a:xfrm>
            <a:off x="5875601" y="2542051"/>
            <a:ext cx="5566475" cy="2838902"/>
          </a:xfrm>
          <a:prstGeom prst="rect">
            <a:avLst/>
          </a:prstGeom>
        </p:spPr>
      </p:pic>
      <p:sp>
        <p:nvSpPr>
          <p:cNvPr id="21" name="Rectangle 20">
            <a:extLst>
              <a:ext uri="{FF2B5EF4-FFF2-40B4-BE49-F238E27FC236}">
                <a16:creationId xmlns:a16="http://schemas.microsoft.com/office/drawing/2014/main" id="{C61F2F60-14E3-4196-B7CE-175E46F04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461" y="1159669"/>
            <a:ext cx="10987078"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86200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Espaço Reservado para Conteúdo 2">
            <a:extLst>
              <a:ext uri="{FF2B5EF4-FFF2-40B4-BE49-F238E27FC236}">
                <a16:creationId xmlns:a16="http://schemas.microsoft.com/office/drawing/2014/main" id="{A1C74004-C962-CEE0-CA02-D1CE137EC928}"/>
              </a:ext>
            </a:extLst>
          </p:cNvPr>
          <p:cNvSpPr>
            <a:spLocks noGrp="1"/>
          </p:cNvSpPr>
          <p:nvPr>
            <p:ph idx="1"/>
          </p:nvPr>
        </p:nvSpPr>
        <p:spPr>
          <a:xfrm>
            <a:off x="1020467" y="2891752"/>
            <a:ext cx="4707671" cy="2334517"/>
          </a:xfrm>
        </p:spPr>
        <p:txBody>
          <a:bodyPr>
            <a:normAutofit/>
          </a:bodyPr>
          <a:lstStyle/>
          <a:p>
            <a:pPr marL="0" indent="0">
              <a:buNone/>
            </a:pPr>
            <a:r>
              <a:rPr lang="pt-PT" sz="2000" dirty="0">
                <a:solidFill>
                  <a:schemeClr val="bg1"/>
                </a:solidFill>
              </a:rPr>
              <a:t>2. 	Verificação (Reconnaissance): 	Confirmação de que o script CGI 	existe e está acessível.</a:t>
            </a:r>
          </a:p>
          <a:p>
            <a:pPr marL="0" indent="0">
              <a:buNone/>
            </a:pPr>
            <a:endParaRPr lang="pt-PT" sz="2000" dirty="0">
              <a:solidFill>
                <a:schemeClr val="bg1"/>
              </a:solidFill>
            </a:endParaRPr>
          </a:p>
          <a:p>
            <a:endParaRPr lang="pt-PT" sz="2000" dirty="0">
              <a:solidFill>
                <a:schemeClr val="bg1"/>
              </a:solidFill>
            </a:endParaRPr>
          </a:p>
        </p:txBody>
      </p:sp>
      <p:pic>
        <p:nvPicPr>
          <p:cNvPr id="5" name="Imagem 4" descr="Tela preta com letras brancas&#10;&#10;O conteúdo gerado por IA pode estar incorreto.">
            <a:extLst>
              <a:ext uri="{FF2B5EF4-FFF2-40B4-BE49-F238E27FC236}">
                <a16:creationId xmlns:a16="http://schemas.microsoft.com/office/drawing/2014/main" id="{EB0B99A1-678A-812B-8B2E-AB0A0C8C7CF3}"/>
              </a:ext>
            </a:extLst>
          </p:cNvPr>
          <p:cNvPicPr>
            <a:picLocks noChangeAspect="1"/>
          </p:cNvPicPr>
          <p:nvPr/>
        </p:nvPicPr>
        <p:blipFill>
          <a:blip r:embed="rId2"/>
          <a:stretch>
            <a:fillRect/>
          </a:stretch>
        </p:blipFill>
        <p:spPr>
          <a:xfrm>
            <a:off x="6322512" y="3985387"/>
            <a:ext cx="5037433" cy="696666"/>
          </a:xfrm>
          <a:prstGeom prst="rect">
            <a:avLst/>
          </a:prstGeom>
        </p:spPr>
      </p:pic>
      <p:sp>
        <p:nvSpPr>
          <p:cNvPr id="14" name="Rectangle 13">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m 6" descr="Texto&#10;&#10;O conteúdo gerado por IA pode estar incorreto.">
            <a:extLst>
              <a:ext uri="{FF2B5EF4-FFF2-40B4-BE49-F238E27FC236}">
                <a16:creationId xmlns:a16="http://schemas.microsoft.com/office/drawing/2014/main" id="{4C11C284-C99C-1A56-C49A-EC824EE7A4CE}"/>
              </a:ext>
            </a:extLst>
          </p:cNvPr>
          <p:cNvPicPr>
            <a:picLocks noChangeAspect="1"/>
          </p:cNvPicPr>
          <p:nvPr/>
        </p:nvPicPr>
        <p:blipFill>
          <a:blip r:embed="rId3"/>
          <a:stretch>
            <a:fillRect/>
          </a:stretch>
        </p:blipFill>
        <p:spPr>
          <a:xfrm>
            <a:off x="6322511" y="1369961"/>
            <a:ext cx="5037433" cy="1856614"/>
          </a:xfrm>
          <a:prstGeom prst="rect">
            <a:avLst/>
          </a:prstGeom>
        </p:spPr>
      </p:pic>
      <p:sp>
        <p:nvSpPr>
          <p:cNvPr id="16" name="Rectangle 15">
            <a:extLst>
              <a:ext uri="{FF2B5EF4-FFF2-40B4-BE49-F238E27FC236}">
                <a16:creationId xmlns:a16="http://schemas.microsoft.com/office/drawing/2014/main" id="{C61F2F60-14E3-4196-B7CE-175E46F04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461" y="1159669"/>
            <a:ext cx="10987078"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16685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15" name="Freeform: Shape 14">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Espaço Reservado para Conteúdo 2">
            <a:extLst>
              <a:ext uri="{FF2B5EF4-FFF2-40B4-BE49-F238E27FC236}">
                <a16:creationId xmlns:a16="http://schemas.microsoft.com/office/drawing/2014/main" id="{E6AFE004-FFE7-65D4-B738-8ADF73C39061}"/>
              </a:ext>
            </a:extLst>
          </p:cNvPr>
          <p:cNvSpPr>
            <a:spLocks noGrp="1"/>
          </p:cNvSpPr>
          <p:nvPr>
            <p:ph idx="1"/>
          </p:nvPr>
        </p:nvSpPr>
        <p:spPr>
          <a:xfrm>
            <a:off x="783499" y="2175081"/>
            <a:ext cx="5126896" cy="3227626"/>
          </a:xfrm>
        </p:spPr>
        <p:txBody>
          <a:bodyPr anchor="ctr">
            <a:normAutofit/>
          </a:bodyPr>
          <a:lstStyle/>
          <a:p>
            <a:pPr marL="0" indent="0">
              <a:buNone/>
            </a:pPr>
            <a:r>
              <a:rPr lang="en-US" sz="1800" dirty="0">
                <a:solidFill>
                  <a:schemeClr val="tx2"/>
                </a:solidFill>
              </a:rPr>
              <a:t>3.	</a:t>
            </a:r>
            <a:r>
              <a:rPr lang="pt-PT" sz="1800" dirty="0">
                <a:solidFill>
                  <a:schemeClr val="tx2"/>
                </a:solidFill>
              </a:rPr>
              <a:t> Exploração e Acesso Inicial (Reverse 	Shell): Injeção do payload malicioso no 	cabeçalho User-Agent para forçar o 	servidor a conectar-se ao atacante (Kali) 	via Netcat.</a:t>
            </a:r>
          </a:p>
          <a:p>
            <a:pPr marL="0" indent="0">
              <a:buNone/>
            </a:pPr>
            <a:endParaRPr lang="pt-PT" sz="1800" dirty="0">
              <a:solidFill>
                <a:schemeClr val="tx2"/>
              </a:solidFill>
            </a:endParaRPr>
          </a:p>
        </p:txBody>
      </p:sp>
      <p:grpSp>
        <p:nvGrpSpPr>
          <p:cNvPr id="20" name="Group 19">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21" name="Freeform: Shape 20">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4" name="Freeform: Shape 23">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Imagem 4" descr="Texto&#10;&#10;O conteúdo gerado por IA pode estar incorreto.">
            <a:extLst>
              <a:ext uri="{FF2B5EF4-FFF2-40B4-BE49-F238E27FC236}">
                <a16:creationId xmlns:a16="http://schemas.microsoft.com/office/drawing/2014/main" id="{D4A3659A-3D2F-6757-915A-6D50705F4FA5}"/>
              </a:ext>
            </a:extLst>
          </p:cNvPr>
          <p:cNvPicPr>
            <a:picLocks noChangeAspect="1"/>
          </p:cNvPicPr>
          <p:nvPr/>
        </p:nvPicPr>
        <p:blipFill>
          <a:blip r:embed="rId2"/>
          <a:stretch>
            <a:fillRect/>
          </a:stretch>
        </p:blipFill>
        <p:spPr>
          <a:xfrm>
            <a:off x="6693589" y="2784310"/>
            <a:ext cx="4954693" cy="1912657"/>
          </a:xfrm>
          <a:prstGeom prst="rect">
            <a:avLst/>
          </a:prstGeom>
        </p:spPr>
      </p:pic>
      <p:sp>
        <p:nvSpPr>
          <p:cNvPr id="2" name="TextBox 1">
            <a:extLst>
              <a:ext uri="{FF2B5EF4-FFF2-40B4-BE49-F238E27FC236}">
                <a16:creationId xmlns:a16="http://schemas.microsoft.com/office/drawing/2014/main" id="{5D6A380F-1BD6-05A6-E322-4AF7B502227C}"/>
              </a:ext>
            </a:extLst>
          </p:cNvPr>
          <p:cNvSpPr txBox="1"/>
          <p:nvPr/>
        </p:nvSpPr>
        <p:spPr>
          <a:xfrm>
            <a:off x="6693589" y="4725056"/>
            <a:ext cx="2596715" cy="307777"/>
          </a:xfrm>
          <a:prstGeom prst="rect">
            <a:avLst/>
          </a:prstGeom>
          <a:noFill/>
        </p:spPr>
        <p:txBody>
          <a:bodyPr wrap="square" rtlCol="0">
            <a:spAutoFit/>
          </a:bodyPr>
          <a:lstStyle/>
          <a:p>
            <a:r>
              <a:rPr lang="pt-PT" sz="1400" i="1" dirty="0"/>
              <a:t>Listener</a:t>
            </a:r>
            <a:endParaRPr lang="en-US" sz="1400" i="1" dirty="0"/>
          </a:p>
        </p:txBody>
      </p:sp>
      <p:pic>
        <p:nvPicPr>
          <p:cNvPr id="6" name="Picture 5">
            <a:extLst>
              <a:ext uri="{FF2B5EF4-FFF2-40B4-BE49-F238E27FC236}">
                <a16:creationId xmlns:a16="http://schemas.microsoft.com/office/drawing/2014/main" id="{123CBF88-4DB4-4036-68CC-6E59C4B8FB45}"/>
              </a:ext>
            </a:extLst>
          </p:cNvPr>
          <p:cNvPicPr>
            <a:picLocks noChangeAspect="1"/>
          </p:cNvPicPr>
          <p:nvPr/>
        </p:nvPicPr>
        <p:blipFill>
          <a:blip r:embed="rId3"/>
          <a:stretch>
            <a:fillRect/>
          </a:stretch>
        </p:blipFill>
        <p:spPr>
          <a:xfrm>
            <a:off x="1673320" y="5027065"/>
            <a:ext cx="2982167" cy="1034785"/>
          </a:xfrm>
          <a:prstGeom prst="rect">
            <a:avLst/>
          </a:prstGeom>
        </p:spPr>
      </p:pic>
      <p:sp>
        <p:nvSpPr>
          <p:cNvPr id="7" name="TextBox 6">
            <a:extLst>
              <a:ext uri="{FF2B5EF4-FFF2-40B4-BE49-F238E27FC236}">
                <a16:creationId xmlns:a16="http://schemas.microsoft.com/office/drawing/2014/main" id="{DD566AF5-A41B-739E-0103-BF0FE148AC1D}"/>
              </a:ext>
            </a:extLst>
          </p:cNvPr>
          <p:cNvSpPr txBox="1"/>
          <p:nvPr/>
        </p:nvSpPr>
        <p:spPr>
          <a:xfrm>
            <a:off x="1586330" y="6061850"/>
            <a:ext cx="1775435" cy="307777"/>
          </a:xfrm>
          <a:prstGeom prst="rect">
            <a:avLst/>
          </a:prstGeom>
          <a:noFill/>
        </p:spPr>
        <p:txBody>
          <a:bodyPr wrap="square" rtlCol="0">
            <a:spAutoFit/>
          </a:bodyPr>
          <a:lstStyle/>
          <a:p>
            <a:r>
              <a:rPr lang="pt-PT" sz="1200" i="1" dirty="0"/>
              <a:t>Parametros</a:t>
            </a:r>
            <a:r>
              <a:rPr lang="pt-PT" sz="1400" i="1" dirty="0"/>
              <a:t> </a:t>
            </a:r>
            <a:endParaRPr lang="en-US" sz="1400" i="1" dirty="0"/>
          </a:p>
        </p:txBody>
      </p:sp>
    </p:spTree>
    <p:extLst>
      <p:ext uri="{BB962C8B-B14F-4D97-AF65-F5344CB8AC3E}">
        <p14:creationId xmlns:p14="http://schemas.microsoft.com/office/powerpoint/2010/main" val="3003929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3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Espaço Reservado para Conteúdo 2">
            <a:extLst>
              <a:ext uri="{FF2B5EF4-FFF2-40B4-BE49-F238E27FC236}">
                <a16:creationId xmlns:a16="http://schemas.microsoft.com/office/drawing/2014/main" id="{099D0AF7-5359-AFAD-84F3-C283C8535315}"/>
              </a:ext>
            </a:extLst>
          </p:cNvPr>
          <p:cNvSpPr>
            <a:spLocks noGrp="1"/>
          </p:cNvSpPr>
          <p:nvPr>
            <p:ph idx="1"/>
          </p:nvPr>
        </p:nvSpPr>
        <p:spPr>
          <a:xfrm>
            <a:off x="1020467" y="2891752"/>
            <a:ext cx="4707671" cy="2334517"/>
          </a:xfrm>
        </p:spPr>
        <p:txBody>
          <a:bodyPr>
            <a:normAutofit/>
          </a:bodyPr>
          <a:lstStyle/>
          <a:p>
            <a:pPr marL="0" indent="0">
              <a:buNone/>
            </a:pPr>
            <a:r>
              <a:rPr lang="pt-PT" sz="2000" dirty="0">
                <a:solidFill>
                  <a:schemeClr val="bg1"/>
                </a:solidFill>
              </a:rPr>
              <a:t>Disparo do Exploit:</a:t>
            </a:r>
          </a:p>
        </p:txBody>
      </p:sp>
      <p:pic>
        <p:nvPicPr>
          <p:cNvPr id="5" name="Imagem 4">
            <a:extLst>
              <a:ext uri="{FF2B5EF4-FFF2-40B4-BE49-F238E27FC236}">
                <a16:creationId xmlns:a16="http://schemas.microsoft.com/office/drawing/2014/main" id="{97ADDB96-1589-9E2D-9DF6-F520E0F22E6A}"/>
              </a:ext>
            </a:extLst>
          </p:cNvPr>
          <p:cNvPicPr>
            <a:picLocks noChangeAspect="1"/>
          </p:cNvPicPr>
          <p:nvPr/>
        </p:nvPicPr>
        <p:blipFill>
          <a:blip r:embed="rId2"/>
          <a:stretch>
            <a:fillRect/>
          </a:stretch>
        </p:blipFill>
        <p:spPr>
          <a:xfrm>
            <a:off x="4374147" y="1342540"/>
            <a:ext cx="6996529" cy="857074"/>
          </a:xfrm>
          <a:prstGeom prst="rect">
            <a:avLst/>
          </a:prstGeom>
        </p:spPr>
      </p:pic>
      <p:sp>
        <p:nvSpPr>
          <p:cNvPr id="40" name="Rectangle 39">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m 6" descr="Texto&#10;&#10;O conteúdo gerado por IA pode estar incorreto.">
            <a:extLst>
              <a:ext uri="{FF2B5EF4-FFF2-40B4-BE49-F238E27FC236}">
                <a16:creationId xmlns:a16="http://schemas.microsoft.com/office/drawing/2014/main" id="{8298F381-DCE8-EFED-C554-44E2FF23CB56}"/>
              </a:ext>
            </a:extLst>
          </p:cNvPr>
          <p:cNvPicPr>
            <a:picLocks noChangeAspect="1"/>
          </p:cNvPicPr>
          <p:nvPr/>
        </p:nvPicPr>
        <p:blipFill>
          <a:blip r:embed="rId3"/>
          <a:stretch>
            <a:fillRect/>
          </a:stretch>
        </p:blipFill>
        <p:spPr>
          <a:xfrm>
            <a:off x="4374147" y="2680696"/>
            <a:ext cx="6588821" cy="2334516"/>
          </a:xfrm>
          <a:prstGeom prst="rect">
            <a:avLst/>
          </a:prstGeom>
        </p:spPr>
      </p:pic>
      <p:sp>
        <p:nvSpPr>
          <p:cNvPr id="42" name="Rectangle 41">
            <a:extLst>
              <a:ext uri="{FF2B5EF4-FFF2-40B4-BE49-F238E27FC236}">
                <a16:creationId xmlns:a16="http://schemas.microsoft.com/office/drawing/2014/main" id="{C61F2F60-14E3-4196-B7CE-175E46F04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461" y="1159669"/>
            <a:ext cx="10987078"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m 10" descr="Tela preta com letras brancas&#10;&#10;O conteúdo gerado por IA pode estar incorreto.">
            <a:extLst>
              <a:ext uri="{FF2B5EF4-FFF2-40B4-BE49-F238E27FC236}">
                <a16:creationId xmlns:a16="http://schemas.microsoft.com/office/drawing/2014/main" id="{B956D00D-F765-B3A8-115F-8D440136E307}"/>
              </a:ext>
            </a:extLst>
          </p:cNvPr>
          <p:cNvPicPr>
            <a:picLocks noChangeAspect="1"/>
          </p:cNvPicPr>
          <p:nvPr/>
        </p:nvPicPr>
        <p:blipFill>
          <a:blip r:embed="rId4"/>
          <a:stretch>
            <a:fillRect/>
          </a:stretch>
        </p:blipFill>
        <p:spPr>
          <a:xfrm>
            <a:off x="4374147" y="5511464"/>
            <a:ext cx="6077543" cy="859293"/>
          </a:xfrm>
          <a:prstGeom prst="rect">
            <a:avLst/>
          </a:prstGeom>
        </p:spPr>
      </p:pic>
      <p:sp>
        <p:nvSpPr>
          <p:cNvPr id="2" name="TextBox 1">
            <a:extLst>
              <a:ext uri="{FF2B5EF4-FFF2-40B4-BE49-F238E27FC236}">
                <a16:creationId xmlns:a16="http://schemas.microsoft.com/office/drawing/2014/main" id="{084C005F-160F-B85A-477B-640A49DB8E6D}"/>
              </a:ext>
            </a:extLst>
          </p:cNvPr>
          <p:cNvSpPr txBox="1"/>
          <p:nvPr/>
        </p:nvSpPr>
        <p:spPr>
          <a:xfrm>
            <a:off x="4320940" y="2223342"/>
            <a:ext cx="1231125" cy="276999"/>
          </a:xfrm>
          <a:prstGeom prst="rect">
            <a:avLst/>
          </a:prstGeom>
          <a:noFill/>
        </p:spPr>
        <p:txBody>
          <a:bodyPr wrap="square" rtlCol="0">
            <a:spAutoFit/>
          </a:bodyPr>
          <a:lstStyle/>
          <a:p>
            <a:r>
              <a:rPr lang="pt-PT" sz="1200" i="1">
                <a:solidFill>
                  <a:schemeClr val="bg1"/>
                </a:solidFill>
              </a:rPr>
              <a:t>Ataque </a:t>
            </a:r>
            <a:endParaRPr lang="en-US" sz="1200" i="1" dirty="0">
              <a:solidFill>
                <a:schemeClr val="bg1"/>
              </a:solidFill>
            </a:endParaRPr>
          </a:p>
        </p:txBody>
      </p:sp>
      <p:sp>
        <p:nvSpPr>
          <p:cNvPr id="4" name="TextBox 3">
            <a:extLst>
              <a:ext uri="{FF2B5EF4-FFF2-40B4-BE49-F238E27FC236}">
                <a16:creationId xmlns:a16="http://schemas.microsoft.com/office/drawing/2014/main" id="{1D6FCA90-AA7F-2943-0724-72018F464FA5}"/>
              </a:ext>
            </a:extLst>
          </p:cNvPr>
          <p:cNvSpPr txBox="1"/>
          <p:nvPr/>
        </p:nvSpPr>
        <p:spPr>
          <a:xfrm>
            <a:off x="4374147" y="5015212"/>
            <a:ext cx="2291829" cy="276999"/>
          </a:xfrm>
          <a:prstGeom prst="rect">
            <a:avLst/>
          </a:prstGeom>
          <a:noFill/>
        </p:spPr>
        <p:txBody>
          <a:bodyPr wrap="square" rtlCol="0">
            <a:spAutoFit/>
          </a:bodyPr>
          <a:lstStyle/>
          <a:p>
            <a:r>
              <a:rPr lang="pt-PT" sz="1200" i="1" dirty="0">
                <a:solidFill>
                  <a:schemeClr val="bg1"/>
                </a:solidFill>
              </a:rPr>
              <a:t>Dentro do pc da vitima</a:t>
            </a:r>
          </a:p>
        </p:txBody>
      </p:sp>
      <p:sp>
        <p:nvSpPr>
          <p:cNvPr id="6" name="TextBox 5">
            <a:extLst>
              <a:ext uri="{FF2B5EF4-FFF2-40B4-BE49-F238E27FC236}">
                <a16:creationId xmlns:a16="http://schemas.microsoft.com/office/drawing/2014/main" id="{0BFA7230-2E37-B497-BAAE-7CD9C7FCD662}"/>
              </a:ext>
            </a:extLst>
          </p:cNvPr>
          <p:cNvSpPr txBox="1"/>
          <p:nvPr/>
        </p:nvSpPr>
        <p:spPr>
          <a:xfrm>
            <a:off x="4374147" y="6370757"/>
            <a:ext cx="2355837" cy="276999"/>
          </a:xfrm>
          <a:prstGeom prst="rect">
            <a:avLst/>
          </a:prstGeom>
          <a:noFill/>
        </p:spPr>
        <p:txBody>
          <a:bodyPr wrap="square" rtlCol="0">
            <a:spAutoFit/>
          </a:bodyPr>
          <a:lstStyle/>
          <a:p>
            <a:r>
              <a:rPr lang="pt-PT" sz="1200" i="1" dirty="0">
                <a:solidFill>
                  <a:schemeClr val="bg1"/>
                </a:solidFill>
              </a:rPr>
              <a:t>O user que foi acessado</a:t>
            </a:r>
            <a:endParaRPr lang="en-US" sz="1200" i="1" dirty="0">
              <a:solidFill>
                <a:schemeClr val="bg1"/>
              </a:solidFill>
            </a:endParaRPr>
          </a:p>
        </p:txBody>
      </p:sp>
    </p:spTree>
    <p:extLst>
      <p:ext uri="{BB962C8B-B14F-4D97-AF65-F5344CB8AC3E}">
        <p14:creationId xmlns:p14="http://schemas.microsoft.com/office/powerpoint/2010/main" val="210307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Espaço Reservado para Conteúdo 2">
            <a:extLst>
              <a:ext uri="{FF2B5EF4-FFF2-40B4-BE49-F238E27FC236}">
                <a16:creationId xmlns:a16="http://schemas.microsoft.com/office/drawing/2014/main" id="{877E3A90-991B-1210-2087-836182DB7692}"/>
              </a:ext>
            </a:extLst>
          </p:cNvPr>
          <p:cNvSpPr>
            <a:spLocks noGrp="1"/>
          </p:cNvSpPr>
          <p:nvPr>
            <p:ph idx="1"/>
          </p:nvPr>
        </p:nvSpPr>
        <p:spPr>
          <a:xfrm>
            <a:off x="913408" y="1970422"/>
            <a:ext cx="4707671" cy="2334517"/>
          </a:xfrm>
        </p:spPr>
        <p:txBody>
          <a:bodyPr>
            <a:normAutofit/>
          </a:bodyPr>
          <a:lstStyle/>
          <a:p>
            <a:pPr marL="0" indent="0">
              <a:buNone/>
            </a:pPr>
            <a:r>
              <a:rPr lang="en-US" sz="2000" dirty="0">
                <a:solidFill>
                  <a:schemeClr val="bg1"/>
                </a:solidFill>
              </a:rPr>
              <a:t>4.	 </a:t>
            </a:r>
            <a:r>
              <a:rPr lang="pt-PT" sz="2000" dirty="0">
                <a:solidFill>
                  <a:schemeClr val="bg1"/>
                </a:solidFill>
              </a:rPr>
              <a:t>Estabilização e Escalada de 	Privilégios: Após obter a shell 	como utilizador pentesterlab, a 	shell foi estabilizada e os 	privilégios foram elevados para 	root explorando permissões de 	sudo ou vulnerabilidades de 	Kernel.</a:t>
            </a:r>
          </a:p>
          <a:p>
            <a:pPr marL="0" indent="0">
              <a:buNone/>
            </a:pPr>
            <a:endParaRPr lang="pt-PT" sz="2000" dirty="0">
              <a:solidFill>
                <a:schemeClr val="bg1"/>
              </a:solidFill>
            </a:endParaRPr>
          </a:p>
        </p:txBody>
      </p:sp>
      <p:pic>
        <p:nvPicPr>
          <p:cNvPr id="6" name="Imagem 5" descr="Texto&#10;&#10;O conteúdo gerado por IA pode estar incorreto.">
            <a:extLst>
              <a:ext uri="{FF2B5EF4-FFF2-40B4-BE49-F238E27FC236}">
                <a16:creationId xmlns:a16="http://schemas.microsoft.com/office/drawing/2014/main" id="{A7E60D38-18A4-3C8F-1596-F8763C236773}"/>
              </a:ext>
            </a:extLst>
          </p:cNvPr>
          <p:cNvPicPr>
            <a:picLocks noChangeAspect="1"/>
          </p:cNvPicPr>
          <p:nvPr/>
        </p:nvPicPr>
        <p:blipFill>
          <a:blip r:embed="rId2"/>
          <a:stretch>
            <a:fillRect/>
          </a:stretch>
        </p:blipFill>
        <p:spPr>
          <a:xfrm>
            <a:off x="6241159" y="1498163"/>
            <a:ext cx="5037433" cy="944519"/>
          </a:xfrm>
          <a:prstGeom prst="rect">
            <a:avLst/>
          </a:prstGeom>
        </p:spPr>
      </p:pic>
      <p:sp>
        <p:nvSpPr>
          <p:cNvPr id="13" name="Rectangle 12">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m 3" descr="Texto&#10;&#10;O conteúdo gerado por IA pode estar incorreto.">
            <a:extLst>
              <a:ext uri="{FF2B5EF4-FFF2-40B4-BE49-F238E27FC236}">
                <a16:creationId xmlns:a16="http://schemas.microsoft.com/office/drawing/2014/main" id="{B34E6A22-4936-BA8F-827B-9D0495FE5E1E}"/>
              </a:ext>
            </a:extLst>
          </p:cNvPr>
          <p:cNvPicPr>
            <a:picLocks noChangeAspect="1"/>
          </p:cNvPicPr>
          <p:nvPr/>
        </p:nvPicPr>
        <p:blipFill>
          <a:blip r:embed="rId3"/>
          <a:stretch>
            <a:fillRect/>
          </a:stretch>
        </p:blipFill>
        <p:spPr>
          <a:xfrm>
            <a:off x="6241158" y="3287253"/>
            <a:ext cx="5037433" cy="1217178"/>
          </a:xfrm>
          <a:prstGeom prst="rect">
            <a:avLst/>
          </a:prstGeom>
        </p:spPr>
      </p:pic>
      <p:sp>
        <p:nvSpPr>
          <p:cNvPr id="15" name="Rectangle 14">
            <a:extLst>
              <a:ext uri="{FF2B5EF4-FFF2-40B4-BE49-F238E27FC236}">
                <a16:creationId xmlns:a16="http://schemas.microsoft.com/office/drawing/2014/main" id="{C61F2F60-14E3-4196-B7CE-175E46F04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461" y="1159669"/>
            <a:ext cx="10987078"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80666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F669DF0-36E7-5667-CE9F-1D52D2511F30}"/>
              </a:ext>
            </a:extLst>
          </p:cNvPr>
          <p:cNvSpPr>
            <a:spLocks noGrp="1"/>
          </p:cNvSpPr>
          <p:nvPr>
            <p:ph type="title"/>
          </p:nvPr>
        </p:nvSpPr>
        <p:spPr>
          <a:xfrm>
            <a:off x="686834" y="1153572"/>
            <a:ext cx="3200400" cy="4461163"/>
          </a:xfrm>
        </p:spPr>
        <p:txBody>
          <a:bodyPr>
            <a:normAutofit/>
          </a:bodyPr>
          <a:lstStyle/>
          <a:p>
            <a:r>
              <a:rPr lang="pt-PT" sz="3400" b="1">
                <a:solidFill>
                  <a:srgbClr val="FFFFFF"/>
                </a:solidFill>
              </a:rPr>
              <a:t>Mitigação da Vulnerabilidade</a:t>
            </a:r>
            <a:br>
              <a:rPr lang="pt-PT" sz="3400" b="1">
                <a:solidFill>
                  <a:srgbClr val="FFFFFF"/>
                </a:solidFill>
              </a:rPr>
            </a:br>
            <a:endParaRPr lang="pt-PT" sz="34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Espaço Reservado para Conteúdo 2">
            <a:extLst>
              <a:ext uri="{FF2B5EF4-FFF2-40B4-BE49-F238E27FC236}">
                <a16:creationId xmlns:a16="http://schemas.microsoft.com/office/drawing/2014/main" id="{77B8231E-EAF2-539A-4519-246896C19AB6}"/>
              </a:ext>
            </a:extLst>
          </p:cNvPr>
          <p:cNvSpPr>
            <a:spLocks noGrp="1"/>
          </p:cNvSpPr>
          <p:nvPr>
            <p:ph idx="1"/>
          </p:nvPr>
        </p:nvSpPr>
        <p:spPr>
          <a:xfrm>
            <a:off x="4447308" y="591344"/>
            <a:ext cx="6906491" cy="5585619"/>
          </a:xfrm>
        </p:spPr>
        <p:txBody>
          <a:bodyPr anchor="ctr">
            <a:normAutofit/>
          </a:bodyPr>
          <a:lstStyle/>
          <a:p>
            <a:r>
              <a:rPr lang="pt-PT" sz="1500" b="1" dirty="0"/>
              <a:t>Medidas de Proteção:</a:t>
            </a:r>
            <a:endParaRPr lang="pt-PT" sz="1500" dirty="0"/>
          </a:p>
          <a:p>
            <a:pPr marL="971550" lvl="1" indent="-514350">
              <a:buFont typeface="+mj-lt"/>
              <a:buAutoNum type="arabicPeriod"/>
            </a:pPr>
            <a:r>
              <a:rPr lang="pt-PT" sz="1500" dirty="0"/>
              <a:t>Atualização do Bash (Patching): A medida mais eficaz é atualizar o GNU Bash para a versão mais recente que contém a correção para o CVE-2014-6278 e variantes subsequentes.</a:t>
            </a:r>
          </a:p>
          <a:p>
            <a:pPr marL="914400" lvl="1" indent="-457200">
              <a:buFont typeface="+mj-lt"/>
              <a:buAutoNum type="arabicPeriod"/>
            </a:pPr>
            <a:endParaRPr lang="pt-PT" sz="1500" dirty="0"/>
          </a:p>
          <a:p>
            <a:pPr marL="914400" lvl="1" indent="-457200">
              <a:buFont typeface="+mj-lt"/>
              <a:buAutoNum type="arabicPeriod"/>
            </a:pPr>
            <a:endParaRPr lang="pt-PT" sz="1500" dirty="0"/>
          </a:p>
          <a:p>
            <a:pPr marL="914400" lvl="1" indent="-457200">
              <a:buFont typeface="+mj-lt"/>
              <a:buAutoNum type="arabicPeriod"/>
            </a:pPr>
            <a:endParaRPr lang="pt-PT" sz="1500" dirty="0"/>
          </a:p>
          <a:p>
            <a:pPr marL="914400" lvl="1" indent="-457200">
              <a:buFont typeface="+mj-lt"/>
              <a:buAutoNum type="arabicPeriod"/>
            </a:pPr>
            <a:endParaRPr lang="pt-PT" sz="1500" dirty="0"/>
          </a:p>
          <a:p>
            <a:pPr marL="914400" lvl="1" indent="-457200">
              <a:buFont typeface="+mj-lt"/>
              <a:buAutoNum type="arabicPeriod"/>
            </a:pPr>
            <a:endParaRPr lang="pt-PT" sz="1500" dirty="0"/>
          </a:p>
          <a:p>
            <a:pPr marL="971550" lvl="1" indent="-514350">
              <a:buFont typeface="+mj-lt"/>
              <a:buAutoNum type="arabicPeriod"/>
            </a:pPr>
            <a:r>
              <a:rPr lang="pt-PT" sz="1500" dirty="0"/>
              <a:t>Configuração de WAF (Web Application Firewall): Implementar regras no WAF (como ModSecurity) para filtrar e bloquear pedidos HTTP que contenham a assinatura do exploit: () { :; };.</a:t>
            </a:r>
          </a:p>
          <a:p>
            <a:pPr marL="971550" lvl="1" indent="-514350">
              <a:buFont typeface="+mj-lt"/>
              <a:buAutoNum type="arabicPeriod"/>
            </a:pPr>
            <a:r>
              <a:rPr lang="pt-PT" sz="1500" dirty="0"/>
              <a:t>Desativação de CGI: Se não for estritamente necessário, desativar o suporte a scripts CGI no servidor web para reduzir a superfície de ataque.</a:t>
            </a:r>
          </a:p>
          <a:p>
            <a:pPr marL="971550" lvl="1" indent="-514350">
              <a:buFont typeface="+mj-lt"/>
              <a:buAutoNum type="arabicPeriod"/>
            </a:pPr>
            <a:r>
              <a:rPr lang="pt-PT" sz="1500" dirty="0"/>
              <a:t>Princípio do Menor Privilégio: Garantir que o utilizador do serviço web (pentesterlab) não tem permissões de sudo desnecessárias e não tem acesso de escrita em diretórios sensíveis.</a:t>
            </a:r>
          </a:p>
          <a:p>
            <a:endParaRPr lang="pt-PT" sz="1500" dirty="0"/>
          </a:p>
        </p:txBody>
      </p:sp>
      <p:pic>
        <p:nvPicPr>
          <p:cNvPr id="6" name="Imagem 5">
            <a:extLst>
              <a:ext uri="{FF2B5EF4-FFF2-40B4-BE49-F238E27FC236}">
                <a16:creationId xmlns:a16="http://schemas.microsoft.com/office/drawing/2014/main" id="{2D784691-8424-9AA9-8F02-963C1441853A}"/>
              </a:ext>
            </a:extLst>
          </p:cNvPr>
          <p:cNvPicPr>
            <a:picLocks noChangeAspect="1"/>
          </p:cNvPicPr>
          <p:nvPr/>
        </p:nvPicPr>
        <p:blipFill>
          <a:blip r:embed="rId2"/>
          <a:stretch>
            <a:fillRect/>
          </a:stretch>
        </p:blipFill>
        <p:spPr>
          <a:xfrm>
            <a:off x="5192820" y="2324870"/>
            <a:ext cx="5652160" cy="497793"/>
          </a:xfrm>
          <a:prstGeom prst="rect">
            <a:avLst/>
          </a:prstGeom>
        </p:spPr>
      </p:pic>
    </p:spTree>
    <p:extLst>
      <p:ext uri="{BB962C8B-B14F-4D97-AF65-F5344CB8AC3E}">
        <p14:creationId xmlns:p14="http://schemas.microsoft.com/office/powerpoint/2010/main" val="12633112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descr="Caneta colocada na parte superior de uma linha de assinatura">
            <a:extLst>
              <a:ext uri="{FF2B5EF4-FFF2-40B4-BE49-F238E27FC236}">
                <a16:creationId xmlns:a16="http://schemas.microsoft.com/office/drawing/2014/main" id="{946DE030-A1D7-D888-9655-1608B77C8D0E}"/>
              </a:ext>
            </a:extLst>
          </p:cNvPr>
          <p:cNvPicPr>
            <a:picLocks noChangeAspect="1"/>
          </p:cNvPicPr>
          <p:nvPr/>
        </p:nvPicPr>
        <p:blipFill>
          <a:blip r:embed="rId2">
            <a:alphaModFix/>
          </a:blip>
          <a:srcRect b="15730"/>
          <a:stretch>
            <a:fillRect/>
          </a:stretch>
        </p:blipFill>
        <p:spPr>
          <a:xfrm>
            <a:off x="20" y="10"/>
            <a:ext cx="12191979" cy="6857990"/>
          </a:xfrm>
          <a:prstGeom prst="rect">
            <a:avLst/>
          </a:prstGeom>
        </p:spPr>
      </p:pic>
      <p:sp>
        <p:nvSpPr>
          <p:cNvPr id="14" name="Rectangle 13">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44663" y="-4344657"/>
            <a:ext cx="3512260" cy="12201589"/>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7E6D5CD-F88D-73B7-05E9-816080593459}"/>
              </a:ext>
            </a:extLst>
          </p:cNvPr>
          <p:cNvSpPr>
            <a:spLocks noGrp="1"/>
          </p:cNvSpPr>
          <p:nvPr>
            <p:ph type="title"/>
          </p:nvPr>
        </p:nvSpPr>
        <p:spPr>
          <a:xfrm>
            <a:off x="865140" y="1117770"/>
            <a:ext cx="7800660" cy="1520987"/>
          </a:xfrm>
        </p:spPr>
        <p:txBody>
          <a:bodyPr vert="horz" lIns="91440" tIns="45720" rIns="91440" bIns="45720" rtlCol="0" anchor="t">
            <a:normAutofit/>
          </a:bodyPr>
          <a:lstStyle/>
          <a:p>
            <a:r>
              <a:rPr lang="en-US" sz="4600" b="1" dirty="0" err="1">
                <a:solidFill>
                  <a:srgbClr val="FFFFFF"/>
                </a:solidFill>
              </a:rPr>
              <a:t>Conclusão</a:t>
            </a:r>
            <a:endParaRPr lang="en-US" sz="4600" b="1" dirty="0">
              <a:solidFill>
                <a:srgbClr val="FFFFFF"/>
              </a:solidFill>
            </a:endParaRPr>
          </a:p>
        </p:txBody>
      </p:sp>
      <p:sp>
        <p:nvSpPr>
          <p:cNvPr id="16" name="Rectangle 15">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78570" y="-449383"/>
            <a:ext cx="2425271" cy="12201588"/>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AD41B63-872D-5CEE-F535-C9113A0C1465}"/>
              </a:ext>
            </a:extLst>
          </p:cNvPr>
          <p:cNvSpPr txBox="1"/>
          <p:nvPr/>
        </p:nvSpPr>
        <p:spPr>
          <a:xfrm>
            <a:off x="748320" y="1878263"/>
            <a:ext cx="10704945" cy="452431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pt-PT" dirty="0"/>
              <a:t>Este trabalho permitiu uma análise aprofundada de duas vulnerabilidades críticas: o Reflected XSS (CVE-2021-42548) no plugin WordPress WP Cloud Plugins Share-OneDrive e a vulnerabilidade Shellshock (CVE-2014-6278) no GNU Bash.</a:t>
            </a:r>
          </a:p>
          <a:p>
            <a:endParaRPr lang="pt-PT" dirty="0"/>
          </a:p>
          <a:p>
            <a:r>
              <a:rPr lang="pt-PT" dirty="0"/>
              <a:t>Através da exploração prática em ambientes controlados, demonstrou-se como estas vulnerabilidades podem comprometer sistemas quando não são implementadas medidas de segurança adequadas. O Reflected XSS evidenciou os riscos do armazenamento inseguro de credenciais e da falta de validação de entradas, permitindo o roubo de sessões de utilizadores. A vulnerabilidade Shellshock mostrou o perigo da execução remota de comandos, possibilitando que atacantes obtenham controlo total sobre sistemas vulneráveis.</a:t>
            </a:r>
          </a:p>
          <a:p>
            <a:endParaRPr lang="pt-PT" dirty="0"/>
          </a:p>
          <a:p>
            <a:r>
              <a:rPr lang="pt-PT" dirty="0"/>
              <a:t>As medidas de mitigação apresentadas destacam princípios fundamentais de cibersegurança: validação rigorosa de entradas, aplicação atempada de patches, princípio do menor privilégio e implementação de múltiplas camadas de defesa. A análise realizada reforça que a cibersegurança é um processo contínuo que exige vigilância constante e implementação rigorosa de boas práticas para proteger a informação sensível e garantir a continuidade das operações.</a:t>
            </a:r>
          </a:p>
        </p:txBody>
      </p:sp>
    </p:spTree>
    <p:extLst>
      <p:ext uri="{BB962C8B-B14F-4D97-AF65-F5344CB8AC3E}">
        <p14:creationId xmlns:p14="http://schemas.microsoft.com/office/powerpoint/2010/main" val="280727046"/>
      </p:ext>
    </p:extLst>
  </p:cSld>
  <p:clrMapOvr>
    <a:masterClrMapping/>
  </p:clrMapOvr>
  <p:transition spd="slow">
    <p:push dir="u"/>
  </p:transition>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Office 2013 - 2022 Theme</Template>
  <TotalTime>1545</TotalTime>
  <Words>2642</Words>
  <Application>Microsoft Office PowerPoint</Application>
  <PresentationFormat>Widescreen</PresentationFormat>
  <Paragraphs>232</Paragraphs>
  <Slides>46</Slides>
  <Notes>4</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46</vt:i4>
      </vt:variant>
    </vt:vector>
  </HeadingPairs>
  <TitlesOfParts>
    <vt:vector size="51" baseType="lpstr">
      <vt:lpstr>Aptos</vt:lpstr>
      <vt:lpstr>Aptos Display</vt:lpstr>
      <vt:lpstr>Arial</vt:lpstr>
      <vt:lpstr>Calibri</vt:lpstr>
      <vt:lpstr>Tema do Office</vt:lpstr>
      <vt:lpstr>Análise de Vulnerabilidades</vt:lpstr>
      <vt:lpstr>Objetivos do Trabalho</vt:lpstr>
      <vt:lpstr>Introdução às Vulnerabilidades em Cibersegurança </vt:lpstr>
      <vt:lpstr>Vulnerabilidades</vt:lpstr>
      <vt:lpstr>Vulnerabilidade 1:  Reflected XSS no WordPress WP Cloud Plugins Share-OneDrive </vt:lpstr>
      <vt:lpstr>XSS – O que é?</vt:lpstr>
      <vt:lpstr>REFLECTED XSS</vt:lpstr>
      <vt:lpstr>Metodologias de Deteção Utilizadas</vt:lpstr>
      <vt:lpstr>  Apresentação da Vulnerabilidade  </vt:lpstr>
      <vt:lpstr>Apresentação do PowerPoint</vt:lpstr>
      <vt:lpstr>Ações, Objetivos e Resultados de Exploração:</vt:lpstr>
      <vt:lpstr>Apresentação do PowerPoint</vt:lpstr>
      <vt:lpstr>Exploração da Vulnerabilidade </vt:lpstr>
      <vt:lpstr>1º Cenário (Simples) – Uso rudimentar de Javascript</vt:lpstr>
      <vt:lpstr>Apresentação do PowerPoint</vt:lpstr>
      <vt:lpstr>Apresentação do PowerPoint</vt:lpstr>
      <vt:lpstr>Apresentação do PowerPoint</vt:lpstr>
      <vt:lpstr>Apresentação do PowerPoint</vt:lpstr>
      <vt:lpstr>Apresentação do PowerPoint</vt:lpstr>
      <vt:lpstr>2º Cenário - Roubo de Credenciais através de Cookies </vt:lpstr>
      <vt:lpstr>Apresentação do PowerPoint</vt:lpstr>
      <vt:lpstr>Apresentação do PowerPoint</vt:lpstr>
      <vt:lpstr>Apresentação do PowerPoint</vt:lpstr>
      <vt:lpstr>Apresentação do PowerPoint</vt:lpstr>
      <vt:lpstr>Apresentação do PowerPoint</vt:lpstr>
      <vt:lpstr>Execução do ataque:</vt:lpstr>
      <vt:lpstr>Apresentação do PowerPoint</vt:lpstr>
      <vt:lpstr>Passo 3: Envio do Link Malicioso</vt:lpstr>
      <vt:lpstr>Gravidade da Vulnerabilidade: </vt:lpstr>
      <vt:lpstr>Mitigação das Vulnerabilidades </vt:lpstr>
      <vt:lpstr>Apresentação do PowerPoint</vt:lpstr>
      <vt:lpstr>Vulnerabilidades</vt:lpstr>
      <vt:lpstr>Apresentação do PowerPoint</vt:lpstr>
      <vt:lpstr>Metodologias de Deteção Utilizadas</vt:lpstr>
      <vt:lpstr>  Apresentação da Vulnerabilidade  </vt:lpstr>
      <vt:lpstr>Apresentação do PowerPoint</vt:lpstr>
      <vt:lpstr>Ações, Objetivos e Resultados de Exploração:</vt:lpstr>
      <vt:lpstr>Resultados de Exploração:</vt:lpstr>
      <vt:lpstr>Exploração da Vulnerabilidade  Como atua a Vulnerabilidade: </vt:lpstr>
      <vt:lpstr>Como Explorar a Vulnerabilidade:</vt:lpstr>
      <vt:lpstr>Apresentação do PowerPoint</vt:lpstr>
      <vt:lpstr>Apresentação do PowerPoint</vt:lpstr>
      <vt:lpstr>Apresentação do PowerPoint</vt:lpstr>
      <vt:lpstr>Apresentação do PowerPoint</vt:lpstr>
      <vt:lpstr>Mitigação da Vulnerabilidade </vt:lpstr>
      <vt:lpstr>Conclusão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Simoes</dc:creator>
  <cp:lastModifiedBy>Pedro Simoes</cp:lastModifiedBy>
  <cp:revision>14</cp:revision>
  <dcterms:created xsi:type="dcterms:W3CDTF">2025-12-07T15:02:48Z</dcterms:created>
  <dcterms:modified xsi:type="dcterms:W3CDTF">2025-12-09T19:54:15Z</dcterms:modified>
</cp:coreProperties>
</file>
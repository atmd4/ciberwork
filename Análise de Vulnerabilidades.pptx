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7" r:id="rId21"/>
    <p:sldId id="278" r:id="rId22"/>
    <p:sldId id="279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90" r:id="rId32"/>
    <p:sldId id="291" r:id="rId33"/>
    <p:sldId id="292" r:id="rId34"/>
    <p:sldId id="289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8074FB-058B-4853-9BB7-3AF405A626A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A5FF62D-A91C-45A5-BB72-1F27C37B4D22}">
      <dgm:prSet custT="1"/>
      <dgm:spPr/>
      <dgm:t>
        <a:bodyPr/>
        <a:lstStyle/>
        <a:p>
          <a:r>
            <a:rPr lang="pt-PT" sz="1400" b="1" dirty="0"/>
            <a:t>Definição de vulnerabilidades em redes e sistemas:</a:t>
          </a:r>
        </a:p>
        <a:p>
          <a:r>
            <a:rPr lang="pt-PT" sz="1400" b="0" dirty="0"/>
            <a:t>As vulnerabilidades são falhas ou fraquezas em sistemas e redes que podem ser exploradas por atacantes, comprometendo a confidencialidade, a integridade e a disponibilidade dos dados e dos serviços. A identificação precoce dessas falhas é essencial para a implementação de medidas de segurança eficazes.</a:t>
          </a:r>
          <a:endParaRPr lang="en-US" sz="1400" b="0" dirty="0"/>
        </a:p>
      </dgm:t>
    </dgm:pt>
    <dgm:pt modelId="{A9A8B6F5-D06F-4983-BD6A-0BD1F6D77DE3}" type="parTrans" cxnId="{F7CFFA84-154F-4FD8-BF17-2FC43B9B80E0}">
      <dgm:prSet/>
      <dgm:spPr/>
      <dgm:t>
        <a:bodyPr/>
        <a:lstStyle/>
        <a:p>
          <a:endParaRPr lang="en-US"/>
        </a:p>
      </dgm:t>
    </dgm:pt>
    <dgm:pt modelId="{E39274D8-7A6F-4316-BF82-F5FBDB111428}" type="sibTrans" cxnId="{F7CFFA84-154F-4FD8-BF17-2FC43B9B80E0}">
      <dgm:prSet/>
      <dgm:spPr/>
      <dgm:t>
        <a:bodyPr/>
        <a:lstStyle/>
        <a:p>
          <a:endParaRPr lang="en-US"/>
        </a:p>
      </dgm:t>
    </dgm:pt>
    <dgm:pt modelId="{A4958538-77DB-4925-9439-F569466DE348}">
      <dgm:prSet custT="1"/>
      <dgm:spPr/>
      <dgm:t>
        <a:bodyPr/>
        <a:lstStyle/>
        <a:p>
          <a:r>
            <a:rPr lang="pt-PT" sz="1400" b="1" dirty="0"/>
            <a:t>Importância da cibersegurança: </a:t>
          </a:r>
        </a:p>
        <a:p>
          <a:r>
            <a:rPr lang="pt-PT" sz="1400" dirty="0"/>
            <a:t>A cibersegurança é fundamental para proteger informação sensível, garantir a continuidade das operações e manter a confiança dos utilizadores num ambiente digital cada vez mais ameaçado.</a:t>
          </a:r>
          <a:endParaRPr lang="en-US" sz="1400" dirty="0"/>
        </a:p>
      </dgm:t>
    </dgm:pt>
    <dgm:pt modelId="{59F38A9C-B350-4FC2-8B2F-74A1C0E6B745}" type="parTrans" cxnId="{365BB828-1D7A-47A0-96CA-35BAAF716040}">
      <dgm:prSet/>
      <dgm:spPr/>
      <dgm:t>
        <a:bodyPr/>
        <a:lstStyle/>
        <a:p>
          <a:endParaRPr lang="en-US"/>
        </a:p>
      </dgm:t>
    </dgm:pt>
    <dgm:pt modelId="{1C7BB286-9140-48FD-888D-FC87F3AA33AA}" type="sibTrans" cxnId="{365BB828-1D7A-47A0-96CA-35BAAF716040}">
      <dgm:prSet/>
      <dgm:spPr/>
      <dgm:t>
        <a:bodyPr/>
        <a:lstStyle/>
        <a:p>
          <a:endParaRPr lang="en-US"/>
        </a:p>
      </dgm:t>
    </dgm:pt>
    <dgm:pt modelId="{DEB9FD9A-E4AA-4D5C-990D-932533F0C24C}" type="pres">
      <dgm:prSet presAssocID="{998074FB-058B-4853-9BB7-3AF405A626AB}" presName="root" presStyleCnt="0">
        <dgm:presLayoutVars>
          <dgm:dir/>
          <dgm:resizeHandles val="exact"/>
        </dgm:presLayoutVars>
      </dgm:prSet>
      <dgm:spPr/>
    </dgm:pt>
    <dgm:pt modelId="{28BE6F93-1D8B-48DA-8CAF-A622BC3E146E}" type="pres">
      <dgm:prSet presAssocID="{8A5FF62D-A91C-45A5-BB72-1F27C37B4D22}" presName="compNode" presStyleCnt="0"/>
      <dgm:spPr/>
    </dgm:pt>
    <dgm:pt modelId="{E6AA746E-76F7-43C1-A92B-327D567BB20C}" type="pres">
      <dgm:prSet presAssocID="{8A5FF62D-A91C-45A5-BB72-1F27C37B4D2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sconectado"/>
        </a:ext>
      </dgm:extLst>
    </dgm:pt>
    <dgm:pt modelId="{B8091F72-82D5-4252-AC5D-E1B227B7D9D9}" type="pres">
      <dgm:prSet presAssocID="{8A5FF62D-A91C-45A5-BB72-1F27C37B4D22}" presName="spaceRect" presStyleCnt="0"/>
      <dgm:spPr/>
    </dgm:pt>
    <dgm:pt modelId="{D89EDD88-973A-438F-A62C-92CA930DCCF9}" type="pres">
      <dgm:prSet presAssocID="{8A5FF62D-A91C-45A5-BB72-1F27C37B4D22}" presName="textRect" presStyleLbl="revTx" presStyleIdx="0" presStyleCnt="2">
        <dgm:presLayoutVars>
          <dgm:chMax val="1"/>
          <dgm:chPref val="1"/>
        </dgm:presLayoutVars>
      </dgm:prSet>
      <dgm:spPr/>
    </dgm:pt>
    <dgm:pt modelId="{606C2E7D-08A9-4EAE-A8F7-AB329456B39F}" type="pres">
      <dgm:prSet presAssocID="{E39274D8-7A6F-4316-BF82-F5FBDB111428}" presName="sibTrans" presStyleCnt="0"/>
      <dgm:spPr/>
    </dgm:pt>
    <dgm:pt modelId="{144E8A38-0A96-48F2-A12E-F46B3E9C71A5}" type="pres">
      <dgm:prSet presAssocID="{A4958538-77DB-4925-9439-F569466DE348}" presName="compNode" presStyleCnt="0"/>
      <dgm:spPr/>
    </dgm:pt>
    <dgm:pt modelId="{6DA8F6BD-86BA-49A8-89CE-73DF2B84C534}" type="pres">
      <dgm:prSet presAssocID="{A4958538-77DB-4925-9439-F569466DE34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io"/>
        </a:ext>
      </dgm:extLst>
    </dgm:pt>
    <dgm:pt modelId="{E2A6053B-DD1C-4979-A3C7-9C78450AA458}" type="pres">
      <dgm:prSet presAssocID="{A4958538-77DB-4925-9439-F569466DE348}" presName="spaceRect" presStyleCnt="0"/>
      <dgm:spPr/>
    </dgm:pt>
    <dgm:pt modelId="{0F32CFB8-16BF-4172-A64C-FC1B547291F1}" type="pres">
      <dgm:prSet presAssocID="{A4958538-77DB-4925-9439-F569466DE34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3DB44204-E0D7-4BA1-8687-BF6F639BFBB9}" type="presOf" srcId="{8A5FF62D-A91C-45A5-BB72-1F27C37B4D22}" destId="{D89EDD88-973A-438F-A62C-92CA930DCCF9}" srcOrd="0" destOrd="0" presId="urn:microsoft.com/office/officeart/2018/2/layout/IconLabelList"/>
    <dgm:cxn modelId="{365BB828-1D7A-47A0-96CA-35BAAF716040}" srcId="{998074FB-058B-4853-9BB7-3AF405A626AB}" destId="{A4958538-77DB-4925-9439-F569466DE348}" srcOrd="1" destOrd="0" parTransId="{59F38A9C-B350-4FC2-8B2F-74A1C0E6B745}" sibTransId="{1C7BB286-9140-48FD-888D-FC87F3AA33AA}"/>
    <dgm:cxn modelId="{D0CF396D-2B8D-448E-BFB1-035255B20696}" type="presOf" srcId="{998074FB-058B-4853-9BB7-3AF405A626AB}" destId="{DEB9FD9A-E4AA-4D5C-990D-932533F0C24C}" srcOrd="0" destOrd="0" presId="urn:microsoft.com/office/officeart/2018/2/layout/IconLabelList"/>
    <dgm:cxn modelId="{F7CFFA84-154F-4FD8-BF17-2FC43B9B80E0}" srcId="{998074FB-058B-4853-9BB7-3AF405A626AB}" destId="{8A5FF62D-A91C-45A5-BB72-1F27C37B4D22}" srcOrd="0" destOrd="0" parTransId="{A9A8B6F5-D06F-4983-BD6A-0BD1F6D77DE3}" sibTransId="{E39274D8-7A6F-4316-BF82-F5FBDB111428}"/>
    <dgm:cxn modelId="{E0035DDB-5936-477F-AC22-B120F770C116}" type="presOf" srcId="{A4958538-77DB-4925-9439-F569466DE348}" destId="{0F32CFB8-16BF-4172-A64C-FC1B547291F1}" srcOrd="0" destOrd="0" presId="urn:microsoft.com/office/officeart/2018/2/layout/IconLabelList"/>
    <dgm:cxn modelId="{F9B71F57-C423-4F53-B75E-6813082AD328}" type="presParOf" srcId="{DEB9FD9A-E4AA-4D5C-990D-932533F0C24C}" destId="{28BE6F93-1D8B-48DA-8CAF-A622BC3E146E}" srcOrd="0" destOrd="0" presId="urn:microsoft.com/office/officeart/2018/2/layout/IconLabelList"/>
    <dgm:cxn modelId="{12D5E0A6-1971-4680-9047-DD4F009D27D6}" type="presParOf" srcId="{28BE6F93-1D8B-48DA-8CAF-A622BC3E146E}" destId="{E6AA746E-76F7-43C1-A92B-327D567BB20C}" srcOrd="0" destOrd="0" presId="urn:microsoft.com/office/officeart/2018/2/layout/IconLabelList"/>
    <dgm:cxn modelId="{ACA5AD92-251C-444A-8137-7BE6290BC795}" type="presParOf" srcId="{28BE6F93-1D8B-48DA-8CAF-A622BC3E146E}" destId="{B8091F72-82D5-4252-AC5D-E1B227B7D9D9}" srcOrd="1" destOrd="0" presId="urn:microsoft.com/office/officeart/2018/2/layout/IconLabelList"/>
    <dgm:cxn modelId="{C583D115-BD6F-4AC3-A140-7712D1DF994D}" type="presParOf" srcId="{28BE6F93-1D8B-48DA-8CAF-A622BC3E146E}" destId="{D89EDD88-973A-438F-A62C-92CA930DCCF9}" srcOrd="2" destOrd="0" presId="urn:microsoft.com/office/officeart/2018/2/layout/IconLabelList"/>
    <dgm:cxn modelId="{D5A0997F-E6D0-4079-8963-3BDBD6E4994A}" type="presParOf" srcId="{DEB9FD9A-E4AA-4D5C-990D-932533F0C24C}" destId="{606C2E7D-08A9-4EAE-A8F7-AB329456B39F}" srcOrd="1" destOrd="0" presId="urn:microsoft.com/office/officeart/2018/2/layout/IconLabelList"/>
    <dgm:cxn modelId="{DEE43F46-0332-4911-B1DE-2CBA0014FE47}" type="presParOf" srcId="{DEB9FD9A-E4AA-4D5C-990D-932533F0C24C}" destId="{144E8A38-0A96-48F2-A12E-F46B3E9C71A5}" srcOrd="2" destOrd="0" presId="urn:microsoft.com/office/officeart/2018/2/layout/IconLabelList"/>
    <dgm:cxn modelId="{D0F48033-7958-4916-81FD-ACDC385B5D44}" type="presParOf" srcId="{144E8A38-0A96-48F2-A12E-F46B3E9C71A5}" destId="{6DA8F6BD-86BA-49A8-89CE-73DF2B84C534}" srcOrd="0" destOrd="0" presId="urn:microsoft.com/office/officeart/2018/2/layout/IconLabelList"/>
    <dgm:cxn modelId="{DE57A5EF-7E8C-4FAD-BB3C-31D8F037522E}" type="presParOf" srcId="{144E8A38-0A96-48F2-A12E-F46B3E9C71A5}" destId="{E2A6053B-DD1C-4979-A3C7-9C78450AA458}" srcOrd="1" destOrd="0" presId="urn:microsoft.com/office/officeart/2018/2/layout/IconLabelList"/>
    <dgm:cxn modelId="{C31FAF4F-7FF4-4D79-8508-E98611468921}" type="presParOf" srcId="{144E8A38-0A96-48F2-A12E-F46B3E9C71A5}" destId="{0F32CFB8-16BF-4172-A64C-FC1B547291F1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AA746E-76F7-43C1-A92B-327D567BB20C}">
      <dsp:nvSpPr>
        <dsp:cNvPr id="0" name=""/>
        <dsp:cNvSpPr/>
      </dsp:nvSpPr>
      <dsp:spPr>
        <a:xfrm>
          <a:off x="1747800" y="5272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9EDD88-973A-438F-A62C-92CA930DCCF9}">
      <dsp:nvSpPr>
        <dsp:cNvPr id="0" name=""/>
        <dsp:cNvSpPr/>
      </dsp:nvSpPr>
      <dsp:spPr>
        <a:xfrm>
          <a:off x="559800" y="2633615"/>
          <a:ext cx="4320000" cy="16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Definição de vulnerabilidades em redes e sistemas: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0" kern="1200" dirty="0"/>
            <a:t>As vulnerabilidades são falhas ou fraquezas em sistemas e redes que podem ser exploradas por atacantes, comprometendo a confidencialidade, a integridade e a disponibilidade dos dados e dos serviços. A identificação precoce dessas falhas é essencial para a implementação de medidas de segurança eficazes.</a:t>
          </a:r>
          <a:endParaRPr lang="en-US" sz="1400" b="0" kern="1200" dirty="0"/>
        </a:p>
      </dsp:txBody>
      <dsp:txXfrm>
        <a:off x="559800" y="2633615"/>
        <a:ext cx="4320000" cy="1665000"/>
      </dsp:txXfrm>
    </dsp:sp>
    <dsp:sp modelId="{6DA8F6BD-86BA-49A8-89CE-73DF2B84C534}">
      <dsp:nvSpPr>
        <dsp:cNvPr id="0" name=""/>
        <dsp:cNvSpPr/>
      </dsp:nvSpPr>
      <dsp:spPr>
        <a:xfrm>
          <a:off x="6823800" y="5272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32CFB8-16BF-4172-A64C-FC1B547291F1}">
      <dsp:nvSpPr>
        <dsp:cNvPr id="0" name=""/>
        <dsp:cNvSpPr/>
      </dsp:nvSpPr>
      <dsp:spPr>
        <a:xfrm>
          <a:off x="5635800" y="2633615"/>
          <a:ext cx="4320000" cy="16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dirty="0"/>
            <a:t>Importância da cibersegurança: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dirty="0"/>
            <a:t>A cibersegurança é fundamental para proteger informação sensível, garantir a continuidade das operações e manter a confiança dos utilizadores num ambiente digital cada vez mais ameaçado.</a:t>
          </a:r>
          <a:endParaRPr lang="en-US" sz="1400" kern="1200" dirty="0"/>
        </a:p>
      </dsp:txBody>
      <dsp:txXfrm>
        <a:off x="5635800" y="2633615"/>
        <a:ext cx="4320000" cy="166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D89619-223D-40FD-8774-2BB540DE267E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E424FA-A00F-4E5E-8350-0C744EC8960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2803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E424FA-A00F-4E5E-8350-0C744EC89605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0852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795E4-A060-B2E9-D125-6F71EB2F7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AA3F36-7559-ADBB-37F6-AF53E6FF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1B7FB63-8A5C-DF2E-9658-F6963007B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CD4951-9E39-DF91-17A3-1D5D36C3E2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E424FA-A00F-4E5E-8350-0C744EC89605}" type="slidenum">
              <a:rPr lang="pt-PT" smtClean="0"/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7460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E424FA-A00F-4E5E-8350-0C744EC89605}" type="slidenum">
              <a:rPr lang="pt-PT" smtClean="0"/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95644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4F55E5-E463-3F2B-B05C-99D7DD9AE0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3BF3B8B-DD7B-50BC-978D-D467C1320B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40129B5-EF7E-0A62-2EC8-D66F15F2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EB8373D-B69E-ED06-B6AD-C2467354E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6128783-7F04-DF4A-5E3F-3C3B976FD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32503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FE6EE-FE92-8BD4-A298-2909EE6D7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B2F2B8-A92C-BE10-8080-3A4C7EA9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B17C01A-0A98-0590-FF1B-E9C3E1A8A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FC1121-5B4D-8337-6B80-BCB1118F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824AA9-36FB-7B1C-ACB7-F3CA5258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98092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5895B-FF38-D20A-7595-DFF935031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8BC37A9-0C9A-12FA-36F9-96521649B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D3FF590-6E0F-51BF-8452-E564DFC76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3544843-D7D5-30EE-2C17-9CDC1F415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4C34D0-C8F5-D961-DB6F-1F82F86C7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7681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0D2E9-7DA6-81D9-8B10-970F26CF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8BDA73-E2C7-2FDE-8A41-43ECAC8C19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9CD2A62-FB4B-1062-0639-84098C62B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B960891-E993-4479-BABC-FCDCE4BEE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49E9C0F-B418-C91D-CC72-9CE5948BA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2B9F7A3-D078-85CA-CB2E-0BD64EEE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34390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5250EF-53A0-8EEF-9DBB-94095789A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9BB5EAB-650D-827D-3373-BBDA45B76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F602423-EA34-5B5C-0D8F-3BE91A55F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D76FAD1-C3EE-3BBD-C0E2-965DC1F444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D25F20B-F3CF-6D33-6A7E-E8FD28746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285E0CB-8841-B2C5-2AEC-7DCE9DB1E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D3C55A5-6FE8-CE5B-7F49-04A41FF8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43307F7-8A2D-4318-59C2-81FC4D7EB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6920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83376-C2AB-6E27-2C38-6BE538D9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8520A43-AFCC-6DD1-B633-81E6E837A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53681D-2A75-CEF4-B91B-001B1044A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96D8BF-A4C1-00B5-0C24-1F2A43F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366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6DC50-A8A2-DD3C-2C14-78B66D19C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93E5DBB-5516-006A-1FE1-9DD51CA5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AEBD69-D484-9ADF-513A-5B1DB32BF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32588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2DDB5A-C21B-06C0-5639-A784C0A2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6B67DC-FF13-F2F6-7317-9C7E8E459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6A805D9-E40E-683D-12C1-98EFF9863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FD8A76-E806-DFBA-21B4-4FECEA406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6FE60C-9C66-6A0E-1B5D-FD6D8872D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C60E617-3CC8-460D-DFB9-732ADCCA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6605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24EFF-3563-C6A9-68C4-C5577E6ED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01A7EB4-0B13-9E9B-0EAA-FF8FD48E3D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91D66CE-6361-8C41-20B3-42B70175F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047D7C-1375-5D6A-9CB6-CA1D6468F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BAD0C07-965E-7202-887D-1CEC1F7BA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005BF1-37C3-B190-FD3E-0CCE0813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29104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90A0DD-A662-F9EA-5A61-ED35BB38C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18758BA-DAE0-BDF7-24BC-366974431A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BC3C7-3D2F-5676-2EF8-B9648DDCD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CD107F-B77D-0560-D6C2-FAB1D7F17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17F4BD-C39C-0CEA-025C-8B477180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17018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D43C188-B737-907B-016A-E9A077168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B91DB3-1D94-65CB-5957-C6D18A7603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509228D-661C-105B-B0BE-DD319FD59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5DAA5F-AFFA-60A5-F563-F690C84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84F86D-D722-5E19-6AA4-035675C3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6698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87DD279-4900-E9DB-1A82-5F7EC6DCA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53A983-777A-C426-0EF6-45E5D5319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B50E49-8D15-8EFB-2F0F-588754399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53D03-110A-429B-AF89-CB87E6CBA551}" type="datetimeFigureOut">
              <a:rPr lang="pt-PT" smtClean="0"/>
              <a:t>07/12/2025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EE93CF4-B01E-3E5F-C510-E1E02D89A2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EB0A18-AB5A-6958-7404-FD2F31775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CF6903-0146-44E3-9B86-ACA9D88A63D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9142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Cíber segurança - ícones de segurança grátis">
            <a:extLst>
              <a:ext uri="{FF2B5EF4-FFF2-40B4-BE49-F238E27FC236}">
                <a16:creationId xmlns:a16="http://schemas.microsoft.com/office/drawing/2014/main" id="{A4C71BD2-8405-24B3-109E-140F06B6B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7" r="9092" b="11012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CB217222-C40A-5EF7-0EB3-011504EB9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2005672"/>
          </a:xfrm>
        </p:spPr>
        <p:txBody>
          <a:bodyPr anchor="b">
            <a:normAutofit fontScale="90000"/>
          </a:bodyPr>
          <a:lstStyle/>
          <a:p>
            <a:pPr algn="l"/>
            <a:r>
              <a:rPr lang="pt-PT" sz="4800" dirty="0">
                <a:solidFill>
                  <a:schemeClr val="bg1"/>
                </a:solidFill>
              </a:rPr>
              <a:t>Análise de Vulnerabilidades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36171B0-A477-9D77-1AD7-B6D4BA336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3478410"/>
            <a:ext cx="4023359" cy="2602653"/>
          </a:xfrm>
        </p:spPr>
        <p:txBody>
          <a:bodyPr>
            <a:normAutofit/>
          </a:bodyPr>
          <a:lstStyle/>
          <a:p>
            <a:pPr algn="l"/>
            <a:r>
              <a:rPr lang="pt-PT" sz="1400" dirty="0">
                <a:solidFill>
                  <a:schemeClr val="bg1"/>
                </a:solidFill>
              </a:rPr>
              <a:t>UC - Cibersegurança</a:t>
            </a:r>
          </a:p>
          <a:p>
            <a:pPr algn="l"/>
            <a:r>
              <a:rPr lang="pt-PT" sz="1400" dirty="0">
                <a:solidFill>
                  <a:schemeClr val="bg1"/>
                </a:solidFill>
              </a:rPr>
              <a:t>Engenharia de Sistemas e Tecnologias Informáticas</a:t>
            </a:r>
          </a:p>
          <a:p>
            <a:pPr algn="l"/>
            <a:endParaRPr lang="pt-PT" sz="1400" dirty="0">
              <a:solidFill>
                <a:schemeClr val="bg1"/>
              </a:solidFill>
            </a:endParaRPr>
          </a:p>
          <a:p>
            <a:pPr algn="l"/>
            <a:r>
              <a:rPr lang="pt-PT" sz="1400" dirty="0">
                <a:solidFill>
                  <a:schemeClr val="bg1"/>
                </a:solidFill>
              </a:rPr>
              <a:t>Guilherme Coelho Simões - 74535 </a:t>
            </a:r>
          </a:p>
          <a:p>
            <a:pPr algn="l"/>
            <a:r>
              <a:rPr lang="pt-PT" sz="1400" dirty="0">
                <a:solidFill>
                  <a:schemeClr val="bg1"/>
                </a:solidFill>
              </a:rPr>
              <a:t>Lucas Machadinho Martins - 79294 </a:t>
            </a:r>
          </a:p>
          <a:p>
            <a:pPr algn="l"/>
            <a:r>
              <a:rPr lang="pt-PT" sz="1400" dirty="0">
                <a:solidFill>
                  <a:schemeClr val="bg1"/>
                </a:solidFill>
              </a:rPr>
              <a:t>Pedro Daniel Gonçalves - 79297 </a:t>
            </a:r>
          </a:p>
          <a:p>
            <a:pPr algn="l"/>
            <a:endParaRPr lang="pt-PT" sz="500" dirty="0">
              <a:solidFill>
                <a:schemeClr val="bg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3935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77C85A-3C53-2430-DD8C-716F857EE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pt-PT" sz="5400"/>
              <a:t>Objetivos do Trabalho</a:t>
            </a:r>
          </a:p>
        </p:txBody>
      </p:sp>
      <p:sp>
        <p:nvSpPr>
          <p:cNvPr id="2059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9BAD7D-BEB7-9ED9-6A01-35CF4AB43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pt-PT" sz="2200"/>
              <a:t>Este trabalho pretende identificar, analisar e explorar vulnerabilidades críticas em redes, sistemas, aplicações e dados. Além disso, procura apresentar formas de prevenir e mitigar essas vulnerabilidades, contribuindo para a proteção dos sistemas e da informação sensível.</a:t>
            </a:r>
          </a:p>
        </p:txBody>
      </p:sp>
      <p:pic>
        <p:nvPicPr>
          <p:cNvPr id="2052" name="Picture 4" descr="Contraffazione online e reati finanziari: un fenomeno in crescita">
            <a:extLst>
              <a:ext uri="{FF2B5EF4-FFF2-40B4-BE49-F238E27FC236}">
                <a16:creationId xmlns:a16="http://schemas.microsoft.com/office/drawing/2014/main" id="{5F7E0364-6E25-E87A-A1AE-5A1AE6581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4948"/>
          <a:stretch>
            <a:fillRect/>
          </a:stretch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309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98FE2D-A719-ECB1-F84B-524CF3A45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pt-PT" sz="3100">
                <a:solidFill>
                  <a:srgbClr val="FFFFFF"/>
                </a:solidFill>
              </a:rPr>
              <a:t>Introdução às Vulnerabilidades em Cibersegurança</a:t>
            </a:r>
            <a:br>
              <a:rPr lang="pt-PT" sz="3100">
                <a:solidFill>
                  <a:srgbClr val="FFFFFF"/>
                </a:solidFill>
              </a:rPr>
            </a:br>
            <a:endParaRPr lang="pt-PT" sz="3100">
              <a:solidFill>
                <a:srgbClr val="FFFFFF"/>
              </a:solidFill>
            </a:endParaRPr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Espaço Reservado para Conteúdo 2">
            <a:extLst>
              <a:ext uri="{FF2B5EF4-FFF2-40B4-BE49-F238E27FC236}">
                <a16:creationId xmlns:a16="http://schemas.microsoft.com/office/drawing/2014/main" id="{8E965CF6-FA47-530C-B6E7-56E857FA07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7627833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8146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FB182E-E29E-2B1B-63B7-E0FDEA435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Vulnerabilidades</a:t>
            </a:r>
            <a:endParaRPr lang="pt-PT" sz="5400"/>
          </a:p>
        </p:txBody>
      </p:sp>
      <p:sp>
        <p:nvSpPr>
          <p:cNvPr id="3087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80F9A7-3B44-831E-BCA0-832D06AFF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pt-PT" sz="1900"/>
              <a:t>Para este trabalho, foram selecionadas duas vulnerabilidades críticas para análise aprofundada:</a:t>
            </a:r>
          </a:p>
          <a:p>
            <a:endParaRPr lang="pt-PT" sz="1900"/>
          </a:p>
          <a:p>
            <a:pPr marL="914400" lvl="1" indent="-457200">
              <a:buFont typeface="+mj-lt"/>
              <a:buAutoNum type="arabicPeriod"/>
            </a:pPr>
            <a:r>
              <a:rPr lang="en-US" sz="1900" b="1"/>
              <a:t>Reflected XSS in search the functionality of Wordpress, WP Cloud Plugins Share-oneDrive - CVE-2021-42548 </a:t>
            </a:r>
          </a:p>
          <a:p>
            <a:pPr marL="914400" lvl="1" indent="-457200">
              <a:buFont typeface="+mj-lt"/>
              <a:buAutoNum type="arabicPeriod"/>
            </a:pPr>
            <a:endParaRPr lang="en-US" sz="1900" b="1"/>
          </a:p>
          <a:p>
            <a:pPr marL="914400" lvl="1" indent="-457200">
              <a:buFont typeface="+mj-lt"/>
              <a:buAutoNum type="arabicPeriod"/>
            </a:pPr>
            <a:r>
              <a:rPr lang="en-US" sz="1900" b="1"/>
              <a:t>GNU Bash OS Command Injection Vulnerability - CVE-2014-6278</a:t>
            </a:r>
          </a:p>
          <a:p>
            <a:pPr marL="914400" lvl="1" indent="-457200">
              <a:buFont typeface="+mj-lt"/>
              <a:buAutoNum type="arabicPeriod"/>
            </a:pPr>
            <a:endParaRPr lang="pt-PT" sz="1900" b="1"/>
          </a:p>
        </p:txBody>
      </p:sp>
      <p:pic>
        <p:nvPicPr>
          <p:cNvPr id="3080" name="Picture 8" descr="Command Line Fundamentals | D-Lab">
            <a:extLst>
              <a:ext uri="{FF2B5EF4-FFF2-40B4-BE49-F238E27FC236}">
                <a16:creationId xmlns:a16="http://schemas.microsoft.com/office/drawing/2014/main" id="{07E47FAB-C485-136D-1DDE-F345C64CA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9048" y="1607068"/>
            <a:ext cx="5458968" cy="364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762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5FD5B2-3AEC-DD76-10F3-FF2FBF3C4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pt-PT" sz="4600" dirty="0"/>
              <a:t>Metodologias de Deteção Utilizadas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8157C5-870D-BBF1-89D3-98E6019A8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5809193" cy="3859260"/>
          </a:xfrm>
        </p:spPr>
        <p:txBody>
          <a:bodyPr anchor="t">
            <a:normAutofit/>
          </a:bodyPr>
          <a:lstStyle/>
          <a:p>
            <a:endParaRPr lang="pt-PT" sz="1400" b="1" dirty="0"/>
          </a:p>
          <a:p>
            <a:r>
              <a:rPr lang="pt-PT" sz="1400" b="1" dirty="0"/>
              <a:t>Análise de CVE (Common Vulnerabilities and Exposures)</a:t>
            </a:r>
            <a:r>
              <a:rPr lang="pt-PT" sz="1400" dirty="0"/>
              <a:t>: Pesquisa em bases de dados públicas de vulnerabilidades, nomeadamente no site NVD (National Vulnerability Database), cortesia do Instituto Nacional de Padrões e Tecnologia dos EUA.</a:t>
            </a:r>
          </a:p>
          <a:p>
            <a:r>
              <a:rPr lang="pt-PT" sz="1400" b="1" dirty="0"/>
              <a:t>Testes de Penetração</a:t>
            </a:r>
            <a:r>
              <a:rPr lang="pt-PT" sz="1400" dirty="0"/>
              <a:t>: Simulação de ataques XSS em ambientes controlados.</a:t>
            </a:r>
          </a:p>
          <a:p>
            <a:r>
              <a:rPr lang="pt-PT" sz="1400" b="1" dirty="0"/>
              <a:t>Análise de Código-Fonte</a:t>
            </a:r>
            <a:r>
              <a:rPr lang="pt-PT" sz="1400" dirty="0"/>
              <a:t>: Revisão do código para identificar falhas de validação e sanitização de entradas</a:t>
            </a:r>
          </a:p>
          <a:p>
            <a:r>
              <a:rPr lang="pt-PT" sz="1400" b="1" dirty="0"/>
              <a:t>Ferramentas Automatizadas</a:t>
            </a:r>
            <a:r>
              <a:rPr lang="pt-PT" sz="1400" dirty="0"/>
              <a:t>: Utilização de scanners de vulnerabilidades web</a:t>
            </a:r>
          </a:p>
          <a:p>
            <a:r>
              <a:rPr lang="pt-PT" sz="1400" b="1" dirty="0"/>
              <a:t>Testes Manuais</a:t>
            </a:r>
            <a:r>
              <a:rPr lang="pt-PT" sz="1400" dirty="0"/>
              <a:t>: Injeção de cargas úteis XSS personalizadas para confirmar a exploração</a:t>
            </a:r>
          </a:p>
          <a:p>
            <a:endParaRPr lang="pt-PT" sz="1200" dirty="0"/>
          </a:p>
        </p:txBody>
      </p:sp>
      <p:pic>
        <p:nvPicPr>
          <p:cNvPr id="7" name="Graphic 6" descr="Laptop seguro">
            <a:extLst>
              <a:ext uri="{FF2B5EF4-FFF2-40B4-BE49-F238E27FC236}">
                <a16:creationId xmlns:a16="http://schemas.microsoft.com/office/drawing/2014/main" id="{32436B0B-D531-DAB3-C59B-B4A11C9DE5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90490" y="1143713"/>
            <a:ext cx="4570574" cy="45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69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isco rígido com formato de nuvem com cabos">
            <a:extLst>
              <a:ext uri="{FF2B5EF4-FFF2-40B4-BE49-F238E27FC236}">
                <a16:creationId xmlns:a16="http://schemas.microsoft.com/office/drawing/2014/main" id="{D49F943B-A692-7747-16D7-187E8641AF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r="-1" b="1721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0CC0049-03BC-4F1D-D318-F2D3FCEAC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4000" cy="306324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100" b="1" dirty="0" err="1">
                <a:solidFill>
                  <a:schemeClr val="bg1"/>
                </a:solidFill>
              </a:rPr>
              <a:t>Vulnerabilidade</a:t>
            </a:r>
            <a:r>
              <a:rPr lang="en-US" sz="5100" b="1" dirty="0">
                <a:solidFill>
                  <a:schemeClr val="bg1"/>
                </a:solidFill>
              </a:rPr>
              <a:t> 1: </a:t>
            </a:r>
            <a:br>
              <a:rPr lang="en-US" sz="5100" b="1" dirty="0">
                <a:solidFill>
                  <a:schemeClr val="bg1"/>
                </a:solidFill>
              </a:rPr>
            </a:br>
            <a:r>
              <a:rPr lang="en-US" sz="5100" b="1" dirty="0">
                <a:solidFill>
                  <a:schemeClr val="bg1"/>
                </a:solidFill>
              </a:rPr>
              <a:t>Reflected XSS no WordPress WP Cloud Plugins Share-OneDrive</a:t>
            </a:r>
            <a:br>
              <a:rPr lang="en-US" sz="5100" b="1" dirty="0">
                <a:solidFill>
                  <a:schemeClr val="bg1"/>
                </a:solidFill>
              </a:rPr>
            </a:br>
            <a:endParaRPr lang="en-US" sz="5100" dirty="0">
              <a:solidFill>
                <a:schemeClr val="bg1"/>
              </a:solidFill>
            </a:endParaRPr>
          </a:p>
        </p:txBody>
      </p:sp>
      <p:sp>
        <p:nvSpPr>
          <p:cNvPr id="16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961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4D46527-8963-4773-8769-07E6ACE08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6E79F50-01CE-16F6-5A26-7BFB9C2A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65125"/>
            <a:ext cx="5257800" cy="1325563"/>
          </a:xfrm>
        </p:spPr>
        <p:txBody>
          <a:bodyPr>
            <a:normAutofit fontScale="90000"/>
          </a:bodyPr>
          <a:lstStyle/>
          <a:p>
            <a:br>
              <a:rPr lang="pt-PT" sz="1400" b="1" dirty="0"/>
            </a:br>
            <a:br>
              <a:rPr lang="pt-PT" sz="2600" b="1" dirty="0"/>
            </a:br>
            <a:r>
              <a:rPr lang="pt-PT" sz="3100" b="1" dirty="0"/>
              <a:t>Apresentação da Vulnerabilidade</a:t>
            </a:r>
            <a:br>
              <a:rPr lang="pt-PT" sz="1400" b="1" dirty="0"/>
            </a:br>
            <a:br>
              <a:rPr lang="pt-PT" sz="1400" b="1" dirty="0"/>
            </a:br>
            <a:endParaRPr lang="pt-PT" sz="1400" dirty="0"/>
          </a:p>
        </p:txBody>
      </p:sp>
      <p:pic>
        <p:nvPicPr>
          <p:cNvPr id="7" name="Graphic 6" descr="Employee Badge">
            <a:extLst>
              <a:ext uri="{FF2B5EF4-FFF2-40B4-BE49-F238E27FC236}">
                <a16:creationId xmlns:a16="http://schemas.microsoft.com/office/drawing/2014/main" id="{BF59D81A-E43C-88F0-D68A-9536E8E3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500" y="985390"/>
            <a:ext cx="4643496" cy="4643496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E14700-3B0F-64F2-D5A5-AB00599ED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pt-PT" sz="1000" b="1" dirty="0"/>
          </a:p>
          <a:p>
            <a:pPr marL="0" indent="0">
              <a:buNone/>
            </a:pPr>
            <a:endParaRPr lang="pt-PT" sz="1000" b="1" dirty="0"/>
          </a:p>
          <a:p>
            <a:pPr marL="0" indent="0">
              <a:buNone/>
            </a:pPr>
            <a:endParaRPr lang="pt-PT" sz="1000" b="1" dirty="0"/>
          </a:p>
          <a:p>
            <a:pPr marL="0" indent="0">
              <a:buNone/>
            </a:pPr>
            <a:r>
              <a:rPr lang="pt-PT" sz="2400" b="1" dirty="0"/>
              <a:t>Identificação: </a:t>
            </a:r>
          </a:p>
          <a:p>
            <a:endParaRPr lang="pt-PT" sz="2000" b="1" dirty="0"/>
          </a:p>
          <a:p>
            <a:pPr lvl="1"/>
            <a:r>
              <a:rPr lang="pt-PT" sz="2000" b="1" dirty="0"/>
              <a:t>CVE ID</a:t>
            </a:r>
            <a:r>
              <a:rPr lang="pt-PT" sz="2000" dirty="0"/>
              <a:t>: CVE-2021-42548</a:t>
            </a:r>
          </a:p>
          <a:p>
            <a:pPr lvl="1"/>
            <a:r>
              <a:rPr lang="pt-PT" sz="2000" b="1" dirty="0"/>
              <a:t>Plugin Afetado</a:t>
            </a:r>
            <a:r>
              <a:rPr lang="pt-PT" sz="2000" dirty="0"/>
              <a:t>: WP Cloud Plugins Share-OneDrive</a:t>
            </a:r>
          </a:p>
          <a:p>
            <a:pPr lvl="1"/>
            <a:r>
              <a:rPr lang="pt-PT" sz="2000" b="1" dirty="0"/>
              <a:t>Versões Vulneráveis</a:t>
            </a:r>
            <a:r>
              <a:rPr lang="pt-PT" sz="2000" dirty="0"/>
              <a:t>: Todas as versões anteriores à 1.15.3 (≤ 1.15.2)</a:t>
            </a:r>
          </a:p>
          <a:p>
            <a:pPr lvl="1"/>
            <a:r>
              <a:rPr lang="pt-PT" sz="2000" b="1" dirty="0"/>
              <a:t>Plataforma</a:t>
            </a:r>
            <a:r>
              <a:rPr lang="pt-PT" sz="2000" dirty="0"/>
              <a:t>: WordPress</a:t>
            </a:r>
          </a:p>
          <a:p>
            <a:pPr lvl="1"/>
            <a:r>
              <a:rPr lang="pt-PT" sz="2000" b="1" dirty="0"/>
              <a:t>Tipo de Vulnerabilidade</a:t>
            </a:r>
            <a:r>
              <a:rPr lang="pt-PT" sz="2000" dirty="0"/>
              <a:t>: Reflected Cross-Site Scripting (XSS)</a:t>
            </a:r>
          </a:p>
          <a:p>
            <a:pPr lvl="1"/>
            <a:r>
              <a:rPr lang="pt-PT" sz="2000" b="1" dirty="0"/>
              <a:t>Severidade</a:t>
            </a:r>
            <a:r>
              <a:rPr lang="pt-PT" sz="2000" dirty="0"/>
              <a:t>: CVSS base score 4.7 – Medium</a:t>
            </a:r>
          </a:p>
          <a:p>
            <a:pPr lvl="1"/>
            <a:r>
              <a:rPr lang="pt-PT" sz="2000" b="1" dirty="0"/>
              <a:t>Sistemas afetados</a:t>
            </a:r>
            <a:r>
              <a:rPr lang="pt-PT" sz="2000" dirty="0"/>
              <a:t>: Esta vulnerabilidade afeta qualquer site WordPress que utilize o plugin WP Cloud Plugins Share-OneDrive nas versões vulneráveis. </a:t>
            </a:r>
          </a:p>
          <a:p>
            <a:pPr lvl="1"/>
            <a:endParaRPr lang="pt-PT" sz="1000" dirty="0"/>
          </a:p>
          <a:p>
            <a:pPr marL="0" indent="0">
              <a:buNone/>
            </a:pPr>
            <a:endParaRPr lang="pt-PT" sz="1000" b="1" dirty="0"/>
          </a:p>
          <a:p>
            <a:pPr marL="0" indent="0">
              <a:buNone/>
            </a:pPr>
            <a:endParaRPr lang="pt-PT" sz="1000" b="1" dirty="0"/>
          </a:p>
          <a:p>
            <a:endParaRPr lang="pt-PT" sz="1000" b="1" dirty="0"/>
          </a:p>
          <a:p>
            <a:pPr marL="457200" lvl="1" indent="0">
              <a:buNone/>
            </a:pPr>
            <a:endParaRPr lang="pt-PT" sz="1000" dirty="0"/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920E13D1-85D7-4BF3-9903-59216CB5A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365355" y="705367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257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D46527-8963-4773-8769-07E6ACE08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Graphic 6" descr="Bug under Magnifying Glass">
            <a:extLst>
              <a:ext uri="{FF2B5EF4-FFF2-40B4-BE49-F238E27FC236}">
                <a16:creationId xmlns:a16="http://schemas.microsoft.com/office/drawing/2014/main" id="{893E8188-C775-B582-233D-03CA99B16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500" y="985390"/>
            <a:ext cx="4643496" cy="4643496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CCE2EC-04D3-D6B5-7D4A-5C22DAD4A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8451" y="422788"/>
            <a:ext cx="5257800" cy="58305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sz="8600" b="1" dirty="0" err="1"/>
              <a:t>Deteção</a:t>
            </a:r>
            <a:r>
              <a:rPr lang="en-US" sz="8600" b="1" dirty="0"/>
              <a:t> :</a:t>
            </a:r>
          </a:p>
          <a:p>
            <a:pPr marL="457200" lvl="1" indent="0">
              <a:buNone/>
            </a:pPr>
            <a:endParaRPr lang="en-US" sz="4200" b="1" dirty="0"/>
          </a:p>
          <a:p>
            <a:pPr marL="457200" lvl="1" indent="0">
              <a:buNone/>
            </a:pPr>
            <a:endParaRPr lang="en-US" sz="5500" b="1" dirty="0"/>
          </a:p>
          <a:p>
            <a:pPr lvl="1">
              <a:buFont typeface="Aptos" panose="020B0004020202020204" pitchFamily="34" charset="0"/>
              <a:buChar char="-"/>
            </a:pPr>
            <a:r>
              <a:rPr lang="pt-PT" sz="7200" b="1" dirty="0"/>
              <a:t>Onde:</a:t>
            </a:r>
          </a:p>
          <a:p>
            <a:pPr marL="457200" lvl="1" indent="0">
              <a:buNone/>
            </a:pPr>
            <a:endParaRPr lang="pt-PT" sz="7200" dirty="0"/>
          </a:p>
          <a:p>
            <a:pPr lvl="2"/>
            <a:r>
              <a:rPr lang="pt-PT" sz="7200" dirty="0"/>
              <a:t>Na funcionalidade de pesquisa (</a:t>
            </a:r>
            <a:r>
              <a:rPr lang="pt-PT" sz="7200" i="1" dirty="0"/>
              <a:t>search functionality</a:t>
            </a:r>
            <a:r>
              <a:rPr lang="pt-PT" sz="7200" dirty="0"/>
              <a:t>) do plugin Share-one-Drive (WP Cloud Plugins) para WordPress, onde havia validação insuficiente dos dados de entrada. </a:t>
            </a:r>
          </a:p>
          <a:p>
            <a:pPr marL="914400" lvl="2" indent="0">
              <a:buNone/>
            </a:pPr>
            <a:endParaRPr lang="pt-PT" sz="7200" dirty="0"/>
          </a:p>
          <a:p>
            <a:pPr lvl="2"/>
            <a:r>
              <a:rPr lang="pt-PT" sz="7200" dirty="0"/>
              <a:t>A vulnerabilidade foi reportada e registada no âmbito do </a:t>
            </a:r>
            <a:r>
              <a:rPr lang="pt-PT" sz="7200" b="1" dirty="0"/>
              <a:t>Switzerland Government Common Vulnerability Program / NCSC </a:t>
            </a:r>
            <a:r>
              <a:rPr lang="pt-PT" sz="7200" dirty="0"/>
              <a:t>(National Cyber Security Centre da Suíça), que aparece como fonte oficial do CVE.</a:t>
            </a:r>
          </a:p>
          <a:p>
            <a:pPr marL="914400" lvl="2" indent="0">
              <a:buNone/>
            </a:pPr>
            <a:endParaRPr lang="pt-PT" sz="7200" dirty="0"/>
          </a:p>
          <a:p>
            <a:pPr lvl="1">
              <a:buFont typeface="Aptos" panose="020B0004020202020204" pitchFamily="34" charset="0"/>
              <a:buChar char="-"/>
            </a:pPr>
            <a:r>
              <a:rPr lang="pt-PT" sz="7200" b="1" dirty="0"/>
              <a:t>Quando:</a:t>
            </a:r>
          </a:p>
          <a:p>
            <a:pPr marL="457200" lvl="1" indent="0">
              <a:buNone/>
            </a:pPr>
            <a:endParaRPr lang="pt-PT" sz="7200" dirty="0"/>
          </a:p>
          <a:p>
            <a:pPr lvl="2"/>
            <a:r>
              <a:rPr lang="pt-PT" sz="7200" dirty="0"/>
              <a:t>A vulnerabilidade foi publicamente divulgada a 13 de dezembro de 2021, data usada tanto pela NVD (National Vulnerability Database) como pelo NCSC da Suíça e outras bases de dados (CVE Details, WPScan).</a:t>
            </a:r>
          </a:p>
          <a:p>
            <a:endParaRPr lang="pt-PT" sz="1100" b="1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20E13D1-85D7-4BF3-9903-59216CB5A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365355" y="705367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3725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A830E1-1DF1-C0B3-23AF-C16301E82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pt-PT" sz="3000" b="1"/>
              <a:t>Ações, Objetivos e Resultados de Exploração:</a:t>
            </a:r>
            <a:endParaRPr lang="pt-PT" sz="30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0C3346-E8A7-0460-1784-A8D6625889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PT" sz="1500" dirty="0"/>
              <a:t>O Reflected XSS permite que um atacante execute código JavaScript malicioso nos Web-Browsers de utilizadores legítimos através de URLs manipulados. Os objectivos típicos incluem:</a:t>
            </a:r>
          </a:p>
          <a:p>
            <a:pPr lvl="1"/>
            <a:r>
              <a:rPr lang="pt-PT" sz="1500" b="1" dirty="0"/>
              <a:t>Roubo de Credenciais</a:t>
            </a:r>
            <a:r>
              <a:rPr lang="pt-PT" sz="1500" dirty="0"/>
              <a:t>: Captura de cookies de sessão e tokens de autenticação</a:t>
            </a:r>
          </a:p>
          <a:p>
            <a:pPr lvl="1"/>
            <a:r>
              <a:rPr lang="pt-PT" sz="1500" b="1" dirty="0"/>
              <a:t>Phishing</a:t>
            </a:r>
            <a:r>
              <a:rPr lang="pt-PT" sz="1500" dirty="0"/>
              <a:t>: Apresentação de formulários falsos para roubo de dados</a:t>
            </a:r>
          </a:p>
          <a:p>
            <a:pPr lvl="1"/>
            <a:r>
              <a:rPr lang="pt-PT" sz="1500" b="1" dirty="0"/>
              <a:t>Redirecionamento Malicioso</a:t>
            </a:r>
            <a:r>
              <a:rPr lang="pt-PT" sz="1500" dirty="0"/>
              <a:t>: Envio de utilizadores para sites maliciosos</a:t>
            </a:r>
          </a:p>
          <a:p>
            <a:pPr lvl="1"/>
            <a:r>
              <a:rPr lang="pt-PT" sz="1500" b="1" dirty="0"/>
              <a:t>Manipulação de Conteúdo</a:t>
            </a:r>
            <a:r>
              <a:rPr lang="pt-PT" sz="1500" dirty="0"/>
              <a:t>: Alteração do conteúdo apresentado ao utilizador</a:t>
            </a:r>
          </a:p>
          <a:p>
            <a:pPr lvl="1"/>
            <a:r>
              <a:rPr lang="pt-PT" sz="1500" b="1" dirty="0"/>
              <a:t>Propagação de Malware</a:t>
            </a:r>
            <a:r>
              <a:rPr lang="pt-PT" sz="1500" dirty="0"/>
              <a:t>: Distribuição de código malicioso através de downloads automáticos</a:t>
            </a:r>
          </a:p>
          <a:p>
            <a:endParaRPr lang="pt-PT" sz="1500" dirty="0"/>
          </a:p>
        </p:txBody>
      </p:sp>
      <p:pic>
        <p:nvPicPr>
          <p:cNvPr id="4" name="Imagem 3" descr="Ícone&#10;&#10;O conteúdo gerado por IA pode estar incorreto.">
            <a:extLst>
              <a:ext uri="{FF2B5EF4-FFF2-40B4-BE49-F238E27FC236}">
                <a16:creationId xmlns:a16="http://schemas.microsoft.com/office/drawing/2014/main" id="{832FAF0D-2F8C-2CA5-9C10-06C15E3B3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96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CA1908B-D9FF-A82B-E393-C16E135A9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PT" sz="2000" dirty="0"/>
              <a:t>Quando explorada com sucesso, esta vulnerabilidade permite:</a:t>
            </a:r>
          </a:p>
          <a:p>
            <a:pPr lvl="1"/>
            <a:r>
              <a:rPr lang="pt-PT" sz="2000" dirty="0"/>
              <a:t>Execução de código JavaScript arbitrário no contexto do site WordPress</a:t>
            </a:r>
          </a:p>
          <a:p>
            <a:pPr lvl="1"/>
            <a:r>
              <a:rPr lang="pt-PT" sz="2000" dirty="0"/>
              <a:t>Acesso a informações sensíveis do utilizador, incluindo cookies e dados de sessão</a:t>
            </a:r>
          </a:p>
          <a:p>
            <a:pPr lvl="1"/>
            <a:r>
              <a:rPr lang="pt-PT" sz="2000" dirty="0"/>
              <a:t>Realização de ações em nome do utilizador autenticado</a:t>
            </a:r>
          </a:p>
          <a:p>
            <a:pPr lvl="1"/>
            <a:r>
              <a:rPr lang="pt-PT" sz="2000" dirty="0"/>
              <a:t>Comprometimento da confiança dos utilizadores no site</a:t>
            </a:r>
          </a:p>
          <a:p>
            <a:pPr lvl="1"/>
            <a:r>
              <a:rPr lang="pt-PT" sz="2000" dirty="0"/>
              <a:t>Possível escalada para ataques mais sofisticados, como BeEF (Browser Exploitation Framework)</a:t>
            </a:r>
          </a:p>
          <a:p>
            <a:endParaRPr lang="pt-PT" sz="2000" dirty="0"/>
          </a:p>
        </p:txBody>
      </p:sp>
      <p:pic>
        <p:nvPicPr>
          <p:cNvPr id="4098" name="Picture 2" descr="Cyber security png Images - Free Download on Freepik">
            <a:extLst>
              <a:ext uri="{FF2B5EF4-FFF2-40B4-BE49-F238E27FC236}">
                <a16:creationId xmlns:a16="http://schemas.microsoft.com/office/drawing/2014/main" id="{E4E3613A-DE8D-A2B9-3D02-D3E030016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" r="3250" b="-3"/>
          <a:stretch>
            <a:fillRect/>
          </a:stretch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2628BC6-47BB-2D99-3043-6273930DC01A}"/>
              </a:ext>
            </a:extLst>
          </p:cNvPr>
          <p:cNvSpPr txBox="1"/>
          <p:nvPr/>
        </p:nvSpPr>
        <p:spPr>
          <a:xfrm>
            <a:off x="442452" y="1034472"/>
            <a:ext cx="6713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/>
              <a:t>Resultados de Exploração: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37419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B697C9-E0F5-603F-0CBE-56FEA09F4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pt-PT" sz="4100" b="1"/>
              <a:t>Exploração da Vulnerabilidade</a:t>
            </a:r>
            <a:br>
              <a:rPr lang="pt-PT" sz="4100" b="1"/>
            </a:br>
            <a:endParaRPr lang="pt-PT" sz="4100"/>
          </a:p>
        </p:txBody>
      </p:sp>
      <p:sp>
        <p:nvSpPr>
          <p:cNvPr id="5129" name="Rectangle 512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1" name="Rectangle 513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3E45C4-11E3-9062-1C65-0C3011792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PT" sz="2000" dirty="0"/>
              <a:t>Para explorar esta vulnerabilidade, temos duas máquinas virtuais diferentes a rodar no Oracle Virtual Box, de forma a replicar sistemas operativos:</a:t>
            </a:r>
          </a:p>
          <a:p>
            <a:pPr marL="0" indent="0">
              <a:buNone/>
            </a:pPr>
            <a:endParaRPr lang="pt-PT" sz="2000" dirty="0"/>
          </a:p>
          <a:p>
            <a:pPr lvl="1"/>
            <a:r>
              <a:rPr lang="pt-PT" sz="2000" dirty="0"/>
              <a:t>Kali Linux: - </a:t>
            </a:r>
            <a:r>
              <a:rPr lang="pt-PT" sz="2000" dirty="0">
                <a:solidFill>
                  <a:srgbClr val="FF0000"/>
                </a:solidFill>
              </a:rPr>
              <a:t>a máquina atacante.</a:t>
            </a:r>
          </a:p>
          <a:p>
            <a:pPr lvl="1"/>
            <a:r>
              <a:rPr lang="pt-PT" sz="2000" dirty="0"/>
              <a:t>Windows 11: - </a:t>
            </a:r>
            <a:r>
              <a:rPr lang="pt-PT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 máquina vitima.</a:t>
            </a:r>
          </a:p>
          <a:p>
            <a:endParaRPr lang="pt-PT" sz="2000" dirty="0"/>
          </a:p>
        </p:txBody>
      </p:sp>
      <p:pic>
        <p:nvPicPr>
          <p:cNvPr id="5122" name="Picture 2" descr="Linux vs Windows in 2022 - Develux Inc.">
            <a:extLst>
              <a:ext uri="{FF2B5EF4-FFF2-40B4-BE49-F238E27FC236}">
                <a16:creationId xmlns:a16="http://schemas.microsoft.com/office/drawing/2014/main" id="{E7FF8756-A453-AF1B-C34A-8FC07D3BA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11532" y="3053808"/>
            <a:ext cx="5150277" cy="2575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3" name="Rectangle 513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675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C329B3-F9BC-0F67-6CC5-995D018E5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4800" b="1"/>
              <a:t>1º Cenário - Simples</a:t>
            </a:r>
            <a:endParaRPr lang="pt-PT" sz="48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36D6D0-4D39-3F8F-3245-930571893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pt-PT" sz="2200"/>
              <a:t>Neste, cenário temos a máquina Kali Linux a hospedar um website simples (share-one-drive.php) com uma caixa de texto, que neste caso permite executar código JavaScript. Ora vejamos:</a:t>
            </a:r>
          </a:p>
          <a:p>
            <a:endParaRPr lang="pt-PT" sz="2200"/>
          </a:p>
        </p:txBody>
      </p:sp>
      <p:pic>
        <p:nvPicPr>
          <p:cNvPr id="4" name="Espaço Reservado para Conteúdo 8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91BC5707-10AC-8F55-27DC-EF213F711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742" y="2290936"/>
            <a:ext cx="8654323" cy="395935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5B62941-DB2B-BC81-3340-EACA7157DDE0}"/>
              </a:ext>
            </a:extLst>
          </p:cNvPr>
          <p:cNvSpPr txBox="1"/>
          <p:nvPr/>
        </p:nvSpPr>
        <p:spPr>
          <a:xfrm>
            <a:off x="1647006" y="6211669"/>
            <a:ext cx="3007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IP  Kali Linux:  10.0.2.15</a:t>
            </a:r>
          </a:p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500DA4-681C-E982-0F2B-8C88F4531549}"/>
              </a:ext>
            </a:extLst>
          </p:cNvPr>
          <p:cNvSpPr txBox="1"/>
          <p:nvPr/>
        </p:nvSpPr>
        <p:spPr>
          <a:xfrm>
            <a:off x="6089903" y="6211669"/>
            <a:ext cx="3549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IP  Windows 11: 10.0.2.3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12286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 descr="Texto&#10;&#10;O conteúdo gerado por IA pode estar incorreto.">
            <a:extLst>
              <a:ext uri="{FF2B5EF4-FFF2-40B4-BE49-F238E27FC236}">
                <a16:creationId xmlns:a16="http://schemas.microsoft.com/office/drawing/2014/main" id="{48C2663D-1800-C878-47B0-031B1E57B9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3435" y="805971"/>
            <a:ext cx="9945129" cy="5246057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DA04A33-06F1-63C5-29A4-0ADDE9A5F0BF}"/>
              </a:ext>
            </a:extLst>
          </p:cNvPr>
          <p:cNvSpPr txBox="1"/>
          <p:nvPr/>
        </p:nvSpPr>
        <p:spPr>
          <a:xfrm>
            <a:off x="1123435" y="6052028"/>
            <a:ext cx="5280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i="1" dirty="0"/>
              <a:t>Composição do site "share-one-drive.php“.</a:t>
            </a:r>
          </a:p>
        </p:txBody>
      </p:sp>
    </p:spTree>
    <p:extLst>
      <p:ext uri="{BB962C8B-B14F-4D97-AF65-F5344CB8AC3E}">
        <p14:creationId xmlns:p14="http://schemas.microsoft.com/office/powerpoint/2010/main" val="2913421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m 4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E8F5BDC-1B7F-7934-9674-910181DC5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14" y="1096023"/>
            <a:ext cx="10872172" cy="2174433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2D810B-9030-4F1E-C2C2-366BC98AB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835" y="3998019"/>
            <a:ext cx="6382966" cy="2216512"/>
          </a:xfrm>
        </p:spPr>
        <p:txBody>
          <a:bodyPr>
            <a:normAutofit/>
          </a:bodyPr>
          <a:lstStyle/>
          <a:p>
            <a:r>
              <a:rPr lang="pt-PT" sz="2400" dirty="0"/>
              <a:t>Executando o servidor Apache na máquina Kali Linux, com o comando </a:t>
            </a:r>
            <a:r>
              <a:rPr lang="pt-PT" sz="2400" b="1" dirty="0"/>
              <a:t>"sudo service apache2 start"</a:t>
            </a:r>
            <a:r>
              <a:rPr lang="pt-PT" sz="2400" dirty="0"/>
              <a:t>, a máquina Windows consegue aceder ao tal website através do seu IP + /caminho_para_site.</a:t>
            </a:r>
          </a:p>
        </p:txBody>
      </p:sp>
    </p:spTree>
    <p:extLst>
      <p:ext uri="{BB962C8B-B14F-4D97-AF65-F5344CB8AC3E}">
        <p14:creationId xmlns:p14="http://schemas.microsoft.com/office/powerpoint/2010/main" val="3786922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849DFC-2F36-5C56-B54B-76406AE0C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pt-PT" sz="2200"/>
              <a:t>A vulnerabilidade reside na linha echo "Você procurou por: " . $_GET['s'];. Quando o utilizador insere um texto normal (e.g. "teste"), o output é seguro:</a:t>
            </a:r>
          </a:p>
        </p:txBody>
      </p:sp>
      <p:pic>
        <p:nvPicPr>
          <p:cNvPr id="5" name="Imagem 4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80FC94D3-7AD3-5B9B-6504-B3F13122F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375258"/>
            <a:ext cx="10917936" cy="379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18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22BC47-A184-CE9F-CC7B-1ED0384B5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pt-PT" sz="2200"/>
              <a:t>Mas quando se insere um código, (e.g. &lt;script&gt;alert(1)&lt;/script&gt;) o output gerado é:</a:t>
            </a:r>
          </a:p>
        </p:txBody>
      </p:sp>
      <p:pic>
        <p:nvPicPr>
          <p:cNvPr id="5" name="Imagem 4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B1BDF3C1-093E-7B45-6F45-D47923ED0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714806"/>
            <a:ext cx="10917936" cy="3111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829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Graphic 6" descr="Devil Face Outline">
            <a:extLst>
              <a:ext uri="{FF2B5EF4-FFF2-40B4-BE49-F238E27FC236}">
                <a16:creationId xmlns:a16="http://schemas.microsoft.com/office/drawing/2014/main" id="{82317B9C-7D64-9F2E-8094-143F70E25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182" y="955437"/>
            <a:ext cx="4777381" cy="4777381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EDFCD2-5F2D-3353-A3D8-A06F614EF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955437"/>
            <a:ext cx="5458838" cy="5221526"/>
          </a:xfrm>
        </p:spPr>
        <p:txBody>
          <a:bodyPr>
            <a:normAutofit/>
          </a:bodyPr>
          <a:lstStyle/>
          <a:p>
            <a:endParaRPr lang="pt-PT" sz="1800" dirty="0"/>
          </a:p>
          <a:p>
            <a:endParaRPr lang="pt-PT" sz="1800" dirty="0"/>
          </a:p>
          <a:p>
            <a:r>
              <a:rPr lang="pt-PT" sz="1900" dirty="0"/>
              <a:t>Esta é a essência do Reflected XSS; O facto de ter aberto uma janela pop up (alert em Javascript) a mostrar um texto é uma representação bastante simplificada de Reflected XSS - um script malicioso é injetado através de um request do utilizador e é "refletido" de volta na resposta do servidor, executando-se no navegador da vítima.</a:t>
            </a:r>
          </a:p>
          <a:p>
            <a:endParaRPr lang="pt-PT" sz="1900" dirty="0"/>
          </a:p>
          <a:p>
            <a:r>
              <a:rPr lang="pt-PT" sz="1900" dirty="0"/>
              <a:t>Para mitigar a vulnerabilidade neste cenário, alterávamos a linha de código indentificada para:</a:t>
            </a:r>
          </a:p>
          <a:p>
            <a:pPr marL="457200" lvl="1" indent="0">
              <a:buNone/>
            </a:pPr>
            <a:r>
              <a:rPr lang="pt-PT" sz="1500" dirty="0"/>
              <a:t>echo "Você procurou por: " </a:t>
            </a:r>
            <a:r>
              <a:rPr lang="pt-PT" sz="1500" b="1" dirty="0"/>
              <a:t>htmlspecialchars($_GET['s'])</a:t>
            </a:r>
            <a:r>
              <a:rPr lang="pt-PT" sz="1500" dirty="0"/>
              <a:t>;</a:t>
            </a:r>
          </a:p>
          <a:p>
            <a:pPr marL="0" indent="0">
              <a:buNone/>
            </a:pPr>
            <a:endParaRPr lang="pt-PT" sz="1800" dirty="0"/>
          </a:p>
        </p:txBody>
      </p:sp>
    </p:spTree>
    <p:extLst>
      <p:ext uri="{BB962C8B-B14F-4D97-AF65-F5344CB8AC3E}">
        <p14:creationId xmlns:p14="http://schemas.microsoft.com/office/powerpoint/2010/main" val="1400068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049ED30-0204-EB5D-E136-7ABE9561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pt-PT" sz="3400" b="1" dirty="0"/>
              <a:t>2º Cenário - Roubo de Credenciais através de Cookies</a:t>
            </a:r>
            <a:br>
              <a:rPr lang="pt-PT" sz="3400" b="1" dirty="0"/>
            </a:br>
            <a:endParaRPr lang="pt-PT" sz="3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571CD6-4850-31D0-282A-842F2FDFA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pt-PT" sz="2000"/>
              <a:t>Neste cenário, a máquina Kali Linux hospeda um sistema de login vulnerável (login.html e dashboard.php) que armazena credenciais de forma insegura em forma de cookies. O objetivo é demonstrar como um atacante pode utilizar Reflected XSS para roubar sessões completas de utilizadores, incluindo usernames e passwords.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858866FC-A536-6449-82F0-67384434F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504" y="2389218"/>
            <a:ext cx="5150277" cy="326301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1E58E34-2512-96DE-E8D2-FF923FB60C6C}"/>
              </a:ext>
            </a:extLst>
          </p:cNvPr>
          <p:cNvSpPr txBox="1"/>
          <p:nvPr/>
        </p:nvSpPr>
        <p:spPr>
          <a:xfrm>
            <a:off x="5826723" y="5702580"/>
            <a:ext cx="237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i="1" dirty="0"/>
              <a:t>Ficheiro login.html</a:t>
            </a:r>
          </a:p>
        </p:txBody>
      </p:sp>
    </p:spTree>
    <p:extLst>
      <p:ext uri="{BB962C8B-B14F-4D97-AF65-F5344CB8AC3E}">
        <p14:creationId xmlns:p14="http://schemas.microsoft.com/office/powerpoint/2010/main" val="5290576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12FB7FD-8C16-9E55-647F-8236ED7E4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115" y="1979570"/>
            <a:ext cx="5294716" cy="2898856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Espaço Reservado para Conteúdo 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38E01056-DC27-E6C1-EDF2-D38A841849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7169" y="966955"/>
            <a:ext cx="5294715" cy="492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035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0DFA-300D-7D1C-8E2B-E9E67881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3E85BAB-5361-CFDA-75D5-D6DBA974E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835" y="3998019"/>
            <a:ext cx="6382966" cy="2216512"/>
          </a:xfrm>
        </p:spPr>
        <p:txBody>
          <a:bodyPr>
            <a:normAutofit/>
          </a:bodyPr>
          <a:lstStyle/>
          <a:p>
            <a:r>
              <a:rPr lang="pt-PT" sz="2400" dirty="0"/>
              <a:t>O problema é o facto de os dados serem guardados em forma de cookies - ficheiros de texto usados pela Internet para guardar info qualquer tipo de informação.</a:t>
            </a:r>
          </a:p>
        </p:txBody>
      </p:sp>
      <p:pic>
        <p:nvPicPr>
          <p:cNvPr id="2" name="Imagem 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66CA6D8F-24A6-6F47-F5A4-297130847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2" y="541745"/>
            <a:ext cx="11139778" cy="328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307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AF7703-FCF3-7A19-A9DE-7F8976924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pt-PT" sz="2200"/>
              <a:t>Vejamos a implicação de guardar informação em forma de cookie no contexto de Reflected XSS.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C065B1E4-6564-820B-FD1F-E848B2E70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47217"/>
            <a:ext cx="6903720" cy="4763566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AF439FE-40ED-8780-FB65-E15E466E0214}"/>
              </a:ext>
            </a:extLst>
          </p:cNvPr>
          <p:cNvSpPr txBox="1"/>
          <p:nvPr/>
        </p:nvSpPr>
        <p:spPr>
          <a:xfrm>
            <a:off x="4654296" y="5928852"/>
            <a:ext cx="37522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i="1" dirty="0"/>
              <a:t>Estrutura HTML do ficheiro dahsboard.php</a:t>
            </a:r>
          </a:p>
        </p:txBody>
      </p:sp>
    </p:spTree>
    <p:extLst>
      <p:ext uri="{BB962C8B-B14F-4D97-AF65-F5344CB8AC3E}">
        <p14:creationId xmlns:p14="http://schemas.microsoft.com/office/powerpoint/2010/main" val="1099161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1D0AF59-99C3-4251-AB9A-C966C6AD4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55405F-37A2-4869-9154-F8BE3BECE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Espaço Reservado para Conteúdo 6" descr="Texto&#10;&#10;O conteúdo gerado por IA pode estar incorreto.">
            <a:extLst>
              <a:ext uri="{FF2B5EF4-FFF2-40B4-BE49-F238E27FC236}">
                <a16:creationId xmlns:a16="http://schemas.microsoft.com/office/drawing/2014/main" id="{26D77F13-C77F-C059-32DA-61519E2F60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3993" y="1111467"/>
            <a:ext cx="9224013" cy="463506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5CA36AD-4B8F-0E1F-BA2E-10750345317A}"/>
              </a:ext>
            </a:extLst>
          </p:cNvPr>
          <p:cNvSpPr txBox="1"/>
          <p:nvPr/>
        </p:nvSpPr>
        <p:spPr>
          <a:xfrm>
            <a:off x="1483993" y="5820697"/>
            <a:ext cx="53002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i="1" dirty="0"/>
              <a:t>Estrutura PHP do ficheiro dahsboard.php (secção crítica)</a:t>
            </a:r>
          </a:p>
        </p:txBody>
      </p:sp>
    </p:spTree>
    <p:extLst>
      <p:ext uri="{BB962C8B-B14F-4D97-AF65-F5344CB8AC3E}">
        <p14:creationId xmlns:p14="http://schemas.microsoft.com/office/powerpoint/2010/main" val="2976881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62986-A81D-73BF-7EAA-25AB8EC09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1F88398F-1CD9-EDE4-7056-A6CE09F33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769" y="4367180"/>
            <a:ext cx="10459156" cy="1045915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93226D-DAC4-021D-07F0-3C96DD392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3028543"/>
            <a:ext cx="5365955" cy="23845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dirty="0"/>
              <a:t>A vulnerabilidade crítica reside na prática extremamente insegura: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8786AEF-4604-C251-324C-FBEDEAF55B33}"/>
              </a:ext>
            </a:extLst>
          </p:cNvPr>
          <p:cNvSpPr txBox="1"/>
          <p:nvPr/>
        </p:nvSpPr>
        <p:spPr>
          <a:xfrm>
            <a:off x="1254768" y="5413095"/>
            <a:ext cx="813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pt-PT" sz="1400" i="1" dirty="0"/>
              <a:t>Armazenamento de passwords em cookies (linhas onde se cria o cookie user_password)</a:t>
            </a:r>
          </a:p>
        </p:txBody>
      </p:sp>
      <p:pic>
        <p:nvPicPr>
          <p:cNvPr id="7174" name="Picture 6" descr="Security Denied icon">
            <a:extLst>
              <a:ext uri="{FF2B5EF4-FFF2-40B4-BE49-F238E27FC236}">
                <a16:creationId xmlns:a16="http://schemas.microsoft.com/office/drawing/2014/main" id="{37C79D56-7049-2EEC-C075-F4D1B21A72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4465" y="892277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045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3" name="Rectangle 922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FD4746-FAE2-8D74-1ECA-8C736A458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/>
              <a:t>Execução do ataque:</a:t>
            </a:r>
            <a:endParaRPr lang="pt-PT" sz="5400" b="1"/>
          </a:p>
        </p:txBody>
      </p:sp>
      <p:sp>
        <p:nvSpPr>
          <p:cNvPr id="922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715B34-BBF8-25D0-09B5-31130BEA1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b="1"/>
              <a:t>Passo 1: Iniciar o Servidor Apache e o Servidor de Captura</a:t>
            </a:r>
            <a:endParaRPr lang="pt-PT" sz="2000"/>
          </a:p>
          <a:p>
            <a:pPr lvl="1"/>
            <a:endParaRPr lang="pt-PT" sz="2000"/>
          </a:p>
          <a:p>
            <a:pPr lvl="1"/>
            <a:r>
              <a:rPr lang="pt-PT" sz="2000"/>
              <a:t>Na máquina Kali Linux, executamos o seguinte comando:</a:t>
            </a:r>
          </a:p>
          <a:p>
            <a:pPr lvl="1"/>
            <a:endParaRPr lang="pt-PT" sz="2000"/>
          </a:p>
          <a:p>
            <a:pPr lvl="1"/>
            <a:endParaRPr lang="pt-PT" sz="2000"/>
          </a:p>
          <a:p>
            <a:pPr lvl="1"/>
            <a:endParaRPr lang="pt-PT" sz="2000"/>
          </a:p>
          <a:p>
            <a:pPr lvl="1"/>
            <a:endParaRPr lang="pt-PT" sz="2000"/>
          </a:p>
          <a:p>
            <a:pPr lvl="1"/>
            <a:r>
              <a:rPr lang="pt-PT" sz="2000"/>
              <a:t>O servidor Python (porta 8000) será usado para capturar os cookies roubados.</a:t>
            </a:r>
          </a:p>
        </p:txBody>
      </p:sp>
      <p:pic>
        <p:nvPicPr>
          <p:cNvPr id="9218" name="Picture 2" descr="Attack - Free gaming icons">
            <a:extLst>
              <a:ext uri="{FF2B5EF4-FFF2-40B4-BE49-F238E27FC236}">
                <a16:creationId xmlns:a16="http://schemas.microsoft.com/office/drawing/2014/main" id="{AD9BC768-D6E2-1886-6463-0917C73D3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74736" y="2760519"/>
            <a:ext cx="3429969" cy="342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 descr="Interface gráfica do usuário, Texto, Site&#10;&#10;O conteúdo gerado por IA pode estar incorreto.">
            <a:extLst>
              <a:ext uri="{FF2B5EF4-FFF2-40B4-BE49-F238E27FC236}">
                <a16:creationId xmlns:a16="http://schemas.microsoft.com/office/drawing/2014/main" id="{E1523062-710F-1E25-092D-319F1EF88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418" y="4257060"/>
            <a:ext cx="3995928" cy="67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132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6DDEDF90-5AF0-2A82-09D1-C463EDBED7D6}"/>
              </a:ext>
            </a:extLst>
          </p:cNvPr>
          <p:cNvSpPr txBox="1"/>
          <p:nvPr/>
        </p:nvSpPr>
        <p:spPr>
          <a:xfrm>
            <a:off x="762000" y="1143486"/>
            <a:ext cx="4267200" cy="14374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Passo 2: Construção do Payload Malicioso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7C77032-C865-6057-7D7A-E2743CFA2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0CB4E9-C906-7682-C158-DA3A7060F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5613" y="838200"/>
            <a:ext cx="5501247" cy="1866358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marL="0"/>
            <a:endParaRPr lang="en-US" sz="1400" b="1" dirty="0"/>
          </a:p>
          <a:p>
            <a:pPr marL="0" indent="0">
              <a:buNone/>
            </a:pPr>
            <a:r>
              <a:rPr lang="en-US" sz="1800" dirty="0"/>
              <a:t>Este payload </a:t>
            </a:r>
            <a:r>
              <a:rPr lang="en-US" sz="1800" dirty="0" err="1"/>
              <a:t>faz</a:t>
            </a:r>
            <a:r>
              <a:rPr lang="en-US" sz="1800" dirty="0"/>
              <a:t> com </a:t>
            </a:r>
            <a:r>
              <a:rPr lang="en-US" sz="1800" dirty="0" err="1"/>
              <a:t>que</a:t>
            </a:r>
            <a:r>
              <a:rPr lang="en-US" sz="1800" dirty="0"/>
              <a:t> o </a:t>
            </a:r>
            <a:r>
              <a:rPr lang="en-US" sz="1800" dirty="0" err="1"/>
              <a:t>navegador</a:t>
            </a:r>
            <a:r>
              <a:rPr lang="en-US" sz="1800" dirty="0"/>
              <a:t> da </a:t>
            </a:r>
            <a:r>
              <a:rPr lang="en-US" sz="1800" dirty="0" err="1"/>
              <a:t>vítima</a:t>
            </a:r>
            <a:r>
              <a:rPr lang="en-US" sz="1800" dirty="0"/>
              <a:t> execute JavaScript </a:t>
            </a:r>
            <a:r>
              <a:rPr lang="en-US" sz="1800" dirty="0" err="1"/>
              <a:t>que</a:t>
            </a:r>
            <a:r>
              <a:rPr lang="en-US" sz="1800" dirty="0"/>
              <a:t>:</a:t>
            </a:r>
          </a:p>
          <a:p>
            <a:pPr marL="914400" lvl="1"/>
            <a:r>
              <a:rPr lang="en-US" sz="1800" dirty="0" err="1"/>
              <a:t>Captura</a:t>
            </a:r>
            <a:r>
              <a:rPr lang="en-US" sz="1800" dirty="0"/>
              <a:t> </a:t>
            </a:r>
            <a:r>
              <a:rPr lang="en-US" sz="1800" dirty="0" err="1"/>
              <a:t>todos</a:t>
            </a:r>
            <a:r>
              <a:rPr lang="en-US" sz="1800" dirty="0"/>
              <a:t> </a:t>
            </a:r>
            <a:r>
              <a:rPr lang="en-US" sz="1800" dirty="0" err="1"/>
              <a:t>os</a:t>
            </a:r>
            <a:r>
              <a:rPr lang="en-US" sz="1800" dirty="0"/>
              <a:t> cookies da </a:t>
            </a:r>
            <a:r>
              <a:rPr lang="en-US" sz="1800" dirty="0" err="1"/>
              <a:t>sessão</a:t>
            </a:r>
            <a:r>
              <a:rPr lang="en-US" sz="1800" dirty="0"/>
              <a:t> (</a:t>
            </a:r>
            <a:r>
              <a:rPr lang="en-US" sz="1800" dirty="0" err="1"/>
              <a:t>document.cookie</a:t>
            </a:r>
            <a:r>
              <a:rPr lang="en-US" sz="1800" dirty="0"/>
              <a:t>)</a:t>
            </a:r>
          </a:p>
          <a:p>
            <a:pPr marL="914400" lvl="1"/>
            <a:r>
              <a:rPr lang="en-US" sz="1800" dirty="0" err="1"/>
              <a:t>Redireciona</a:t>
            </a:r>
            <a:r>
              <a:rPr lang="en-US" sz="1800" dirty="0"/>
              <a:t> para o </a:t>
            </a:r>
            <a:r>
              <a:rPr lang="en-US" sz="1800" dirty="0" err="1"/>
              <a:t>servidor</a:t>
            </a:r>
            <a:r>
              <a:rPr lang="en-US" sz="1800" dirty="0"/>
              <a:t> do </a:t>
            </a:r>
            <a:r>
              <a:rPr lang="en-US" sz="1800" dirty="0" err="1"/>
              <a:t>atacante</a:t>
            </a:r>
            <a:r>
              <a:rPr lang="en-US" sz="1800" dirty="0"/>
              <a:t> </a:t>
            </a:r>
            <a:r>
              <a:rPr lang="en-US" sz="1800" dirty="0" err="1"/>
              <a:t>enviando</a:t>
            </a:r>
            <a:r>
              <a:rPr lang="en-US" sz="1800" dirty="0"/>
              <a:t> </a:t>
            </a:r>
            <a:r>
              <a:rPr lang="en-US" sz="1800" dirty="0" err="1"/>
              <a:t>os</a:t>
            </a:r>
            <a:r>
              <a:rPr lang="en-US" sz="1800" dirty="0"/>
              <a:t> cookies </a:t>
            </a:r>
            <a:r>
              <a:rPr lang="en-US" sz="1800" dirty="0" err="1"/>
              <a:t>como</a:t>
            </a:r>
            <a:r>
              <a:rPr lang="en-US" sz="1800" dirty="0"/>
              <a:t> </a:t>
            </a:r>
            <a:r>
              <a:rPr lang="en-US" sz="1800" dirty="0" err="1"/>
              <a:t>parâmetro</a:t>
            </a:r>
            <a:endParaRPr lang="en-US" sz="1800" dirty="0"/>
          </a:p>
          <a:p>
            <a:pPr marL="0"/>
            <a:endParaRPr lang="en-US" sz="14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6E33E71-98A4-2ED1-81EC-C5E467E8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57" y="4278367"/>
            <a:ext cx="10591800" cy="79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708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6F72B7-8CA1-8E4D-C5F5-0C9023AAF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167167"/>
            <a:ext cx="4229100" cy="2255461"/>
          </a:xfrm>
        </p:spPr>
        <p:txBody>
          <a:bodyPr anchor="t">
            <a:normAutofit/>
          </a:bodyPr>
          <a:lstStyle/>
          <a:p>
            <a:r>
              <a:rPr lang="pt-PT" sz="3200" b="1"/>
              <a:t>Passo 3: Envio do Link Malicioso</a:t>
            </a:r>
            <a:endParaRPr lang="pt-PT" sz="3200"/>
          </a:p>
        </p:txBody>
      </p:sp>
      <p:pic>
        <p:nvPicPr>
          <p:cNvPr id="5" name="Imagem 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2AAB7FB1-D4ED-2910-B692-A61A5F26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422" y="708589"/>
            <a:ext cx="10459156" cy="2719379"/>
          </a:xfrm>
          <a:prstGeom prst="rect">
            <a:avLst/>
          </a:prstGeom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A832D5-7C57-ADD4-25DB-8B3B9C59B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844" y="3854885"/>
            <a:ext cx="5365955" cy="2384552"/>
          </a:xfrm>
        </p:spPr>
        <p:txBody>
          <a:bodyPr>
            <a:normAutofit/>
          </a:bodyPr>
          <a:lstStyle/>
          <a:p>
            <a:r>
              <a:rPr lang="pt-PT" sz="1400"/>
              <a:t>O atacante envia este link para a vítima através de engenharia social (email, mensagem, etc.). Quando a vítima clica no link, o servidor Python na máquina Kali Linux recebe um pedido GET contendo TODOS os cookies</a:t>
            </a:r>
          </a:p>
          <a:p>
            <a:r>
              <a:rPr lang="pt-PT" sz="1400"/>
              <a:t>O atacante agora possui:</a:t>
            </a:r>
          </a:p>
          <a:p>
            <a:pPr lvl="1"/>
            <a:r>
              <a:rPr lang="pt-PT" sz="1400" b="1"/>
              <a:t>Username</a:t>
            </a:r>
            <a:r>
              <a:rPr lang="pt-PT" sz="1400"/>
              <a:t>: NOVO-UTILIZADOR (cookie usuario_logado)</a:t>
            </a:r>
          </a:p>
          <a:p>
            <a:pPr lvl="1"/>
            <a:r>
              <a:rPr lang="pt-PT" sz="1400" b="1"/>
              <a:t>Password</a:t>
            </a:r>
            <a:r>
              <a:rPr lang="pt-PT" sz="1400"/>
              <a:t>: NOVA-PASSWORD (cookie user_password)</a:t>
            </a:r>
          </a:p>
          <a:p>
            <a:pPr lvl="1"/>
            <a:r>
              <a:rPr lang="pt-PT" sz="1400" b="1"/>
              <a:t>Token de sessão</a:t>
            </a:r>
            <a:r>
              <a:rPr lang="pt-PT" sz="1400"/>
              <a:t>: (cookie session_token)</a:t>
            </a:r>
          </a:p>
          <a:p>
            <a:pPr lvl="1"/>
            <a:r>
              <a:rPr lang="pt-PT" sz="1400" b="1"/>
              <a:t>Session ID</a:t>
            </a:r>
            <a:r>
              <a:rPr lang="pt-PT" sz="1400"/>
              <a:t>: (cookie PHPSESSID)</a:t>
            </a:r>
          </a:p>
          <a:p>
            <a:endParaRPr lang="pt-PT" sz="1400"/>
          </a:p>
          <a:p>
            <a:endParaRPr lang="pt-PT" sz="1400"/>
          </a:p>
        </p:txBody>
      </p:sp>
    </p:spTree>
    <p:extLst>
      <p:ext uri="{BB962C8B-B14F-4D97-AF65-F5344CB8AC3E}">
        <p14:creationId xmlns:p14="http://schemas.microsoft.com/office/powerpoint/2010/main" val="3317818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416414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356C96-E7BB-1B09-091A-0655CFA7B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7771" y="381001"/>
            <a:ext cx="4156512" cy="1327243"/>
          </a:xfrm>
        </p:spPr>
        <p:txBody>
          <a:bodyPr anchor="ctr">
            <a:normAutofit fontScale="90000"/>
          </a:bodyPr>
          <a:lstStyle/>
          <a:p>
            <a:r>
              <a:rPr lang="pt-PT" sz="3700" b="1" dirty="0"/>
              <a:t>Gravidade da Vulnerabilidade:</a:t>
            </a:r>
            <a:br>
              <a:rPr lang="pt-PT" sz="3700" b="1" dirty="0"/>
            </a:br>
            <a:endParaRPr lang="pt-PT" sz="3700" dirty="0"/>
          </a:p>
        </p:txBody>
      </p:sp>
      <p:pic>
        <p:nvPicPr>
          <p:cNvPr id="5" name="Picture 4" descr="Script de computador em uma tela">
            <a:extLst>
              <a:ext uri="{FF2B5EF4-FFF2-40B4-BE49-F238E27FC236}">
                <a16:creationId xmlns:a16="http://schemas.microsoft.com/office/drawing/2014/main" id="{F9F9E290-1983-DECB-31B2-526B737E5F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" r="40545" b="-2"/>
          <a:stretch>
            <a:fillRect/>
          </a:stretch>
        </p:blipFill>
        <p:spPr>
          <a:xfrm>
            <a:off x="-1" y="-2"/>
            <a:ext cx="6096001" cy="6858002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E6CEB4-6243-AC12-7C6E-AA783D569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7950" y="1524000"/>
            <a:ext cx="4478103" cy="4952999"/>
          </a:xfrm>
        </p:spPr>
        <p:txBody>
          <a:bodyPr anchor="ctr">
            <a:normAutofit fontScale="85000" lnSpcReduction="20000"/>
          </a:bodyPr>
          <a:lstStyle/>
          <a:p>
            <a:pPr marL="0" indent="0">
              <a:buNone/>
            </a:pPr>
            <a:r>
              <a:rPr lang="pt-PT" sz="1900" dirty="0"/>
              <a:t>Este cenário demonstra uma vulnerabilidade de severidade crítica que combina:</a:t>
            </a:r>
          </a:p>
          <a:p>
            <a:pPr marL="0" indent="0">
              <a:buNone/>
            </a:pPr>
            <a:endParaRPr lang="pt-PT" sz="1900" dirty="0"/>
          </a:p>
          <a:p>
            <a:pPr lvl="1"/>
            <a:r>
              <a:rPr lang="pt-PT" sz="1900" b="1" dirty="0"/>
              <a:t>Reflected XSS</a:t>
            </a:r>
            <a:r>
              <a:rPr lang="pt-PT" sz="1900" dirty="0"/>
              <a:t>: Permite execução de código JavaScript arbitrário</a:t>
            </a:r>
          </a:p>
          <a:p>
            <a:pPr lvl="1"/>
            <a:r>
              <a:rPr lang="pt-PT" sz="1900" b="1" dirty="0"/>
              <a:t>Armazenamento inseguro de credenciais</a:t>
            </a:r>
            <a:r>
              <a:rPr lang="pt-PT" sz="1900" dirty="0"/>
              <a:t>: Passwords guardadas em texto plano em cookies</a:t>
            </a:r>
          </a:p>
          <a:p>
            <a:pPr lvl="1"/>
            <a:r>
              <a:rPr lang="pt-PT" sz="1900" b="1" dirty="0"/>
              <a:t>Falta de proteção HTTPOnly</a:t>
            </a:r>
            <a:r>
              <a:rPr lang="pt-PT" sz="1900" dirty="0"/>
              <a:t>: Cookies acessíveis via JavaScript</a:t>
            </a:r>
          </a:p>
          <a:p>
            <a:pPr lvl="1"/>
            <a:r>
              <a:rPr lang="pt-PT" sz="1900" b="1" dirty="0"/>
              <a:t>Falta de proteção Secure</a:t>
            </a:r>
            <a:r>
              <a:rPr lang="pt-PT" sz="1900" dirty="0"/>
              <a:t>: Cookies transmitidos sem HTTPS</a:t>
            </a:r>
          </a:p>
          <a:p>
            <a:pPr marL="0" indent="0">
              <a:buNone/>
            </a:pPr>
            <a:endParaRPr lang="pt-PT" sz="1100" dirty="0"/>
          </a:p>
          <a:p>
            <a:pPr marL="0" indent="0">
              <a:buNone/>
            </a:pPr>
            <a:r>
              <a:rPr lang="pt-PT" sz="1900" dirty="0"/>
              <a:t>Com estas informações, o atacante pode:</a:t>
            </a:r>
          </a:p>
          <a:p>
            <a:pPr marL="0" indent="0">
              <a:buNone/>
            </a:pPr>
            <a:endParaRPr lang="pt-PT" sz="1900" dirty="0"/>
          </a:p>
          <a:p>
            <a:pPr lvl="1"/>
            <a:r>
              <a:rPr lang="pt-PT" sz="1900" dirty="0"/>
              <a:t>Fazer login como a vítima em qualquer momento</a:t>
            </a:r>
          </a:p>
          <a:p>
            <a:pPr lvl="1"/>
            <a:r>
              <a:rPr lang="pt-PT" sz="1900" dirty="0"/>
              <a:t>Aceder a todas as funcionalidades da conta</a:t>
            </a:r>
          </a:p>
          <a:p>
            <a:pPr lvl="1"/>
            <a:r>
              <a:rPr lang="pt-PT" sz="1900" dirty="0"/>
              <a:t>Modificar dados do utilizador</a:t>
            </a:r>
          </a:p>
          <a:p>
            <a:pPr lvl="1"/>
            <a:r>
              <a:rPr lang="pt-PT" sz="1900" dirty="0"/>
              <a:t>Realizar ações em nome da vítima</a:t>
            </a:r>
          </a:p>
          <a:p>
            <a:endParaRPr lang="pt-PT" sz="1100" dirty="0"/>
          </a:p>
        </p:txBody>
      </p:sp>
    </p:spTree>
    <p:extLst>
      <p:ext uri="{BB962C8B-B14F-4D97-AF65-F5344CB8AC3E}">
        <p14:creationId xmlns:p14="http://schemas.microsoft.com/office/powerpoint/2010/main" val="2277810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4D94D20-0EF1-4E8B-A0E1-117A9E413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AA1E73-1171-9C7E-53BB-51E70AE0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98246"/>
            <a:ext cx="4412419" cy="362621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1">
                <a:solidFill>
                  <a:srgbClr val="FFFFFF"/>
                </a:solidFill>
              </a:rPr>
              <a:t>Mitigação das Vulnerabilidades</a:t>
            </a:r>
            <a:br>
              <a:rPr lang="en-US" b="1">
                <a:solidFill>
                  <a:srgbClr val="FFFFFF"/>
                </a:solidFill>
              </a:rPr>
            </a:br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Espaço Reservado para Conteúdo 8" descr="Interface gráfica do usuário, Aplicativo, Site&#10;&#10;O conteúdo gerado por IA pode estar incorreto.">
            <a:extLst>
              <a:ext uri="{FF2B5EF4-FFF2-40B4-BE49-F238E27FC236}">
                <a16:creationId xmlns:a16="http://schemas.microsoft.com/office/drawing/2014/main" id="{3CCCB8BE-51B2-C4C8-0565-C71894977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86915" y="2000501"/>
            <a:ext cx="5747883" cy="991509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78B3681E-1C1D-4D0E-A1DE-AE2E3D03C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12034" y="1267063"/>
            <a:ext cx="368480" cy="519967"/>
            <a:chOff x="11512034" y="1267063"/>
            <a:chExt cx="368480" cy="519967"/>
          </a:xfrm>
          <a:solidFill>
            <a:srgbClr val="FFFFFF"/>
          </a:solidFill>
        </p:grpSpPr>
        <p:sp>
          <p:nvSpPr>
            <p:cNvPr id="32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12034" y="1267063"/>
              <a:ext cx="139037" cy="139039"/>
            </a:xfrm>
            <a:custGeom>
              <a:avLst/>
              <a:gdLst>
                <a:gd name="connsiteX0" fmla="*/ 129600 w 139037"/>
                <a:gd name="connsiteY0" fmla="*/ 60082 h 139039"/>
                <a:gd name="connsiteX1" fmla="*/ 78955 w 139037"/>
                <a:gd name="connsiteY1" fmla="*/ 60082 h 139039"/>
                <a:gd name="connsiteX2" fmla="*/ 78955 w 139037"/>
                <a:gd name="connsiteY2" fmla="*/ 9437 h 139039"/>
                <a:gd name="connsiteX3" fmla="*/ 69519 w 139037"/>
                <a:gd name="connsiteY3" fmla="*/ 0 h 139039"/>
                <a:gd name="connsiteX4" fmla="*/ 60082 w 139037"/>
                <a:gd name="connsiteY4" fmla="*/ 9437 h 139039"/>
                <a:gd name="connsiteX5" fmla="*/ 60082 w 139037"/>
                <a:gd name="connsiteY5" fmla="*/ 60082 h 139039"/>
                <a:gd name="connsiteX6" fmla="*/ 9437 w 139037"/>
                <a:gd name="connsiteY6" fmla="*/ 60082 h 139039"/>
                <a:gd name="connsiteX7" fmla="*/ 0 w 139037"/>
                <a:gd name="connsiteY7" fmla="*/ 69520 h 139039"/>
                <a:gd name="connsiteX8" fmla="*/ 9437 w 139037"/>
                <a:gd name="connsiteY8" fmla="*/ 78957 h 139039"/>
                <a:gd name="connsiteX9" fmla="*/ 60082 w 139037"/>
                <a:gd name="connsiteY9" fmla="*/ 78957 h 139039"/>
                <a:gd name="connsiteX10" fmla="*/ 60082 w 139037"/>
                <a:gd name="connsiteY10" fmla="*/ 129602 h 139039"/>
                <a:gd name="connsiteX11" fmla="*/ 69519 w 139037"/>
                <a:gd name="connsiteY11" fmla="*/ 139039 h 139039"/>
                <a:gd name="connsiteX12" fmla="*/ 78955 w 139037"/>
                <a:gd name="connsiteY12" fmla="*/ 129602 h 139039"/>
                <a:gd name="connsiteX13" fmla="*/ 78955 w 139037"/>
                <a:gd name="connsiteY13" fmla="*/ 78957 h 139039"/>
                <a:gd name="connsiteX14" fmla="*/ 129600 w 139037"/>
                <a:gd name="connsiteY14" fmla="*/ 78957 h 139039"/>
                <a:gd name="connsiteX15" fmla="*/ 139037 w 139037"/>
                <a:gd name="connsiteY15" fmla="*/ 69520 h 139039"/>
                <a:gd name="connsiteX16" fmla="*/ 129600 w 139037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7" h="139039">
                  <a:moveTo>
                    <a:pt x="129600" y="60082"/>
                  </a:moveTo>
                  <a:lnTo>
                    <a:pt x="78955" y="60082"/>
                  </a:lnTo>
                  <a:lnTo>
                    <a:pt x="78955" y="9437"/>
                  </a:lnTo>
                  <a:cubicBezTo>
                    <a:pt x="78955" y="4225"/>
                    <a:pt x="74730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7" y="139039"/>
                    <a:pt x="69519" y="139039"/>
                  </a:cubicBezTo>
                  <a:cubicBezTo>
                    <a:pt x="74730" y="139039"/>
                    <a:pt x="78955" y="134814"/>
                    <a:pt x="78955" y="129602"/>
                  </a:cubicBezTo>
                  <a:lnTo>
                    <a:pt x="78955" y="78957"/>
                  </a:lnTo>
                  <a:lnTo>
                    <a:pt x="129600" y="78957"/>
                  </a:lnTo>
                  <a:cubicBezTo>
                    <a:pt x="134812" y="78957"/>
                    <a:pt x="139037" y="74731"/>
                    <a:pt x="139037" y="69520"/>
                  </a:cubicBezTo>
                  <a:cubicBezTo>
                    <a:pt x="139037" y="64308"/>
                    <a:pt x="134812" y="60082"/>
                    <a:pt x="129600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3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52801" y="1659316"/>
              <a:ext cx="127713" cy="127714"/>
            </a:xfrm>
            <a:custGeom>
              <a:avLst/>
              <a:gdLst>
                <a:gd name="connsiteX0" fmla="*/ 63857 w 127713"/>
                <a:gd name="connsiteY0" fmla="*/ 18874 h 127714"/>
                <a:gd name="connsiteX1" fmla="*/ 108839 w 127713"/>
                <a:gd name="connsiteY1" fmla="*/ 63857 h 127714"/>
                <a:gd name="connsiteX2" fmla="*/ 63857 w 127713"/>
                <a:gd name="connsiteY2" fmla="*/ 108840 h 127714"/>
                <a:gd name="connsiteX3" fmla="*/ 18874 w 127713"/>
                <a:gd name="connsiteY3" fmla="*/ 63857 h 127714"/>
                <a:gd name="connsiteX4" fmla="*/ 63857 w 127713"/>
                <a:gd name="connsiteY4" fmla="*/ 18874 h 127714"/>
                <a:gd name="connsiteX5" fmla="*/ 63857 w 127713"/>
                <a:gd name="connsiteY5" fmla="*/ 0 h 127714"/>
                <a:gd name="connsiteX6" fmla="*/ 0 w 127713"/>
                <a:gd name="connsiteY6" fmla="*/ 63857 h 127714"/>
                <a:gd name="connsiteX7" fmla="*/ 63857 w 127713"/>
                <a:gd name="connsiteY7" fmla="*/ 127714 h 127714"/>
                <a:gd name="connsiteX8" fmla="*/ 127713 w 127713"/>
                <a:gd name="connsiteY8" fmla="*/ 63857 h 127714"/>
                <a:gd name="connsiteX9" fmla="*/ 63857 w 127713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4">
                  <a:moveTo>
                    <a:pt x="63857" y="18874"/>
                  </a:moveTo>
                  <a:cubicBezTo>
                    <a:pt x="88700" y="18874"/>
                    <a:pt x="108839" y="39014"/>
                    <a:pt x="108839" y="63857"/>
                  </a:cubicBezTo>
                  <a:cubicBezTo>
                    <a:pt x="108839" y="88700"/>
                    <a:pt x="88700" y="108840"/>
                    <a:pt x="63857" y="108840"/>
                  </a:cubicBezTo>
                  <a:cubicBezTo>
                    <a:pt x="39013" y="108840"/>
                    <a:pt x="18874" y="88700"/>
                    <a:pt x="18874" y="63857"/>
                  </a:cubicBezTo>
                  <a:cubicBezTo>
                    <a:pt x="18898" y="39024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13" name="Imagem 12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159E5EA0-9ED6-0FFE-F138-FC5D46AE4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925" y="3572781"/>
            <a:ext cx="5747872" cy="1077877"/>
          </a:xfrm>
          <a:prstGeom prst="rect">
            <a:avLst/>
          </a:prstGeom>
        </p:spPr>
      </p:pic>
      <p:pic>
        <p:nvPicPr>
          <p:cNvPr id="15" name="Imagem 14" descr="Interface gráfica do usuário, Aplicativo, Site&#10;&#10;O conteúdo gerado por IA pode estar incorreto.">
            <a:extLst>
              <a:ext uri="{FF2B5EF4-FFF2-40B4-BE49-F238E27FC236}">
                <a16:creationId xmlns:a16="http://schemas.microsoft.com/office/drawing/2014/main" id="{EB7F9976-87B3-6BAD-48AD-0FE0F302A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6925" y="5172910"/>
            <a:ext cx="5747871" cy="107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848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EA0AD-EF53-0BC3-7895-302598F1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4D94D20-0EF1-4E8B-A0E1-117A9E413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8B3681E-1C1D-4D0E-A1DE-AE2E3D03C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12034" y="1267063"/>
            <a:ext cx="368480" cy="519967"/>
            <a:chOff x="11512034" y="1267063"/>
            <a:chExt cx="368480" cy="519967"/>
          </a:xfrm>
          <a:solidFill>
            <a:srgbClr val="FFFFFF"/>
          </a:solidFill>
        </p:grpSpPr>
        <p:sp>
          <p:nvSpPr>
            <p:cNvPr id="27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12034" y="1267063"/>
              <a:ext cx="139037" cy="139039"/>
            </a:xfrm>
            <a:custGeom>
              <a:avLst/>
              <a:gdLst>
                <a:gd name="connsiteX0" fmla="*/ 129600 w 139037"/>
                <a:gd name="connsiteY0" fmla="*/ 60082 h 139039"/>
                <a:gd name="connsiteX1" fmla="*/ 78955 w 139037"/>
                <a:gd name="connsiteY1" fmla="*/ 60082 h 139039"/>
                <a:gd name="connsiteX2" fmla="*/ 78955 w 139037"/>
                <a:gd name="connsiteY2" fmla="*/ 9437 h 139039"/>
                <a:gd name="connsiteX3" fmla="*/ 69519 w 139037"/>
                <a:gd name="connsiteY3" fmla="*/ 0 h 139039"/>
                <a:gd name="connsiteX4" fmla="*/ 60082 w 139037"/>
                <a:gd name="connsiteY4" fmla="*/ 9437 h 139039"/>
                <a:gd name="connsiteX5" fmla="*/ 60082 w 139037"/>
                <a:gd name="connsiteY5" fmla="*/ 60082 h 139039"/>
                <a:gd name="connsiteX6" fmla="*/ 9437 w 139037"/>
                <a:gd name="connsiteY6" fmla="*/ 60082 h 139039"/>
                <a:gd name="connsiteX7" fmla="*/ 0 w 139037"/>
                <a:gd name="connsiteY7" fmla="*/ 69520 h 139039"/>
                <a:gd name="connsiteX8" fmla="*/ 9437 w 139037"/>
                <a:gd name="connsiteY8" fmla="*/ 78957 h 139039"/>
                <a:gd name="connsiteX9" fmla="*/ 60082 w 139037"/>
                <a:gd name="connsiteY9" fmla="*/ 78957 h 139039"/>
                <a:gd name="connsiteX10" fmla="*/ 60082 w 139037"/>
                <a:gd name="connsiteY10" fmla="*/ 129602 h 139039"/>
                <a:gd name="connsiteX11" fmla="*/ 69519 w 139037"/>
                <a:gd name="connsiteY11" fmla="*/ 139039 h 139039"/>
                <a:gd name="connsiteX12" fmla="*/ 78955 w 139037"/>
                <a:gd name="connsiteY12" fmla="*/ 129602 h 139039"/>
                <a:gd name="connsiteX13" fmla="*/ 78955 w 139037"/>
                <a:gd name="connsiteY13" fmla="*/ 78957 h 139039"/>
                <a:gd name="connsiteX14" fmla="*/ 129600 w 139037"/>
                <a:gd name="connsiteY14" fmla="*/ 78957 h 139039"/>
                <a:gd name="connsiteX15" fmla="*/ 139037 w 139037"/>
                <a:gd name="connsiteY15" fmla="*/ 69520 h 139039"/>
                <a:gd name="connsiteX16" fmla="*/ 129600 w 139037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7" h="139039">
                  <a:moveTo>
                    <a:pt x="129600" y="60082"/>
                  </a:moveTo>
                  <a:lnTo>
                    <a:pt x="78955" y="60082"/>
                  </a:lnTo>
                  <a:lnTo>
                    <a:pt x="78955" y="9437"/>
                  </a:lnTo>
                  <a:cubicBezTo>
                    <a:pt x="78955" y="4225"/>
                    <a:pt x="74730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7" y="139039"/>
                    <a:pt x="69519" y="139039"/>
                  </a:cubicBezTo>
                  <a:cubicBezTo>
                    <a:pt x="74730" y="139039"/>
                    <a:pt x="78955" y="134814"/>
                    <a:pt x="78955" y="129602"/>
                  </a:cubicBezTo>
                  <a:lnTo>
                    <a:pt x="78955" y="78957"/>
                  </a:lnTo>
                  <a:lnTo>
                    <a:pt x="129600" y="78957"/>
                  </a:lnTo>
                  <a:cubicBezTo>
                    <a:pt x="134812" y="78957"/>
                    <a:pt x="139037" y="74731"/>
                    <a:pt x="139037" y="69520"/>
                  </a:cubicBezTo>
                  <a:cubicBezTo>
                    <a:pt x="139037" y="64308"/>
                    <a:pt x="134812" y="60082"/>
                    <a:pt x="129600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8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52801" y="1659316"/>
              <a:ext cx="127713" cy="127714"/>
            </a:xfrm>
            <a:custGeom>
              <a:avLst/>
              <a:gdLst>
                <a:gd name="connsiteX0" fmla="*/ 63857 w 127713"/>
                <a:gd name="connsiteY0" fmla="*/ 18874 h 127714"/>
                <a:gd name="connsiteX1" fmla="*/ 108839 w 127713"/>
                <a:gd name="connsiteY1" fmla="*/ 63857 h 127714"/>
                <a:gd name="connsiteX2" fmla="*/ 63857 w 127713"/>
                <a:gd name="connsiteY2" fmla="*/ 108840 h 127714"/>
                <a:gd name="connsiteX3" fmla="*/ 18874 w 127713"/>
                <a:gd name="connsiteY3" fmla="*/ 63857 h 127714"/>
                <a:gd name="connsiteX4" fmla="*/ 63857 w 127713"/>
                <a:gd name="connsiteY4" fmla="*/ 18874 h 127714"/>
                <a:gd name="connsiteX5" fmla="*/ 63857 w 127713"/>
                <a:gd name="connsiteY5" fmla="*/ 0 h 127714"/>
                <a:gd name="connsiteX6" fmla="*/ 0 w 127713"/>
                <a:gd name="connsiteY6" fmla="*/ 63857 h 127714"/>
                <a:gd name="connsiteX7" fmla="*/ 63857 w 127713"/>
                <a:gd name="connsiteY7" fmla="*/ 127714 h 127714"/>
                <a:gd name="connsiteX8" fmla="*/ 127713 w 127713"/>
                <a:gd name="connsiteY8" fmla="*/ 63857 h 127714"/>
                <a:gd name="connsiteX9" fmla="*/ 63857 w 127713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4">
                  <a:moveTo>
                    <a:pt x="63857" y="18874"/>
                  </a:moveTo>
                  <a:cubicBezTo>
                    <a:pt x="88700" y="18874"/>
                    <a:pt x="108839" y="39014"/>
                    <a:pt x="108839" y="63857"/>
                  </a:cubicBezTo>
                  <a:cubicBezTo>
                    <a:pt x="108839" y="88700"/>
                    <a:pt x="88700" y="108840"/>
                    <a:pt x="63857" y="108840"/>
                  </a:cubicBezTo>
                  <a:cubicBezTo>
                    <a:pt x="39013" y="108840"/>
                    <a:pt x="18874" y="88700"/>
                    <a:pt x="18874" y="63857"/>
                  </a:cubicBezTo>
                  <a:cubicBezTo>
                    <a:pt x="18898" y="39024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8" name="Imagem 7" descr="Tela de celular com texto preto sobre fundo azul&#10;&#10;O conteúdo gerado por IA pode estar incorreto.">
            <a:extLst>
              <a:ext uri="{FF2B5EF4-FFF2-40B4-BE49-F238E27FC236}">
                <a16:creationId xmlns:a16="http://schemas.microsoft.com/office/drawing/2014/main" id="{86055D37-6CBF-5CF5-A0B6-C1136A62F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29" y="282463"/>
            <a:ext cx="8911172" cy="2753705"/>
          </a:xfrm>
          <a:prstGeom prst="rect">
            <a:avLst/>
          </a:prstGeom>
        </p:spPr>
      </p:pic>
      <p:pic>
        <p:nvPicPr>
          <p:cNvPr id="11" name="Imagem 10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FF68798E-B05E-8DE1-05B8-C5C9C88FF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454" y="3298506"/>
            <a:ext cx="9518203" cy="3073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024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E0526-4921-94C8-DEEF-F466389F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7" name="Rectangle 10256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25+ Linux Commands Wallpapers - Download at WallpaperBro">
            <a:extLst>
              <a:ext uri="{FF2B5EF4-FFF2-40B4-BE49-F238E27FC236}">
                <a16:creationId xmlns:a16="http://schemas.microsoft.com/office/drawing/2014/main" id="{1E4732F7-2E97-27AE-4E20-1F7388391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"/>
          <a:stretch>
            <a:fillRect/>
          </a:stretch>
        </p:blipFill>
        <p:spPr bwMode="auto">
          <a:xfrm>
            <a:off x="20" y="10"/>
            <a:ext cx="1218893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B45D18B-3383-8405-07CC-8B4D7CBC879C}"/>
              </a:ext>
            </a:extLst>
          </p:cNvPr>
          <p:cNvSpPr txBox="1"/>
          <p:nvPr/>
        </p:nvSpPr>
        <p:spPr>
          <a:xfrm>
            <a:off x="1524000" y="1122363"/>
            <a:ext cx="9144000" cy="30632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 b="1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Vulnerabilidade</a:t>
            </a:r>
            <a:r>
              <a:rPr lang="en-US" sz="51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2: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GNU Bash OS Command Injection Vulnerability - CVE-2014-6278</a:t>
            </a:r>
          </a:p>
        </p:txBody>
      </p:sp>
      <p:sp>
        <p:nvSpPr>
          <p:cNvPr id="10259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282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E531D2-2257-E251-F05B-A6F5313D6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11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C83769-2C38-2235-80DD-E72DCCFC9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058" y="369054"/>
            <a:ext cx="4977976" cy="1454051"/>
          </a:xfrm>
        </p:spPr>
        <p:txBody>
          <a:bodyPr>
            <a:normAutofit/>
          </a:bodyPr>
          <a:lstStyle/>
          <a:p>
            <a:br>
              <a:rPr lang="pt-PT" sz="1700" b="1" dirty="0">
                <a:solidFill>
                  <a:schemeClr val="tx2"/>
                </a:solidFill>
              </a:rPr>
            </a:br>
            <a:br>
              <a:rPr lang="pt-PT" sz="1700" b="1" dirty="0">
                <a:solidFill>
                  <a:schemeClr val="tx2"/>
                </a:solidFill>
              </a:rPr>
            </a:br>
            <a:r>
              <a:rPr lang="pt-PT" sz="2600" b="1" dirty="0"/>
              <a:t>Apresentação da Vulnerabilidade</a:t>
            </a:r>
            <a:br>
              <a:rPr lang="pt-PT" sz="1700" b="1" dirty="0">
                <a:solidFill>
                  <a:schemeClr val="tx2"/>
                </a:solidFill>
              </a:rPr>
            </a:br>
            <a:br>
              <a:rPr lang="pt-PT" sz="1700" b="1" dirty="0">
                <a:solidFill>
                  <a:schemeClr val="tx2"/>
                </a:solidFill>
              </a:rPr>
            </a:br>
            <a:endParaRPr lang="pt-PT" sz="1700" dirty="0">
              <a:solidFill>
                <a:schemeClr val="tx2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C2B011-0A0D-9FA7-677A-F620209AB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059" y="1823105"/>
            <a:ext cx="7031638" cy="4697040"/>
          </a:xfrm>
        </p:spPr>
        <p:txBody>
          <a:bodyPr anchor="ctr">
            <a:normAutofit fontScale="32500" lnSpcReduction="20000"/>
          </a:bodyPr>
          <a:lstStyle/>
          <a:p>
            <a:pPr marL="0" indent="0">
              <a:buNone/>
            </a:pPr>
            <a:endParaRPr lang="pt-PT" sz="11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100" b="1" dirty="0"/>
          </a:p>
          <a:p>
            <a:pPr marL="0" indent="0">
              <a:buNone/>
            </a:pPr>
            <a:endParaRPr lang="pt-PT" sz="1100" b="1" dirty="0"/>
          </a:p>
          <a:p>
            <a:pPr marL="0" indent="0">
              <a:buNone/>
            </a:pPr>
            <a:r>
              <a:rPr lang="pt-PT" sz="4600" b="1" dirty="0"/>
              <a:t>Identificação: </a:t>
            </a:r>
          </a:p>
          <a:p>
            <a:endParaRPr lang="pt-PT" sz="4600" b="1" dirty="0"/>
          </a:p>
          <a:p>
            <a:pPr lvl="1"/>
            <a:r>
              <a:rPr lang="pt-PT" sz="4600" b="1" dirty="0"/>
              <a:t>CVE ID</a:t>
            </a:r>
            <a:r>
              <a:rPr lang="pt-PT" sz="4600" dirty="0"/>
              <a:t>: CVE-2014-6278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Sistema/Aplicação Afetada</a:t>
            </a:r>
            <a:r>
              <a:rPr lang="pt-PT" sz="4600" dirty="0"/>
              <a:t>: GNU Bash (Bourne Again Shell)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Versões Vulneráveis</a:t>
            </a:r>
            <a:r>
              <a:rPr lang="pt-PT" sz="4600" dirty="0"/>
              <a:t>: Versões do Bash até à 4.3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Plataforma</a:t>
            </a:r>
            <a:r>
              <a:rPr lang="pt-PT" sz="4600" dirty="0"/>
              <a:t>: Sistemas operativos que utilizem GNU Bash como shell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Tipo de Vulnerabilidade</a:t>
            </a:r>
            <a:r>
              <a:rPr lang="pt-PT" sz="4600" dirty="0"/>
              <a:t>: Injeção de Comandos / Execução Remota de Código (RCE)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Severidade</a:t>
            </a:r>
            <a:r>
              <a:rPr lang="pt-PT" sz="4600" dirty="0"/>
              <a:t>: Crítica (CVSS v2: 10.0 / CVSS v3: 9.8)</a:t>
            </a:r>
          </a:p>
          <a:p>
            <a:pPr lvl="1"/>
            <a:endParaRPr lang="pt-PT" sz="4600" dirty="0"/>
          </a:p>
          <a:p>
            <a:pPr lvl="1"/>
            <a:r>
              <a:rPr lang="pt-PT" sz="4600" b="1" dirty="0"/>
              <a:t>Sistemas afetados</a:t>
            </a:r>
            <a:r>
              <a:rPr lang="pt-PT" sz="4600" dirty="0"/>
              <a:t>: A vulnerabilidade afeta sistemas operativos baseados em Unix/Linux (como Debian, Ubuntu, CentOS, RedHat) e macOS que utilizam o Bash como interpretador de comandos padrão</a:t>
            </a:r>
          </a:p>
          <a:p>
            <a:pPr lvl="1"/>
            <a:endParaRPr lang="pt-PT" sz="46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1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100" b="1" dirty="0">
              <a:solidFill>
                <a:schemeClr val="tx2"/>
              </a:solidFill>
            </a:endParaRPr>
          </a:p>
          <a:p>
            <a:endParaRPr lang="pt-PT" sz="1100" b="1" dirty="0">
              <a:solidFill>
                <a:schemeClr val="tx2"/>
              </a:solidFill>
            </a:endParaRPr>
          </a:p>
          <a:p>
            <a:pPr marL="457200" lvl="1" indent="0">
              <a:buNone/>
            </a:pPr>
            <a:endParaRPr lang="pt-PT" sz="1100" dirty="0">
              <a:solidFill>
                <a:schemeClr val="tx2"/>
              </a:solidFill>
            </a:endParaRPr>
          </a:p>
        </p:txBody>
      </p:sp>
      <p:grpSp>
        <p:nvGrpSpPr>
          <p:cNvPr id="23" name="Group 15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Employee Badge">
            <a:extLst>
              <a:ext uri="{FF2B5EF4-FFF2-40B4-BE49-F238E27FC236}">
                <a16:creationId xmlns:a16="http://schemas.microsoft.com/office/drawing/2014/main" id="{518F0B56-B0FC-3828-94D1-6A54D55877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930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476A30-0945-0686-D76A-E6D97797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E417B0-D337-A8AB-93E4-7015F27B4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344130"/>
            <a:ext cx="4977578" cy="5716842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r>
              <a:rPr lang="en-US" sz="1800" b="1" dirty="0" err="1"/>
              <a:t>Deteção</a:t>
            </a:r>
            <a:r>
              <a:rPr lang="en-US" sz="1800" b="1" dirty="0"/>
              <a:t> :</a:t>
            </a:r>
          </a:p>
          <a:p>
            <a:pPr marL="0" indent="0">
              <a:buNone/>
            </a:pPr>
            <a:endParaRPr lang="en-US" sz="1800" b="1" dirty="0"/>
          </a:p>
          <a:p>
            <a:pPr lvl="1">
              <a:buFont typeface="Aptos" panose="020B0004020202020204" pitchFamily="34" charset="0"/>
              <a:buChar char="-"/>
            </a:pPr>
            <a:r>
              <a:rPr lang="pt-PT" sz="1500" b="1" dirty="0"/>
              <a:t>Onde:</a:t>
            </a:r>
          </a:p>
          <a:p>
            <a:pPr marL="457200" lvl="1" indent="0">
              <a:buNone/>
            </a:pPr>
            <a:endParaRPr lang="pt-PT" sz="1500" dirty="0"/>
          </a:p>
          <a:p>
            <a:pPr lvl="2"/>
            <a:r>
              <a:rPr lang="pt-PT" sz="1500" dirty="0"/>
              <a:t>Na implementação do </a:t>
            </a:r>
            <a:r>
              <a:rPr lang="pt-PT" sz="1500" b="1" dirty="0"/>
              <a:t>interpretador de comandos GNU Bash</a:t>
            </a:r>
            <a:r>
              <a:rPr lang="pt-PT" sz="1500" dirty="0"/>
              <a:t>, mais concretamente na forma como o Bash trata funções definidas em variáveis de ambiente. Esta vulnerabilidade é uma variante da falha conhecida como </a:t>
            </a:r>
            <a:r>
              <a:rPr lang="pt-PT" sz="1500" b="1" dirty="0"/>
              <a:t>Shellshock</a:t>
            </a:r>
            <a:r>
              <a:rPr lang="pt-PT" sz="1500" dirty="0"/>
              <a:t>, permitindo </a:t>
            </a:r>
            <a:r>
              <a:rPr lang="pt-PT" sz="1500" b="1" dirty="0"/>
              <a:t>injeção de comandos no sistema operativo</a:t>
            </a:r>
            <a:r>
              <a:rPr lang="pt-PT" sz="1500" dirty="0"/>
              <a:t> quando Bash é chamado por serviços que recebem dados externos.</a:t>
            </a:r>
          </a:p>
          <a:p>
            <a:pPr lvl="2"/>
            <a:endParaRPr lang="pt-PT" sz="1500" dirty="0"/>
          </a:p>
          <a:p>
            <a:pPr lvl="1">
              <a:buFont typeface="Aptos" panose="020B0004020202020204" pitchFamily="34" charset="0"/>
              <a:buChar char="-"/>
            </a:pPr>
            <a:r>
              <a:rPr lang="pt-PT" sz="1500" b="1" dirty="0"/>
              <a:t>Quando:</a:t>
            </a:r>
          </a:p>
          <a:p>
            <a:pPr marL="457200" lvl="1" indent="0">
              <a:buNone/>
            </a:pPr>
            <a:endParaRPr lang="pt-PT" sz="1500" dirty="0"/>
          </a:p>
          <a:p>
            <a:pPr lvl="2"/>
            <a:r>
              <a:rPr lang="pt-PT" sz="1500" dirty="0"/>
              <a:t>Foi identificada e documentada em </a:t>
            </a:r>
            <a:r>
              <a:rPr lang="pt-PT" sz="1500" b="1" dirty="0"/>
              <a:t>setembro de 2014</a:t>
            </a:r>
            <a:r>
              <a:rPr lang="pt-PT" sz="1500" dirty="0"/>
              <a:t>, pouco depois da divulgação inicial do Shellshock (CVE-2014-6271).</a:t>
            </a:r>
            <a:br>
              <a:rPr lang="pt-PT" sz="1800" dirty="0"/>
            </a:br>
            <a:endParaRPr lang="pt-PT" sz="1800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Bug under Magnifying Glass">
            <a:extLst>
              <a:ext uri="{FF2B5EF4-FFF2-40B4-BE49-F238E27FC236}">
                <a16:creationId xmlns:a16="http://schemas.microsoft.com/office/drawing/2014/main" id="{54D4A3E1-7CB6-E21C-83E4-EA18BB8E85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48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BAEBD-286C-A5D0-19CB-1EDEC2DA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A23E87-5794-8020-9EDD-E71854F8F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40" y="1138265"/>
            <a:ext cx="4544762" cy="1401183"/>
          </a:xfrm>
        </p:spPr>
        <p:txBody>
          <a:bodyPr anchor="t">
            <a:normAutofit/>
          </a:bodyPr>
          <a:lstStyle/>
          <a:p>
            <a:r>
              <a:rPr lang="pt-PT" sz="3000" b="1"/>
              <a:t>Ações, Objetivos e Resultados de Exploração:</a:t>
            </a:r>
            <a:endParaRPr lang="pt-PT" sz="3000"/>
          </a:p>
        </p:txBody>
      </p:sp>
      <p:cxnSp>
        <p:nvCxnSpPr>
          <p:cNvPr id="11282" name="Straight Connector 11281">
            <a:extLst>
              <a:ext uri="{FF2B5EF4-FFF2-40B4-BE49-F238E27FC236}">
                <a16:creationId xmlns:a16="http://schemas.microsoft.com/office/drawing/2014/main" id="{FC23E3B9-5ABF-58B3-E2B0-E9A5DAA90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1462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30B39A-5E90-7ACE-EB72-A8EFE7026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40" y="2551176"/>
            <a:ext cx="4544762" cy="36029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1700"/>
              <a:t>O objetivo do atacante é explorar o processamento incorreto de variáveis de ambiente pelo Bash. Ao injetar código malicioso, o atacante pretende:</a:t>
            </a:r>
          </a:p>
          <a:p>
            <a:pPr marL="0" indent="0">
              <a:buNone/>
            </a:pPr>
            <a:endParaRPr lang="pt-PT" sz="1700"/>
          </a:p>
          <a:p>
            <a:pPr marL="914400" lvl="1" indent="-457200">
              <a:buFont typeface="+mj-lt"/>
              <a:buAutoNum type="arabicPeriod"/>
            </a:pPr>
            <a:r>
              <a:rPr lang="pt-PT" sz="1700"/>
              <a:t>Executar comandos arbitrários no servidor remoto sem autenticação.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PT" sz="1700"/>
              <a:t>Obter acesso inicial ao sistema (Shell).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PT" sz="1700"/>
              <a:t>Estabelecer uma conexão reversa (Reverse Shell).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PT" sz="1700"/>
              <a:t>Escalar privilégios para obter controlo total (Root).</a:t>
            </a:r>
          </a:p>
          <a:p>
            <a:endParaRPr lang="pt-PT" sz="1700"/>
          </a:p>
        </p:txBody>
      </p:sp>
      <p:pic>
        <p:nvPicPr>
          <p:cNvPr id="11268" name="Picture 4" descr="computer and phone alert icon design for digital cyber security 14466506 PNG">
            <a:extLst>
              <a:ext uri="{FF2B5EF4-FFF2-40B4-BE49-F238E27FC236}">
                <a16:creationId xmlns:a16="http://schemas.microsoft.com/office/drawing/2014/main" id="{70570BEF-3CE0-CDCF-3BB0-3F92AC797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1780" y="771753"/>
            <a:ext cx="5316095" cy="531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56435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E5BDF-043C-BFEF-F4C3-A14743B4F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40" y="1138265"/>
            <a:ext cx="4544762" cy="1401183"/>
          </a:xfrm>
        </p:spPr>
        <p:txBody>
          <a:bodyPr anchor="t">
            <a:normAutofit/>
          </a:bodyPr>
          <a:lstStyle/>
          <a:p>
            <a:r>
              <a:rPr lang="pt-PT" sz="3200" b="1"/>
              <a:t>Resultados de Exploração:</a:t>
            </a:r>
            <a:endParaRPr lang="pt-PT" sz="3200"/>
          </a:p>
        </p:txBody>
      </p:sp>
      <p:cxnSp>
        <p:nvCxnSpPr>
          <p:cNvPr id="12299" name="Straight Connector 12298">
            <a:extLst>
              <a:ext uri="{FF2B5EF4-FFF2-40B4-BE49-F238E27FC236}">
                <a16:creationId xmlns:a16="http://schemas.microsoft.com/office/drawing/2014/main" id="{FC23E3B9-5ABF-58B3-E2B0-E9A5DAA90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1462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C74F27-62C3-DF51-50B9-050215FA1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40" y="2551176"/>
            <a:ext cx="4544762" cy="3602935"/>
          </a:xfrm>
        </p:spPr>
        <p:txBody>
          <a:bodyPr>
            <a:normAutofit/>
          </a:bodyPr>
          <a:lstStyle/>
          <a:p>
            <a:r>
              <a:rPr lang="pt-PT" sz="2000"/>
              <a:t>Quando explorada com sucesso, a vulnerabilidade permite ao atacante executar qualquer comando com os privilégios do utilizador que corre o serviço (neste caso pentesterlab). Isto resulta no compromisso total da confidencialidade, integridade e disponibilidade do sistema, permitindo a leitura de ficheiros sensíveis (/etc/shadow), modificação de dados ou instalação de backdoors.</a:t>
            </a:r>
          </a:p>
        </p:txBody>
      </p:sp>
      <p:pic>
        <p:nvPicPr>
          <p:cNvPr id="12294" name="Picture 6" descr="Hacker Outline, Cyber Security, Digital Stealth Transparent PNG">
            <a:extLst>
              <a:ext uri="{FF2B5EF4-FFF2-40B4-BE49-F238E27FC236}">
                <a16:creationId xmlns:a16="http://schemas.microsoft.com/office/drawing/2014/main" id="{E61C1070-C1E9-EBBF-17E6-5B75133DD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1780" y="771753"/>
            <a:ext cx="5316095" cy="531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9231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FB255E-91F9-31FF-D42D-FCCB57913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5598" y="1138036"/>
            <a:ext cx="5598202" cy="1402470"/>
          </a:xfrm>
        </p:spPr>
        <p:txBody>
          <a:bodyPr anchor="t">
            <a:normAutofit fontScale="90000"/>
          </a:bodyPr>
          <a:lstStyle/>
          <a:p>
            <a:r>
              <a:rPr lang="pt-PT" sz="3200" b="1" dirty="0"/>
              <a:t>Exploração da Vulnerabilidade</a:t>
            </a:r>
            <a:br>
              <a:rPr lang="pt-PT" sz="3200" b="1" dirty="0"/>
            </a:br>
            <a:br>
              <a:rPr lang="pt-PT" sz="3200" b="1" dirty="0"/>
            </a:br>
            <a:r>
              <a:rPr lang="pt-PT" sz="2200" b="1" dirty="0"/>
              <a:t>Como atua a Vulnerabilidade:</a:t>
            </a:r>
            <a:br>
              <a:rPr lang="pt-PT" sz="2200" b="1" dirty="0"/>
            </a:br>
            <a:endParaRPr lang="pt-PT" sz="2200" dirty="0"/>
          </a:p>
        </p:txBody>
      </p:sp>
      <p:pic>
        <p:nvPicPr>
          <p:cNvPr id="13316" name="Picture 4">
            <a:extLst>
              <a:ext uri="{FF2B5EF4-FFF2-40B4-BE49-F238E27FC236}">
                <a16:creationId xmlns:a16="http://schemas.microsoft.com/office/drawing/2014/main" id="{00586E56-ACCA-CE7C-8F1C-5768F70D9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84573" y="1756211"/>
            <a:ext cx="3132563" cy="3345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326" name="Straight Connector 13325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8738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CD90EE-AF5A-A22D-F96A-DBF882CA1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5598" y="2551176"/>
            <a:ext cx="5444382" cy="3591207"/>
          </a:xfrm>
        </p:spPr>
        <p:txBody>
          <a:bodyPr>
            <a:normAutofit/>
          </a:bodyPr>
          <a:lstStyle/>
          <a:p>
            <a:r>
              <a:rPr lang="pt-PT" sz="1800" dirty="0"/>
              <a:t>O </a:t>
            </a:r>
            <a:r>
              <a:rPr lang="pt-PT" sz="1800" i="1" dirty="0"/>
              <a:t>Shellshock</a:t>
            </a:r>
            <a:r>
              <a:rPr lang="pt-PT" sz="1800" dirty="0"/>
              <a:t> explora uma falha no </a:t>
            </a:r>
            <a:r>
              <a:rPr lang="pt-PT" sz="1800" b="1" dirty="0"/>
              <a:t>Bash</a:t>
            </a:r>
            <a:r>
              <a:rPr lang="pt-PT" sz="1800" dirty="0"/>
              <a:t> ao processar funções enviadas em </a:t>
            </a:r>
            <a:r>
              <a:rPr lang="pt-PT" sz="1800" b="1" dirty="0"/>
              <a:t>variáveis de ambiente</a:t>
            </a:r>
            <a:r>
              <a:rPr lang="pt-PT" sz="1800" dirty="0"/>
              <a:t>. Nas versões vulneráveis, o Bash executa também o que vem a seguir à definição da função, usando a assinatura do ataque () { :; };, seguida do comando malicioso. Em servidores web com </a:t>
            </a:r>
            <a:r>
              <a:rPr lang="pt-PT" sz="1800" b="1" dirty="0"/>
              <a:t>CGI</a:t>
            </a:r>
            <a:r>
              <a:rPr lang="pt-PT" sz="1800" dirty="0"/>
              <a:t>, cabeçalhos HTTP (como o </a:t>
            </a:r>
            <a:r>
              <a:rPr lang="pt-PT" sz="1800" i="1" dirty="0"/>
              <a:t>User-Agent</a:t>
            </a:r>
            <a:r>
              <a:rPr lang="pt-PT" sz="1800" dirty="0"/>
              <a:t>) são convertidos em variáveis de ambiente, permitindo injetar e executar comandos no servidor.</a:t>
            </a:r>
          </a:p>
        </p:txBody>
      </p:sp>
    </p:spTree>
    <p:extLst>
      <p:ext uri="{BB962C8B-B14F-4D97-AF65-F5344CB8AC3E}">
        <p14:creationId xmlns:p14="http://schemas.microsoft.com/office/powerpoint/2010/main" val="2794788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9BF8DC-C01E-B91E-A741-28AA49CE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6217E46-1C3A-BA45-16F4-E83D8179F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0467" y="1397120"/>
            <a:ext cx="4707671" cy="1225650"/>
          </a:xfrm>
        </p:spPr>
        <p:txBody>
          <a:bodyPr anchor="b">
            <a:normAutofit/>
          </a:bodyPr>
          <a:lstStyle/>
          <a:p>
            <a:r>
              <a:rPr lang="pt-PT" sz="3800" b="1" dirty="0">
                <a:solidFill>
                  <a:schemeClr val="bg1"/>
                </a:solidFill>
              </a:rPr>
              <a:t>Como Explorar a Vulnerabilidade:</a:t>
            </a:r>
            <a:endParaRPr lang="pt-PT" sz="3800" dirty="0">
              <a:solidFill>
                <a:schemeClr val="bg1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389F9-317E-4BBA-0F64-CFA078CCB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467" y="2891752"/>
            <a:ext cx="4707671" cy="2334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dirty="0">
                <a:solidFill>
                  <a:schemeClr val="bg1"/>
                </a:solidFill>
              </a:rPr>
              <a:t>1. 	Reconhecimento (Descoberta 	do Alvo): Identificação do IP da 	vítima na rede local utilizando 	varrimento de rede.</a:t>
            </a:r>
          </a:p>
          <a:p>
            <a:pPr marL="457200" indent="-457200">
              <a:buFont typeface="+mj-lt"/>
              <a:buAutoNum type="arabicPeriod"/>
            </a:pPr>
            <a:endParaRPr lang="pt-PT" sz="2000" dirty="0">
              <a:solidFill>
                <a:schemeClr val="bg1"/>
              </a:solidFill>
            </a:endParaRPr>
          </a:p>
        </p:txBody>
      </p:sp>
      <p:pic>
        <p:nvPicPr>
          <p:cNvPr id="8" name="Imagem 7" descr="Texto, Logotipo&#10;&#10;O conteúdo gerado por IA pode estar incorreto.">
            <a:extLst>
              <a:ext uri="{FF2B5EF4-FFF2-40B4-BE49-F238E27FC236}">
                <a16:creationId xmlns:a16="http://schemas.microsoft.com/office/drawing/2014/main" id="{9AE3CC9F-1275-1114-317A-DBC7E849C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455" y="1338355"/>
            <a:ext cx="3332766" cy="6715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 descr="Texto&#10;&#10;O conteúdo gerado por IA pode estar incorreto.">
            <a:extLst>
              <a:ext uri="{FF2B5EF4-FFF2-40B4-BE49-F238E27FC236}">
                <a16:creationId xmlns:a16="http://schemas.microsoft.com/office/drawing/2014/main" id="{127EACF8-1CCD-AE26-88C9-74894305A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601" y="2542051"/>
            <a:ext cx="5566475" cy="283890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C61F2F60-14E3-4196-B7CE-175E46F04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596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200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C74004-C962-CEE0-CA02-D1CE137EC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467" y="2891752"/>
            <a:ext cx="4707671" cy="2334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dirty="0">
                <a:solidFill>
                  <a:schemeClr val="bg1"/>
                </a:solidFill>
              </a:rPr>
              <a:t>2. 	Verificação (Reconnaissance): 	Confirmação de que o script CGI 	existe e está acessível.</a:t>
            </a:r>
          </a:p>
          <a:p>
            <a:pPr marL="0" indent="0">
              <a:buNone/>
            </a:pPr>
            <a:endParaRPr lang="pt-PT" sz="2000" dirty="0">
              <a:solidFill>
                <a:schemeClr val="bg1"/>
              </a:solidFill>
            </a:endParaRPr>
          </a:p>
          <a:p>
            <a:endParaRPr lang="pt-PT" sz="2000" dirty="0">
              <a:solidFill>
                <a:schemeClr val="bg1"/>
              </a:solidFill>
            </a:endParaRPr>
          </a:p>
        </p:txBody>
      </p:sp>
      <p:pic>
        <p:nvPicPr>
          <p:cNvPr id="5" name="Imagem 4" descr="Tela preta com letras brancas&#10;&#10;O conteúdo gerado por IA pode estar incorreto.">
            <a:extLst>
              <a:ext uri="{FF2B5EF4-FFF2-40B4-BE49-F238E27FC236}">
                <a16:creationId xmlns:a16="http://schemas.microsoft.com/office/drawing/2014/main" id="{EB0B99A1-678A-812B-8B2E-AB0A0C8C7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12" y="3985387"/>
            <a:ext cx="5037433" cy="69666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4C11C284-C99C-1A56-C49A-EC824EE7A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511" y="1369961"/>
            <a:ext cx="5037433" cy="185661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61F2F60-14E3-4196-B7CE-175E46F04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596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6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FE004-FFE7-65D4-B738-8ADF73C39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9" y="2175081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3.	</a:t>
            </a:r>
            <a:r>
              <a:rPr lang="pt-PT" sz="1800" dirty="0">
                <a:solidFill>
                  <a:schemeClr val="tx2"/>
                </a:solidFill>
              </a:rPr>
              <a:t> Exploração e Acesso Inicial (Reverse 	Shell): Injeção do payload malicioso no 	cabeçalho User-Agent para forçar o 	servidor a conectar-se ao atacante (Kali) 	via Netcat.</a:t>
            </a:r>
          </a:p>
          <a:p>
            <a:pPr marL="0" indent="0">
              <a:buNone/>
            </a:pPr>
            <a:endParaRPr lang="pt-PT" sz="18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D4A3659A-3D2F-6757-915A-6D50705F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589" y="2784310"/>
            <a:ext cx="4954693" cy="1912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92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37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9D0AF7-5359-AFAD-84F3-C283C853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467" y="2891752"/>
            <a:ext cx="4707671" cy="2334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PT" sz="2000" dirty="0">
                <a:solidFill>
                  <a:schemeClr val="bg1"/>
                </a:solidFill>
              </a:rPr>
              <a:t>Disparo do Exploit: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7ADDB96-1589-9E2D-9DF6-F520E0F22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147" y="1342540"/>
            <a:ext cx="6996529" cy="857074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298F381-DCE8-EFED-C554-44E2FF23C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818" y="2466427"/>
            <a:ext cx="6588821" cy="2334516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61F2F60-14E3-4196-B7CE-175E46F04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596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agem 10" descr="Tela preta com letras brancas&#10;&#10;O conteúdo gerado por IA pode estar incorreto.">
            <a:extLst>
              <a:ext uri="{FF2B5EF4-FFF2-40B4-BE49-F238E27FC236}">
                <a16:creationId xmlns:a16="http://schemas.microsoft.com/office/drawing/2014/main" id="{B956D00D-F765-B3A8-115F-8D440136E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47" y="5029652"/>
            <a:ext cx="6077543" cy="85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7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7E3A90-991B-1210-2087-836182DB7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408" y="1970422"/>
            <a:ext cx="4707671" cy="2334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4.	 </a:t>
            </a:r>
            <a:r>
              <a:rPr lang="pt-PT" sz="2000" dirty="0">
                <a:solidFill>
                  <a:schemeClr val="bg1"/>
                </a:solidFill>
              </a:rPr>
              <a:t>Estabilização e Escalada de 	Privilégios: Após obter a shell 	como utilizador pentesterlab, a 	shell foi estabilizada e os 	privilégios foram elevados para 	root explorando permissões de 	sudo ou vulnerabilidades de 	Kernel.</a:t>
            </a:r>
          </a:p>
          <a:p>
            <a:pPr marL="0" indent="0">
              <a:buNone/>
            </a:pPr>
            <a:endParaRPr lang="pt-PT" sz="2000" dirty="0">
              <a:solidFill>
                <a:schemeClr val="bg1"/>
              </a:solidFill>
            </a:endParaRPr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A7E60D38-18A4-3C8F-1596-F8763C236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159" y="1498163"/>
            <a:ext cx="5037433" cy="94451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B34E6A22-4936-BA8F-827B-9D0495FE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158" y="3287253"/>
            <a:ext cx="5037433" cy="12171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61F2F60-14E3-4196-B7CE-175E46F04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596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0666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F669DF0-36E7-5667-CE9F-1D52D2511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pt-PT" sz="3400" b="1">
                <a:solidFill>
                  <a:srgbClr val="FFFFFF"/>
                </a:solidFill>
              </a:rPr>
              <a:t>Mitigação da Vulnerabilidade</a:t>
            </a:r>
            <a:br>
              <a:rPr lang="pt-PT" sz="3400" b="1">
                <a:solidFill>
                  <a:srgbClr val="FFFFFF"/>
                </a:solidFill>
              </a:rPr>
            </a:br>
            <a:endParaRPr lang="pt-PT" sz="340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B8231E-EAF2-539A-4519-246896C19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pt-PT" sz="1500" b="1" dirty="0"/>
              <a:t>Medidas de Proteção:</a:t>
            </a:r>
            <a:endParaRPr lang="pt-PT" sz="1500" dirty="0"/>
          </a:p>
          <a:p>
            <a:pPr marL="971550" lvl="1" indent="-514350">
              <a:buFont typeface="+mj-lt"/>
              <a:buAutoNum type="arabicPeriod"/>
            </a:pPr>
            <a:r>
              <a:rPr lang="pt-PT" sz="1500" dirty="0"/>
              <a:t>Atualização do Bash (Patching): A medida mais eficaz é atualizar o GNU Bash para a versão mais recente que contém a correção para o CVE-2014-6278 e variantes subsequentes.</a:t>
            </a:r>
          </a:p>
          <a:p>
            <a:pPr marL="914400" lvl="1" indent="-457200">
              <a:buFont typeface="+mj-lt"/>
              <a:buAutoNum type="arabicPeriod"/>
            </a:pPr>
            <a:endParaRPr lang="pt-PT" sz="1500" dirty="0"/>
          </a:p>
          <a:p>
            <a:pPr marL="914400" lvl="1" indent="-457200">
              <a:buFont typeface="+mj-lt"/>
              <a:buAutoNum type="arabicPeriod"/>
            </a:pPr>
            <a:endParaRPr lang="pt-PT" sz="1500" dirty="0"/>
          </a:p>
          <a:p>
            <a:pPr marL="914400" lvl="1" indent="-457200">
              <a:buFont typeface="+mj-lt"/>
              <a:buAutoNum type="arabicPeriod"/>
            </a:pPr>
            <a:endParaRPr lang="pt-PT" sz="1500" dirty="0"/>
          </a:p>
          <a:p>
            <a:pPr marL="914400" lvl="1" indent="-457200">
              <a:buFont typeface="+mj-lt"/>
              <a:buAutoNum type="arabicPeriod"/>
            </a:pPr>
            <a:endParaRPr lang="pt-PT" sz="1500" dirty="0"/>
          </a:p>
          <a:p>
            <a:pPr marL="914400" lvl="1" indent="-457200">
              <a:buFont typeface="+mj-lt"/>
              <a:buAutoNum type="arabicPeriod"/>
            </a:pPr>
            <a:endParaRPr lang="pt-PT" sz="1500" dirty="0"/>
          </a:p>
          <a:p>
            <a:pPr marL="971550" lvl="1" indent="-514350">
              <a:buFont typeface="+mj-lt"/>
              <a:buAutoNum type="arabicPeriod"/>
            </a:pPr>
            <a:r>
              <a:rPr lang="pt-PT" sz="1500" dirty="0"/>
              <a:t>Configuração de WAF (Web Application Firewall): Implementar regras no WAF (como ModSecurity) para filtrar e bloquear pedidos HTTP que contenham a assinatura do exploit: () { :; };.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PT" sz="1500" dirty="0"/>
              <a:t>Desativação de CGI: Se não for estritamente necessário, desativar o suporte a scripts CGI no servidor web para reduzir a superfície de ataque.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PT" sz="1500" dirty="0"/>
              <a:t>Princípio do Menor Privilégio: Garantir que o utilizador do serviço web (pentesterlab) não tem permissões de sudo desnecessárias e não tem acesso de escrita em diretórios sensíveis.</a:t>
            </a:r>
          </a:p>
          <a:p>
            <a:endParaRPr lang="pt-PT" sz="15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784691-8424-9AA9-8F02-963C14418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820" y="2324870"/>
            <a:ext cx="5652160" cy="49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112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aneta colocada na parte superior de uma linha de assinatura">
            <a:extLst>
              <a:ext uri="{FF2B5EF4-FFF2-40B4-BE49-F238E27FC236}">
                <a16:creationId xmlns:a16="http://schemas.microsoft.com/office/drawing/2014/main" id="{946DE030-A1D7-D888-9655-1608B77C8D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1573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E6D5CD-F88D-73B7-05E9-816080593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140" y="1117770"/>
            <a:ext cx="7800660" cy="15209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600" b="1" dirty="0" err="1">
                <a:solidFill>
                  <a:srgbClr val="FFFFFF"/>
                </a:solidFill>
              </a:rPr>
              <a:t>Conclusão</a:t>
            </a:r>
            <a:endParaRPr lang="en-US" sz="4600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27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1471</TotalTime>
  <Words>2041</Words>
  <Application>Microsoft Office PowerPoint</Application>
  <PresentationFormat>Widescreen</PresentationFormat>
  <Paragraphs>201</Paragraphs>
  <Slides>42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Tema do Office</vt:lpstr>
      <vt:lpstr>Análise de Vulnerabilidades</vt:lpstr>
      <vt:lpstr>Objetivos do Trabalho</vt:lpstr>
      <vt:lpstr>Introdução às Vulnerabilidades em Cibersegurança </vt:lpstr>
      <vt:lpstr>Vulnerabilidades</vt:lpstr>
      <vt:lpstr>Metodologias de Deteção Utilizadas</vt:lpstr>
      <vt:lpstr>Vulnerabilidade 1:  Reflected XSS no WordPress WP Cloud Plugins Share-OneDrive </vt:lpstr>
      <vt:lpstr>  Apresentação da Vulnerabilidade  </vt:lpstr>
      <vt:lpstr>Apresentação do PowerPoint</vt:lpstr>
      <vt:lpstr>Ações, Objetivos e Resultados de Exploração:</vt:lpstr>
      <vt:lpstr>Apresentação do PowerPoint</vt:lpstr>
      <vt:lpstr>Exploração da Vulnerabilidade </vt:lpstr>
      <vt:lpstr>1º Cenário - Simples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2º Cenário - Roubo de Credenciais através de Cookies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Execução do ataque:</vt:lpstr>
      <vt:lpstr>Apresentação do PowerPoint</vt:lpstr>
      <vt:lpstr>Passo 3: Envio do Link Malicioso</vt:lpstr>
      <vt:lpstr>Gravidade da Vulnerabilidade: </vt:lpstr>
      <vt:lpstr>Mitigação das Vulnerabilidades </vt:lpstr>
      <vt:lpstr>Apresentação do PowerPoint</vt:lpstr>
      <vt:lpstr>Apresentação do PowerPoint</vt:lpstr>
      <vt:lpstr>  Apresentação da Vulnerabilidade  </vt:lpstr>
      <vt:lpstr>Apresentação do PowerPoint</vt:lpstr>
      <vt:lpstr>Ações, Objetivos e Resultados de Exploração:</vt:lpstr>
      <vt:lpstr>Resultados de Exploração:</vt:lpstr>
      <vt:lpstr>Exploração da Vulnerabilidade  Como atua a Vulnerabilidade: </vt:lpstr>
      <vt:lpstr>Como Explorar a Vulnerabilidade:</vt:lpstr>
      <vt:lpstr>Apresentação do PowerPoint</vt:lpstr>
      <vt:lpstr>Apresentação do PowerPoint</vt:lpstr>
      <vt:lpstr>Apresentação do PowerPoint</vt:lpstr>
      <vt:lpstr>Apresentação do PowerPoint</vt:lpstr>
      <vt:lpstr>Mitigação da Vulnerabilidade 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Simoes</dc:creator>
  <cp:lastModifiedBy>Pedro Simoes</cp:lastModifiedBy>
  <cp:revision>9</cp:revision>
  <dcterms:created xsi:type="dcterms:W3CDTF">2025-12-07T15:02:48Z</dcterms:created>
  <dcterms:modified xsi:type="dcterms:W3CDTF">2025-12-08T15:34:22Z</dcterms:modified>
</cp:coreProperties>
</file>